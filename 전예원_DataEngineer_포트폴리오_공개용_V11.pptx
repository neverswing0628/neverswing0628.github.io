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7"/>
  </p:notesMasterIdLst>
  <p:sldIdLst>
    <p:sldId id="256" r:id="rId3"/>
    <p:sldId id="268" r:id="rId4"/>
    <p:sldId id="302" r:id="rId5"/>
    <p:sldId id="301" r:id="rId6"/>
    <p:sldId id="269" r:id="rId7"/>
    <p:sldId id="293" r:id="rId8"/>
    <p:sldId id="294" r:id="rId9"/>
    <p:sldId id="273" r:id="rId10"/>
    <p:sldId id="262" r:id="rId11"/>
    <p:sldId id="295" r:id="rId12"/>
    <p:sldId id="261" r:id="rId13"/>
    <p:sldId id="270" r:id="rId14"/>
    <p:sldId id="296" r:id="rId15"/>
    <p:sldId id="303" r:id="rId16"/>
    <p:sldId id="278" r:id="rId17"/>
    <p:sldId id="298" r:id="rId18"/>
    <p:sldId id="264" r:id="rId19"/>
    <p:sldId id="271" r:id="rId20"/>
    <p:sldId id="299" r:id="rId21"/>
    <p:sldId id="304" r:id="rId22"/>
    <p:sldId id="285" r:id="rId23"/>
    <p:sldId id="292" r:id="rId24"/>
    <p:sldId id="284" r:id="rId25"/>
    <p:sldId id="267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k1212@gmail.com" initials="c" lastIdx="1" clrIdx="0">
    <p:extLst>
      <p:ext uri="{19B8F6BF-5375-455C-9EA6-DF929625EA0E}">
        <p15:presenceInfo xmlns:p15="http://schemas.microsoft.com/office/powerpoint/2012/main" userId="508be440a36fbdf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F6"/>
    <a:srgbClr val="7F7F7F"/>
    <a:srgbClr val="6985B3"/>
    <a:srgbClr val="2F5597"/>
    <a:srgbClr val="616367"/>
    <a:srgbClr val="E8EEF8"/>
    <a:srgbClr val="3333CC"/>
    <a:srgbClr val="FBE9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29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95BC0F-0E4D-4D74-A2A5-FAEE64BE0571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3C99C-3E46-41F3-9551-FC23D9B2454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255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7D8177-745A-A1F6-33EB-277DC28E4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FF799F9-0EF3-F8E5-712C-6E618D13C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9E82AA-08A0-5043-19D2-A20D9761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8FB1A4-B24A-C1BE-B7B4-021A953B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F6A1F4-D4AA-AF74-0993-2C66C0FC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087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EC461-CBAC-B7D0-0517-32268A041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49298-49E7-BBD0-B41A-F0BC84A7F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4763ED-FA7E-0E86-2137-A3567809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B27A52-B6CA-0238-5F58-3380481D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68329F-CA26-0562-9E3C-EAF1710A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69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20A01-8639-822A-D6CD-F4E0EF6E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2E3CF2-2645-952D-DF1B-22A3CCCCB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2BAD3F-9A06-777C-9F81-669612BE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E3303C-1506-E373-D000-97D353718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64D1CF-0923-37F6-C810-A6852ECE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439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06057-DA16-2630-C33C-EF3A3E148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747FF9-4911-BEB4-EB77-34EA86486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74826E-CA77-04A7-0D88-1B58FCA6F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4BA79D-605E-2D29-8D25-77D0CD812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7007EA-A670-9703-6E03-4567204E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448A53-76DC-6AC3-B3BC-D3E4912F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083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086CF-B767-B9A4-669B-275FCB442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6D4874-17B6-722A-43F5-340013480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AECE0-20F2-B19E-508F-999E701AE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248D6F5-756C-2BA8-8070-3F04704B1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DDDB43-594D-5CDE-589E-795BBB879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DFD285-B3C7-0044-C664-9B879D3FB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348280-9A04-098D-253E-FD84B9E5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FB8814-6C53-4FFC-C29A-83E510DA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74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0CC06F-783D-123A-2B4D-A00F87664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BDF9EF3-3388-8701-6263-1ACC1621C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723D8AF-0C57-AD8C-5A56-D02AEFAC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2F0C02-8E0B-3D3C-180A-73F7FF806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559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EE7091-6BDD-31E7-F019-E8311DD7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238BE5-AC5C-5201-854A-DC76BBCB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4AC6C7-D101-4D76-C72C-FFC29F4D7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8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5A6AEB-BAD4-4113-13DC-A098BE60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1FA53A-C89D-3A9D-7338-275D6F5F2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AA4464-0F63-5ED8-02D2-C0015819D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15AED8-10FE-481E-0832-74441A369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CD178B-12DD-7545-933F-19ED5A0B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DD260E-1D78-75AE-AF07-D8EBF2FD0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573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57D57-A559-F475-0E3C-31C0B6964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9FB546-D6B8-4E07-691B-9A0AF2A49E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B6FA89-380E-5CF1-6F3F-721E78406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490611-0257-636E-C5DA-0F3E51D9D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7C94E9-150F-5DCC-EE90-9F90D292B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C048F2-30A3-4A32-49DB-166B3701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64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61F078-843F-0DE2-07BF-596651BF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2909D6-4E87-3003-120E-ACCC16DA9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7A227E-B693-2D43-F452-A61C9FE0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1E64E5-2C7A-778C-9870-96C9A7156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7D1735-EFED-6D92-FD48-A40FD82C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04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AE7048-A7D7-6094-0482-234651560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04C4E3-A269-8422-C21E-E09DF612A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C0F63-2E15-4112-DF9D-C6B61FF2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614851-521A-06C9-90FF-747C2EE56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6EC42-7A21-B5F0-AF52-F2E3CDCA7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256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6480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73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ACE19F6-A89E-17C4-9B77-8B7323621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DE0E03-32CE-C964-514E-24714EAD4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1E0B62-7A7B-5682-9988-19DEE3C35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1391E-922E-42E2-AF33-32939AE55240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170BC1-786C-C7D3-A724-EAECD8C87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744846-F10F-FD02-EBA5-095916F43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A1429-E685-4D27-A2A8-691147FA15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139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20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wsight.co.kr/" TargetMode="External"/><Relationship Id="rId2" Type="http://schemas.openxmlformats.org/officeDocument/2006/relationships/hyperlink" Target="https://persistent-zinc-f8f.notion.site/5f841b6e7c7b41459dcb4788428c2ea3?v=f6b0fcf4a8404347b35e46012a00595b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ovie-booking-platform-ui.vercel.app/" TargetMode="External"/><Relationship Id="rId4" Type="http://schemas.openxmlformats.org/officeDocument/2006/relationships/hyperlink" Target="https://www.mytaskpilot.kr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4808B8-F779-76E3-48C6-BEB5B7EAB928}"/>
              </a:ext>
            </a:extLst>
          </p:cNvPr>
          <p:cNvSpPr txBox="1"/>
          <p:nvPr/>
        </p:nvSpPr>
        <p:spPr>
          <a:xfrm>
            <a:off x="762000" y="8890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100" b="1">
                <a:solidFill>
                  <a:srgbClr val="E0485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 Engineer  ·  </a:t>
            </a:r>
            <a:r>
              <a:rPr lang="ko-KR" altLang="en-US" sz="1100" b="1">
                <a:solidFill>
                  <a:srgbClr val="E0485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신입 지원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0D7C57-7791-4A9E-1180-2E95D64F060B}"/>
              </a:ext>
            </a:extLst>
          </p:cNvPr>
          <p:cNvSpPr txBox="1"/>
          <p:nvPr/>
        </p:nvSpPr>
        <p:spPr>
          <a:xfrm>
            <a:off x="762000" y="1905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데이터엔지니어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F07B19-D0B4-45AD-CDC6-713F163923C3}"/>
              </a:ext>
            </a:extLst>
          </p:cNvPr>
          <p:cNvSpPr txBox="1"/>
          <p:nvPr/>
        </p:nvSpPr>
        <p:spPr>
          <a:xfrm>
            <a:off x="762000" y="2540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4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포트폴리오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20AE7-2197-522D-7C68-43F41868A2A0}"/>
              </a:ext>
            </a:extLst>
          </p:cNvPr>
          <p:cNvSpPr txBox="1"/>
          <p:nvPr/>
        </p:nvSpPr>
        <p:spPr>
          <a:xfrm>
            <a:off x="762000" y="34036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</a:t>
            </a:r>
            <a:r>
              <a:rPr lang="en-US" altLang="ko-KR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정제 </a:t>
            </a:r>
            <a:r>
              <a:rPr lang="en-US" altLang="ko-KR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모델링 </a:t>
            </a:r>
            <a:r>
              <a:rPr lang="en-US" altLang="ko-KR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F8BC6-5E55-ACFD-BCDC-5A5B481B19B7}"/>
              </a:ext>
            </a:extLst>
          </p:cNvPr>
          <p:cNvSpPr txBox="1"/>
          <p:nvPr/>
        </p:nvSpPr>
        <p:spPr>
          <a:xfrm>
            <a:off x="762000" y="37592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 </a:t>
            </a:r>
            <a:r>
              <a:rPr lang="en-US" altLang="ko-KR" sz="11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API</a:t>
            </a:r>
            <a:r>
              <a:rPr lang="ko-KR" altLang="en-US" sz="11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실서비스까지</a:t>
            </a:r>
            <a:r>
              <a:rPr lang="en-US" altLang="ko-KR" sz="11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파이프라인 전 과정을</a:t>
            </a:r>
          </a:p>
          <a:p>
            <a:pPr>
              <a:lnSpc>
                <a:spcPct val="105000"/>
              </a:lnSpc>
            </a:pPr>
            <a:r>
              <a:rPr lang="ko-KR" altLang="en-US" sz="11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직접 설계하고 운영한 준비된 데이터 엔지니어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45998-8E27-8E07-1B1B-33D333178FB1}"/>
              </a:ext>
            </a:extLst>
          </p:cNvPr>
          <p:cNvSpPr txBox="1"/>
          <p:nvPr/>
        </p:nvSpPr>
        <p:spPr>
          <a:xfrm>
            <a:off x="762000" y="5334000"/>
            <a:ext cx="6604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65DD00-E7D1-64CC-4EB7-BF7D0BBB518D}"/>
              </a:ext>
            </a:extLst>
          </p:cNvPr>
          <p:cNvSpPr txBox="1"/>
          <p:nvPr/>
        </p:nvSpPr>
        <p:spPr>
          <a:xfrm>
            <a:off x="762000" y="5664200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수원대학교 컴퓨터소프트웨어학과 </a:t>
            </a:r>
            <a:r>
              <a:rPr lang="en-US" altLang="ko-KR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(2027.02 </a:t>
            </a:r>
            <a:r>
              <a:rPr lang="ko-KR" altLang="en-US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졸업예정</a:t>
            </a:r>
            <a:r>
              <a:rPr lang="en-US" altLang="ko-KR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 ·  DAsP</a:t>
            </a:r>
          </a:p>
          <a:p>
            <a:pPr>
              <a:lnSpc>
                <a:spcPct val="105000"/>
              </a:lnSpc>
            </a:pPr>
            <a:r>
              <a:rPr lang="en-US" altLang="ko-KR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altLang="en-US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한이음 드림업 </a:t>
            </a:r>
            <a:r>
              <a:rPr lang="en-US" altLang="ko-KR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LawSight </a:t>
            </a:r>
            <a:r>
              <a:rPr lang="ko-KR" altLang="en-US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  </a:t>
            </a:r>
            <a:r>
              <a:rPr lang="en-US" altLang="ko-KR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</a:t>
            </a:r>
            <a:r>
              <a:rPr lang="ko-KR" altLang="en-US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중간평가 상위 </a:t>
            </a:r>
            <a:r>
              <a:rPr lang="en-US" altLang="ko-KR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30% </a:t>
            </a:r>
            <a:r>
              <a:rPr lang="ko-KR" altLang="en-US" sz="900">
                <a:solidFill>
                  <a:srgbClr val="8F959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우수 프로젝트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B367315-0204-740E-7249-0CA64AF24C60}"/>
              </a:ext>
            </a:extLst>
          </p:cNvPr>
          <p:cNvSpPr/>
          <p:nvPr/>
        </p:nvSpPr>
        <p:spPr>
          <a:xfrm>
            <a:off x="7874000" y="1905000"/>
            <a:ext cx="3074088" cy="812800"/>
          </a:xfrm>
          <a:prstGeom prst="roundRect">
            <a:avLst>
              <a:gd name="adj" fmla="val 10938"/>
            </a:avLst>
          </a:prstGeom>
          <a:solidFill>
            <a:srgbClr val="3A3F4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5400" rIns="203200" bIns="25400" rtlCol="0" anchor="ctr"/>
          <a:lstStyle/>
          <a:p>
            <a:pPr algn="ctr"/>
            <a:r>
              <a:rPr lang="ko-KR" altLang="en-US" sz="1600" b="1" dirty="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</a:p>
          <a:p>
            <a:pPr algn="ctr"/>
            <a:r>
              <a:rPr lang="en-US" altLang="ko-KR" sz="900" dirty="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 · API · </a:t>
            </a:r>
            <a:r>
              <a:rPr lang="ko-KR" altLang="en-US" sz="900" dirty="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 </a:t>
            </a:r>
            <a:r>
              <a:rPr lang="en-US" altLang="ko-KR" sz="900" dirty="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 dirty="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57D839C-2937-5652-6128-5316D8B7C80F}"/>
              </a:ext>
            </a:extLst>
          </p:cNvPr>
          <p:cNvSpPr/>
          <p:nvPr/>
        </p:nvSpPr>
        <p:spPr>
          <a:xfrm>
            <a:off x="7874000" y="2844800"/>
            <a:ext cx="3074088" cy="812800"/>
          </a:xfrm>
          <a:prstGeom prst="roundRect">
            <a:avLst>
              <a:gd name="adj" fmla="val 10938"/>
            </a:avLst>
          </a:prstGeom>
          <a:solidFill>
            <a:srgbClr val="4A505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5400" rIns="203200" bIns="25400" rtlCol="0" anchor="ctr"/>
          <a:lstStyle/>
          <a:p>
            <a:pPr algn="ctr"/>
            <a:r>
              <a:rPr lang="ko-KR" altLang="en-US" sz="1600" b="1" dirty="0">
                <a:solidFill>
                  <a:srgbClr val="D0D4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</a:p>
          <a:p>
            <a:pPr algn="ctr"/>
            <a:r>
              <a:rPr lang="ko-KR" altLang="en-US" sz="900" dirty="0">
                <a:solidFill>
                  <a:srgbClr val="D0D4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</a:t>
            </a:r>
            <a:r>
              <a:rPr lang="en-US" altLang="ko-KR" sz="900" dirty="0">
                <a:solidFill>
                  <a:srgbClr val="D0D4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RAG · </a:t>
            </a:r>
            <a:r>
              <a:rPr lang="ko-KR" altLang="en-US" sz="900" dirty="0">
                <a:solidFill>
                  <a:srgbClr val="D0D4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로직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095504C-A9E8-6DC2-BEA0-DA766AE19368}"/>
              </a:ext>
            </a:extLst>
          </p:cNvPr>
          <p:cNvSpPr/>
          <p:nvPr/>
        </p:nvSpPr>
        <p:spPr>
          <a:xfrm>
            <a:off x="7874000" y="3784600"/>
            <a:ext cx="3074088" cy="812800"/>
          </a:xfrm>
          <a:prstGeom prst="roundRect">
            <a:avLst>
              <a:gd name="adj" fmla="val 10938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25400" rIns="203200" bIns="25400" rtlCol="0" anchor="ctr"/>
          <a:lstStyle/>
          <a:p>
            <a:pPr algn="ctr"/>
            <a:r>
              <a:rPr lang="ko-KR" altLang="en-US" sz="16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</a:p>
          <a:p>
            <a:pPr algn="ctr"/>
            <a:r>
              <a:rPr lang="ko-KR" altLang="en-US" sz="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</a:t>
            </a:r>
            <a:r>
              <a:rPr lang="en-US" altLang="ko-KR" sz="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정제 </a:t>
            </a:r>
            <a:r>
              <a:rPr lang="en-US" altLang="ko-KR" sz="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DB </a:t>
            </a:r>
            <a:r>
              <a:rPr lang="ko-KR" altLang="en-US" sz="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</a:t>
            </a:r>
            <a:r>
              <a:rPr lang="en-US" altLang="ko-KR" sz="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벡터 인덱스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30866-D640-14B2-D6C7-903E364FA15C}"/>
              </a:ext>
            </a:extLst>
          </p:cNvPr>
          <p:cNvSpPr txBox="1"/>
          <p:nvPr/>
        </p:nvSpPr>
        <p:spPr>
          <a:xfrm>
            <a:off x="7948140" y="4724400"/>
            <a:ext cx="3074088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dirty="0">
                <a:solidFill>
                  <a:srgbClr val="FFFF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▲ 전체 프로젝트 데이터 파트 주도적 수행</a:t>
            </a:r>
          </a:p>
        </p:txBody>
      </p:sp>
    </p:spTree>
    <p:extLst>
      <p:ext uri="{BB962C8B-B14F-4D97-AF65-F5344CB8AC3E}">
        <p14:creationId xmlns:p14="http://schemas.microsoft.com/office/powerpoint/2010/main" val="3424243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824C8-7A5E-CDC8-3BF9-2CC84EEB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6D14AC-67B8-E945-63B5-46908638893B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1F20C-111C-9297-AFA9-4E86F1509A8B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776D3359-4254-218D-0611-B7FC80259318}"/>
              </a:ext>
            </a:extLst>
          </p:cNvPr>
          <p:cNvGrpSpPr/>
          <p:nvPr/>
        </p:nvGrpSpPr>
        <p:grpSpPr>
          <a:xfrm>
            <a:off x="1307512" y="420624"/>
            <a:ext cx="9904188" cy="5461192"/>
            <a:chOff x="475488" y="420624"/>
            <a:chExt cx="8229600" cy="4389120"/>
          </a:xfrm>
        </p:grpSpPr>
        <p:sp>
          <p:nvSpPr>
            <p:cNvPr id="59" name="Text 2">
              <a:extLst>
                <a:ext uri="{FF2B5EF4-FFF2-40B4-BE49-F238E27FC236}">
                  <a16:creationId xmlns:a16="http://schemas.microsoft.com/office/drawing/2014/main" id="{7CBF463A-919A-500D-6837-9E40B8A174AD}"/>
                </a:ext>
              </a:extLst>
            </p:cNvPr>
            <p:cNvSpPr/>
            <p:nvPr/>
          </p:nvSpPr>
          <p:spPr>
            <a:xfrm>
              <a:off x="475488" y="420624"/>
              <a:ext cx="8229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0909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목차</a:t>
              </a:r>
              <a:endParaRPr lang="en-US" sz="2200" dirty="0"/>
            </a:p>
          </p:txBody>
        </p:sp>
        <p:sp>
          <p:nvSpPr>
            <p:cNvPr id="60" name="Shape 4">
              <a:extLst>
                <a:ext uri="{FF2B5EF4-FFF2-40B4-BE49-F238E27FC236}">
                  <a16:creationId xmlns:a16="http://schemas.microsoft.com/office/drawing/2014/main" id="{A699EDC5-7C4B-933D-4F6E-99A972FFA434}"/>
                </a:ext>
              </a:extLst>
            </p:cNvPr>
            <p:cNvSpPr/>
            <p:nvPr/>
          </p:nvSpPr>
          <p:spPr>
            <a:xfrm>
              <a:off x="475488" y="1298448"/>
              <a:ext cx="8229600" cy="0"/>
            </a:xfrm>
            <a:prstGeom prst="line">
              <a:avLst/>
            </a:prstGeom>
            <a:noFill/>
            <a:ln w="7620">
              <a:solidFill>
                <a:srgbClr val="E4E4E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">
              <a:extLst>
                <a:ext uri="{FF2B5EF4-FFF2-40B4-BE49-F238E27FC236}">
                  <a16:creationId xmlns:a16="http://schemas.microsoft.com/office/drawing/2014/main" id="{EE4F8FAA-D7B5-0BA4-5C66-B51BD8A5B1C2}"/>
                </a:ext>
              </a:extLst>
            </p:cNvPr>
            <p:cNvSpPr/>
            <p:nvPr/>
          </p:nvSpPr>
          <p:spPr>
            <a:xfrm>
              <a:off x="475488" y="1418793"/>
              <a:ext cx="5486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chemeClr val="bg1">
                      <a:lumMod val="65000"/>
                    </a:schemeClr>
                  </a:solidFill>
                  <a:latin typeface="+mn-ea"/>
                  <a:cs typeface="Calibri" pitchFamily="34" charset="-120"/>
                </a:rPr>
                <a:t>00</a:t>
              </a:r>
              <a:endParaRPr lang="en-US" sz="3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62" name="Text 6">
              <a:extLst>
                <a:ext uri="{FF2B5EF4-FFF2-40B4-BE49-F238E27FC236}">
                  <a16:creationId xmlns:a16="http://schemas.microsoft.com/office/drawing/2014/main" id="{1FDB2F76-F6EB-72A0-F5BD-D5CC393D795B}"/>
                </a:ext>
              </a:extLst>
            </p:cNvPr>
            <p:cNvSpPr/>
            <p:nvPr/>
          </p:nvSpPr>
          <p:spPr>
            <a:xfrm>
              <a:off x="1143000" y="1389888"/>
              <a:ext cx="7406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핵심 역량 요약</a:t>
              </a:r>
              <a:endParaRPr lang="en-US" sz="2000" dirty="0">
                <a:latin typeface="+mn-ea"/>
              </a:endParaRPr>
            </a:p>
          </p:txBody>
        </p:sp>
        <p:sp>
          <p:nvSpPr>
            <p:cNvPr id="63" name="Text 7">
              <a:extLst>
                <a:ext uri="{FF2B5EF4-FFF2-40B4-BE49-F238E27FC236}">
                  <a16:creationId xmlns:a16="http://schemas.microsoft.com/office/drawing/2014/main" id="{C67D0E9F-A725-C22C-3FB2-857C86276C08}"/>
                </a:ext>
              </a:extLst>
            </p:cNvPr>
            <p:cNvSpPr/>
            <p:nvPr/>
          </p:nvSpPr>
          <p:spPr>
            <a:xfrm>
              <a:off x="1143000" y="1681483"/>
              <a:ext cx="7406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1717A"/>
                  </a:solidFill>
                  <a:latin typeface="+mn-ea"/>
                  <a:cs typeface="Calibri" pitchFamily="34" charset="-120"/>
                </a:rPr>
                <a:t>학력 · 자격 · 기술 스택 · 프로젝트별 수행 역할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64" name="Shape 8">
              <a:extLst>
                <a:ext uri="{FF2B5EF4-FFF2-40B4-BE49-F238E27FC236}">
                  <a16:creationId xmlns:a16="http://schemas.microsoft.com/office/drawing/2014/main" id="{D0158D83-60FE-16CF-4D86-2DD317878463}"/>
                </a:ext>
              </a:extLst>
            </p:cNvPr>
            <p:cNvSpPr/>
            <p:nvPr/>
          </p:nvSpPr>
          <p:spPr>
            <a:xfrm>
              <a:off x="475488" y="2176272"/>
              <a:ext cx="8229600" cy="0"/>
            </a:xfrm>
            <a:prstGeom prst="line">
              <a:avLst/>
            </a:prstGeom>
            <a:noFill/>
            <a:ln w="7620">
              <a:solidFill>
                <a:srgbClr val="E4E4E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 9">
              <a:extLst>
                <a:ext uri="{FF2B5EF4-FFF2-40B4-BE49-F238E27FC236}">
                  <a16:creationId xmlns:a16="http://schemas.microsoft.com/office/drawing/2014/main" id="{641C76AB-7C58-8BDA-4343-117CBF0E9A15}"/>
                </a:ext>
              </a:extLst>
            </p:cNvPr>
            <p:cNvSpPr/>
            <p:nvPr/>
          </p:nvSpPr>
          <p:spPr>
            <a:xfrm>
              <a:off x="475488" y="2296620"/>
              <a:ext cx="5486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chemeClr val="bg1">
                      <a:lumMod val="65000"/>
                    </a:schemeClr>
                  </a:solidFill>
                  <a:latin typeface="+mn-ea"/>
                  <a:cs typeface="Calibri" pitchFamily="34" charset="-120"/>
                </a:rPr>
                <a:t>01</a:t>
              </a:r>
              <a:endParaRPr lang="en-US" sz="3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66" name="Text 10">
              <a:extLst>
                <a:ext uri="{FF2B5EF4-FFF2-40B4-BE49-F238E27FC236}">
                  <a16:creationId xmlns:a16="http://schemas.microsoft.com/office/drawing/2014/main" id="{F3F3CCDB-4D1B-5F02-09E6-F63FCBDC7C2B}"/>
                </a:ext>
              </a:extLst>
            </p:cNvPr>
            <p:cNvSpPr/>
            <p:nvPr/>
          </p:nvSpPr>
          <p:spPr>
            <a:xfrm>
              <a:off x="1143000" y="2267712"/>
              <a:ext cx="7406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LawSight — AI 판례 분석 시스템 (팀장)</a:t>
              </a:r>
              <a:endParaRPr lang="en-US" sz="2000" dirty="0">
                <a:latin typeface="+mn-ea"/>
              </a:endParaRPr>
            </a:p>
          </p:txBody>
        </p:sp>
        <p:sp>
          <p:nvSpPr>
            <p:cNvPr id="67" name="Text 11">
              <a:extLst>
                <a:ext uri="{FF2B5EF4-FFF2-40B4-BE49-F238E27FC236}">
                  <a16:creationId xmlns:a16="http://schemas.microsoft.com/office/drawing/2014/main" id="{DD5FEF0A-D32E-EE45-12F5-4FFE6D7C5673}"/>
                </a:ext>
              </a:extLst>
            </p:cNvPr>
            <p:cNvSpPr/>
            <p:nvPr/>
          </p:nvSpPr>
          <p:spPr>
            <a:xfrm>
              <a:off x="1143000" y="2559305"/>
              <a:ext cx="7406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1717A"/>
                  </a:solidFill>
                  <a:latin typeface="+mn-ea"/>
                  <a:cs typeface="Calibri" pitchFamily="34" charset="-120"/>
                </a:rPr>
                <a:t>상황 → 해결 과제 → 액션(수집·전처리 파이프라인 · 저장소 구성 · 장애 대응) → 결과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68" name="Shape 12">
              <a:extLst>
                <a:ext uri="{FF2B5EF4-FFF2-40B4-BE49-F238E27FC236}">
                  <a16:creationId xmlns:a16="http://schemas.microsoft.com/office/drawing/2014/main" id="{66453E8F-FA41-6C92-C5E9-B277ACA489FE}"/>
                </a:ext>
              </a:extLst>
            </p:cNvPr>
            <p:cNvSpPr/>
            <p:nvPr/>
          </p:nvSpPr>
          <p:spPr>
            <a:xfrm>
              <a:off x="475488" y="3054096"/>
              <a:ext cx="8229600" cy="0"/>
            </a:xfrm>
            <a:prstGeom prst="line">
              <a:avLst/>
            </a:prstGeom>
            <a:noFill/>
            <a:ln w="7620">
              <a:solidFill>
                <a:srgbClr val="E4E4E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13">
              <a:extLst>
                <a:ext uri="{FF2B5EF4-FFF2-40B4-BE49-F238E27FC236}">
                  <a16:creationId xmlns:a16="http://schemas.microsoft.com/office/drawing/2014/main" id="{D2D7E12F-5402-5A92-F8D2-C1A701C4150A}"/>
                </a:ext>
              </a:extLst>
            </p:cNvPr>
            <p:cNvSpPr/>
            <p:nvPr/>
          </p:nvSpPr>
          <p:spPr>
            <a:xfrm>
              <a:off x="475488" y="3174443"/>
              <a:ext cx="5486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chemeClr val="bg1">
                      <a:lumMod val="65000"/>
                    </a:schemeClr>
                  </a:solidFill>
                  <a:latin typeface="+mn-ea"/>
                  <a:cs typeface="Calibri" pitchFamily="34" charset="-120"/>
                </a:rPr>
                <a:t>02</a:t>
              </a:r>
              <a:endParaRPr lang="en-US" sz="3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70" name="Text 14">
              <a:extLst>
                <a:ext uri="{FF2B5EF4-FFF2-40B4-BE49-F238E27FC236}">
                  <a16:creationId xmlns:a16="http://schemas.microsoft.com/office/drawing/2014/main" id="{BFF0E640-C96B-AC7E-994D-36D70341D4C6}"/>
                </a:ext>
              </a:extLst>
            </p:cNvPr>
            <p:cNvSpPr/>
            <p:nvPr/>
          </p:nvSpPr>
          <p:spPr>
            <a:xfrm>
              <a:off x="1143000" y="3145536"/>
              <a:ext cx="7406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My Task Pilot — AI Agent 업무 </a:t>
              </a:r>
              <a:r>
                <a:rPr lang="en-US" sz="2000" b="1" dirty="0" err="1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자동화</a:t>
              </a:r>
              <a:r>
                <a:rPr lang="en-US" sz="2000" b="1" dirty="0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 (</a:t>
              </a:r>
              <a:r>
                <a:rPr lang="ko-KR" altLang="en-US" sz="2000" b="1" dirty="0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팀원</a:t>
              </a:r>
              <a:r>
                <a:rPr lang="en-US" sz="2000" b="1" dirty="0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)</a:t>
              </a:r>
              <a:endParaRPr lang="en-US" sz="2000" dirty="0">
                <a:latin typeface="+mn-ea"/>
              </a:endParaRPr>
            </a:p>
          </p:txBody>
        </p:sp>
        <p:sp>
          <p:nvSpPr>
            <p:cNvPr id="71" name="Text 15">
              <a:extLst>
                <a:ext uri="{FF2B5EF4-FFF2-40B4-BE49-F238E27FC236}">
                  <a16:creationId xmlns:a16="http://schemas.microsoft.com/office/drawing/2014/main" id="{32DB071E-016A-0B21-C505-83617CE02458}"/>
                </a:ext>
              </a:extLst>
            </p:cNvPr>
            <p:cNvSpPr/>
            <p:nvPr/>
          </p:nvSpPr>
          <p:spPr>
            <a:xfrm>
              <a:off x="1143000" y="3437130"/>
              <a:ext cx="7406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1717A"/>
                  </a:solidFill>
                  <a:latin typeface="+mn-ea"/>
                  <a:cs typeface="Calibri" pitchFamily="34" charset="-120"/>
                </a:rPr>
                <a:t>상황 → 해결 과제 → 액션(비정형 데이터 파이프라인 · AWS EC2 · 정합성 검증) → 결과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72" name="Shape 16">
              <a:extLst>
                <a:ext uri="{FF2B5EF4-FFF2-40B4-BE49-F238E27FC236}">
                  <a16:creationId xmlns:a16="http://schemas.microsoft.com/office/drawing/2014/main" id="{49A8F0CB-68EF-F132-C20D-433B5135997A}"/>
                </a:ext>
              </a:extLst>
            </p:cNvPr>
            <p:cNvSpPr/>
            <p:nvPr/>
          </p:nvSpPr>
          <p:spPr>
            <a:xfrm>
              <a:off x="475488" y="3931920"/>
              <a:ext cx="8229600" cy="0"/>
            </a:xfrm>
            <a:prstGeom prst="line">
              <a:avLst/>
            </a:prstGeom>
            <a:noFill/>
            <a:ln w="7620">
              <a:solidFill>
                <a:srgbClr val="E4E4E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 17">
              <a:extLst>
                <a:ext uri="{FF2B5EF4-FFF2-40B4-BE49-F238E27FC236}">
                  <a16:creationId xmlns:a16="http://schemas.microsoft.com/office/drawing/2014/main" id="{5D01F75C-6C42-E380-5400-17CA465AEFC8}"/>
                </a:ext>
              </a:extLst>
            </p:cNvPr>
            <p:cNvSpPr/>
            <p:nvPr/>
          </p:nvSpPr>
          <p:spPr>
            <a:xfrm>
              <a:off x="475488" y="4052267"/>
              <a:ext cx="5486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chemeClr val="bg1">
                      <a:lumMod val="65000"/>
                    </a:schemeClr>
                  </a:solidFill>
                  <a:latin typeface="+mn-ea"/>
                  <a:cs typeface="Calibri" pitchFamily="34" charset="-120"/>
                </a:rPr>
                <a:t>03</a:t>
              </a:r>
              <a:endParaRPr lang="en-US" sz="3000" dirty="0">
                <a:solidFill>
                  <a:schemeClr val="bg1">
                    <a:lumMod val="65000"/>
                  </a:schemeClr>
                </a:solidFill>
                <a:latin typeface="+mn-ea"/>
              </a:endParaRPr>
            </a:p>
          </p:txBody>
        </p:sp>
        <p:sp>
          <p:nvSpPr>
            <p:cNvPr id="74" name="Text 18">
              <a:extLst>
                <a:ext uri="{FF2B5EF4-FFF2-40B4-BE49-F238E27FC236}">
                  <a16:creationId xmlns:a16="http://schemas.microsoft.com/office/drawing/2014/main" id="{A469EA6C-7DF0-FCF0-129F-AA90BC078A81}"/>
                </a:ext>
              </a:extLst>
            </p:cNvPr>
            <p:cNvSpPr/>
            <p:nvPr/>
          </p:nvSpPr>
          <p:spPr>
            <a:xfrm>
              <a:off x="1143000" y="4023360"/>
              <a:ext cx="74066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27272A"/>
                  </a:solidFill>
                  <a:latin typeface="+mn-ea"/>
                  <a:cs typeface="Calibri" pitchFamily="34" charset="-120"/>
                </a:rPr>
                <a:t>영화 예매 플랫폼 — 표준 기반 데이터 모델링 (개인)</a:t>
              </a:r>
              <a:endParaRPr lang="en-US" sz="2000" dirty="0">
                <a:latin typeface="+mn-ea"/>
              </a:endParaRPr>
            </a:p>
          </p:txBody>
        </p:sp>
        <p:sp>
          <p:nvSpPr>
            <p:cNvPr id="75" name="Text 19">
              <a:extLst>
                <a:ext uri="{FF2B5EF4-FFF2-40B4-BE49-F238E27FC236}">
                  <a16:creationId xmlns:a16="http://schemas.microsoft.com/office/drawing/2014/main" id="{C6ED365A-76C4-B634-B63F-7903D4577054}"/>
                </a:ext>
              </a:extLst>
            </p:cNvPr>
            <p:cNvSpPr/>
            <p:nvPr/>
          </p:nvSpPr>
          <p:spPr>
            <a:xfrm>
              <a:off x="1143000" y="4314954"/>
              <a:ext cx="740664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71717A"/>
                  </a:solidFill>
                  <a:latin typeface="+mn-ea"/>
                  <a:cs typeface="Calibri" pitchFamily="34" charset="-120"/>
                </a:rPr>
                <a:t>상황 → 해결 과제 → 액션(논리·물리 ERD · DB 구축 · 이슈 해결) → 결과</a:t>
              </a:r>
              <a:endParaRPr lang="en-US" sz="1100" dirty="0">
                <a:latin typeface="+mn-ea"/>
              </a:endParaRPr>
            </a:p>
          </p:txBody>
        </p:sp>
        <p:sp>
          <p:nvSpPr>
            <p:cNvPr id="76" name="Shape 20">
              <a:extLst>
                <a:ext uri="{FF2B5EF4-FFF2-40B4-BE49-F238E27FC236}">
                  <a16:creationId xmlns:a16="http://schemas.microsoft.com/office/drawing/2014/main" id="{CF913B51-F5D6-5D26-34FA-E276EAD21F62}"/>
                </a:ext>
              </a:extLst>
            </p:cNvPr>
            <p:cNvSpPr/>
            <p:nvPr/>
          </p:nvSpPr>
          <p:spPr>
            <a:xfrm>
              <a:off x="475488" y="4809744"/>
              <a:ext cx="8229600" cy="0"/>
            </a:xfrm>
            <a:prstGeom prst="line">
              <a:avLst/>
            </a:prstGeom>
            <a:noFill/>
            <a:ln w="7620">
              <a:solidFill>
                <a:srgbClr val="E4E4E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284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E2E58-0F6F-E725-33CE-0BAE050D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69AC1-6202-F096-7BFD-9000B5367530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PROFILE</a:t>
            </a:r>
            <a:endParaRPr lang="ko-KR" altLang="en-US" sz="900" b="1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3A44A-0FCE-A3A8-A4FB-7A8B58B3C8C0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역량 요약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8BC7C5-E93B-76AC-DCF4-4FB144D8C480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수집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정제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모델링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인덱스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배포를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Full Cycle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구축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8F8AED-217C-8F04-05A8-92CAD478F4C4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01946-1E62-FDCD-6E86-F6801615815F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EE19468-522A-BA83-ED13-AACB1FBC548A}"/>
              </a:ext>
            </a:extLst>
          </p:cNvPr>
          <p:cNvSpPr/>
          <p:nvPr/>
        </p:nvSpPr>
        <p:spPr>
          <a:xfrm>
            <a:off x="508000" y="1422400"/>
            <a:ext cx="3987800" cy="914400"/>
          </a:xfrm>
          <a:prstGeom prst="roundRect">
            <a:avLst>
              <a:gd name="adj" fmla="val 11667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1FBEFD-8639-640E-BDEF-3554457BE08F}"/>
              </a:ext>
            </a:extLst>
          </p:cNvPr>
          <p:cNvSpPr txBox="1"/>
          <p:nvPr/>
        </p:nvSpPr>
        <p:spPr>
          <a:xfrm>
            <a:off x="685800" y="15367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2EB3A-C1ED-5B8B-636E-03CB5B3B3ADF}"/>
              </a:ext>
            </a:extLst>
          </p:cNvPr>
          <p:cNvSpPr txBox="1"/>
          <p:nvPr/>
        </p:nvSpPr>
        <p:spPr>
          <a:xfrm>
            <a:off x="685800" y="1802934"/>
            <a:ext cx="3911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수원대학교 </a:t>
            </a:r>
            <a:r>
              <a:rPr lang="ko-KR" altLang="en-US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컴퓨터소프트웨어학과</a:t>
            </a:r>
            <a:endParaRPr lang="ko-KR" altLang="en-US" sz="100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5000"/>
              </a:lnSpc>
            </a:pP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2023.03 – 2027.02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졸업예정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국어국문학과 입학 후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 전과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E449464-0D3B-F795-6D39-DAE4F330806D}"/>
              </a:ext>
            </a:extLst>
          </p:cNvPr>
          <p:cNvSpPr/>
          <p:nvPr/>
        </p:nvSpPr>
        <p:spPr>
          <a:xfrm>
            <a:off x="508000" y="2495724"/>
            <a:ext cx="3987800" cy="1118747"/>
          </a:xfrm>
          <a:prstGeom prst="roundRect">
            <a:avLst>
              <a:gd name="adj" fmla="val 8974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5FF3C9-420E-F546-F74A-EC9D152A8C1D}"/>
              </a:ext>
            </a:extLst>
          </p:cNvPr>
          <p:cNvSpPr txBox="1"/>
          <p:nvPr/>
        </p:nvSpPr>
        <p:spPr>
          <a:xfrm>
            <a:off x="685800" y="2610025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자격 </a:t>
            </a:r>
            <a:r>
              <a:rPr lang="en-US" altLang="ko-KR" sz="12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24A1F3-D7C6-7DC3-CAE1-B71C3DD37F08}"/>
              </a:ext>
            </a:extLst>
          </p:cNvPr>
          <p:cNvSpPr txBox="1"/>
          <p:nvPr/>
        </p:nvSpPr>
        <p:spPr>
          <a:xfrm>
            <a:off x="685800" y="2854274"/>
            <a:ext cx="391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DAsP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취득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SQLD/OCP 2026.11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응시 준비</a:t>
            </a:r>
          </a:p>
          <a:p>
            <a:pPr>
              <a:lnSpc>
                <a:spcPct val="105000"/>
              </a:lnSpc>
            </a:pP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오라클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과정 수강 중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아이티윌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5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26.6~26.11)</a:t>
            </a:r>
            <a:endParaRPr lang="ko-KR" altLang="en-US" sz="100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BB141E9-883E-96BB-A198-4B3B28F35FE3}"/>
              </a:ext>
            </a:extLst>
          </p:cNvPr>
          <p:cNvSpPr/>
          <p:nvPr/>
        </p:nvSpPr>
        <p:spPr>
          <a:xfrm>
            <a:off x="508000" y="3797650"/>
            <a:ext cx="3987800" cy="1320800"/>
          </a:xfrm>
          <a:prstGeom prst="roundRect">
            <a:avLst>
              <a:gd name="adj" fmla="val 6731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693FB1-EA4C-1A5F-926B-D384C90B6345}"/>
              </a:ext>
            </a:extLst>
          </p:cNvPr>
          <p:cNvSpPr txBox="1"/>
          <p:nvPr/>
        </p:nvSpPr>
        <p:spPr>
          <a:xfrm>
            <a:off x="685800" y="391195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 스택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B78AF-9697-4403-67BC-8F486F51EC01}"/>
              </a:ext>
            </a:extLst>
          </p:cNvPr>
          <p:cNvSpPr txBox="1"/>
          <p:nvPr/>
        </p:nvSpPr>
        <p:spPr>
          <a:xfrm>
            <a:off x="685800" y="4178183"/>
            <a:ext cx="3911600" cy="7822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0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PostgreSQL(+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pgvector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· Oracle · ERD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(DA# Modeler)</a:t>
            </a:r>
          </a:p>
          <a:p>
            <a:pPr>
              <a:lnSpc>
                <a:spcPct val="105000"/>
              </a:lnSpc>
            </a:pPr>
            <a:r>
              <a:rPr lang="en-US" altLang="ko-KR" sz="10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ChromaDB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KoSBERT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벡터 검색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Pandas </a:t>
            </a:r>
          </a:p>
          <a:p>
            <a:pPr>
              <a:lnSpc>
                <a:spcPct val="105000"/>
              </a:lnSpc>
            </a:pPr>
            <a:r>
              <a:rPr lang="en-US" altLang="ko-KR" sz="10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Backend/AI 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Python · 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FastAPI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· Spring Boot/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MyBatis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</a:rPr>
              <a:t> · ML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pPr>
              <a:lnSpc>
                <a:spcPct val="105000"/>
              </a:lnSpc>
            </a:pPr>
            <a:r>
              <a:rPr lang="en-US" altLang="ko-KR" sz="10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Infra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AWS EC2 · Linux · Git/GitHub · Notion</a:t>
            </a:r>
            <a:endParaRPr lang="ko-KR" altLang="en-US" sz="100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6C2414D-D175-3440-4C6C-2809D1F8D2F2}"/>
              </a:ext>
            </a:extLst>
          </p:cNvPr>
          <p:cNvSpPr/>
          <p:nvPr/>
        </p:nvSpPr>
        <p:spPr>
          <a:xfrm>
            <a:off x="508000" y="5337495"/>
            <a:ext cx="3987800" cy="987105"/>
          </a:xfrm>
          <a:prstGeom prst="roundRect">
            <a:avLst>
              <a:gd name="adj" fmla="val 11290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30E335-1EDA-B424-2251-F6D56796897C}"/>
              </a:ext>
            </a:extLst>
          </p:cNvPr>
          <p:cNvSpPr txBox="1"/>
          <p:nvPr/>
        </p:nvSpPr>
        <p:spPr>
          <a:xfrm>
            <a:off x="685800" y="5451796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8563D0-0703-2B1A-FB2B-632EC06B9DF2}"/>
              </a:ext>
            </a:extLst>
          </p:cNvPr>
          <p:cNvSpPr txBox="1"/>
          <p:nvPr/>
        </p:nvSpPr>
        <p:spPr>
          <a:xfrm>
            <a:off x="685800" y="5718030"/>
            <a:ext cx="3911600" cy="56903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 </a:t>
            </a:r>
            <a:r>
              <a:rPr lang="ko-KR" altLang="en-US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한이음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드림업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프로젝트 수행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진행중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26.4~26.10)</a:t>
            </a:r>
            <a:endParaRPr lang="ko-KR" altLang="en-US" sz="100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5000"/>
              </a:lnSpc>
            </a:pP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LawSight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 역할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000" dirty="0" err="1">
                <a:solidFill>
                  <a:srgbClr val="1B1F24"/>
                </a:solidFill>
                <a:latin typeface="맑은 고딕" panose="020B0503020000020004" pitchFamily="50" charset="-127"/>
              </a:rPr>
              <a:t>MyTaskPilot</a:t>
            </a:r>
            <a:r>
              <a:rPr lang="en-US" altLang="ko-KR" sz="1000" dirty="0">
                <a:solidFill>
                  <a:srgbClr val="1B1F24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rgbClr val="1B1F24"/>
                </a:solidFill>
                <a:latin typeface="맑은 고딕" panose="020B0503020000020004" pitchFamily="50" charset="-127"/>
              </a:rPr>
              <a:t>팀원 역할</a:t>
            </a:r>
            <a:endParaRPr lang="en-US" altLang="ko-KR" sz="1000" dirty="0">
              <a:solidFill>
                <a:srgbClr val="1B1F24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05000"/>
              </a:lnSpc>
            </a:pPr>
            <a:r>
              <a:rPr lang="en-US" altLang="ko-KR" sz="900" b="1" dirty="0">
                <a:solidFill>
                  <a:srgbClr val="33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ko-KR" altLang="en-US" sz="900" b="1" dirty="0">
                <a:solidFill>
                  <a:srgbClr val="33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dirty="0">
                <a:solidFill>
                  <a:srgbClr val="33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b="1" dirty="0">
                <a:solidFill>
                  <a:srgbClr val="33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과제 중간평가 상위 </a:t>
            </a:r>
            <a:r>
              <a:rPr lang="en-US" altLang="ko-KR" sz="900" b="1" dirty="0">
                <a:solidFill>
                  <a:srgbClr val="33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30% </a:t>
            </a:r>
            <a:r>
              <a:rPr lang="ko-KR" altLang="en-US" sz="900" b="1" dirty="0">
                <a:solidFill>
                  <a:srgbClr val="3333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우수 프로젝트 및 장려상 후보 선정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B3165C-EE0E-2D9B-37C7-B65A4AAAD152}"/>
              </a:ext>
            </a:extLst>
          </p:cNvPr>
          <p:cNvSpPr/>
          <p:nvPr/>
        </p:nvSpPr>
        <p:spPr>
          <a:xfrm>
            <a:off x="5274738" y="1422400"/>
            <a:ext cx="1623115" cy="330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2BD9E6-F151-04E4-E5D0-35232B7CF9F0}"/>
              </a:ext>
            </a:extLst>
          </p:cNvPr>
          <p:cNvSpPr/>
          <p:nvPr/>
        </p:nvSpPr>
        <p:spPr>
          <a:xfrm>
            <a:off x="6897855" y="1422400"/>
            <a:ext cx="1492305" cy="330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구분 </a:t>
            </a:r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B24911-20FD-1908-1E7D-B846E2DDEA5B}"/>
              </a:ext>
            </a:extLst>
          </p:cNvPr>
          <p:cNvSpPr/>
          <p:nvPr/>
        </p:nvSpPr>
        <p:spPr>
          <a:xfrm>
            <a:off x="8274829" y="1422400"/>
            <a:ext cx="1515844" cy="330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C63637-FFF3-CDCB-D596-C9B18940B6FB}"/>
              </a:ext>
            </a:extLst>
          </p:cNvPr>
          <p:cNvSpPr/>
          <p:nvPr/>
        </p:nvSpPr>
        <p:spPr>
          <a:xfrm>
            <a:off x="9774197" y="1422400"/>
            <a:ext cx="1905000" cy="330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성과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890FB9-E25F-EE27-5775-D406BFD871BD}"/>
              </a:ext>
            </a:extLst>
          </p:cNvPr>
          <p:cNvSpPr/>
          <p:nvPr/>
        </p:nvSpPr>
        <p:spPr>
          <a:xfrm>
            <a:off x="5080005" y="1752600"/>
            <a:ext cx="67310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0F24AFC-E594-68A5-9441-43901D454654}"/>
              </a:ext>
            </a:extLst>
          </p:cNvPr>
          <p:cNvSpPr/>
          <p:nvPr/>
        </p:nvSpPr>
        <p:spPr>
          <a:xfrm>
            <a:off x="5080005" y="2667000"/>
            <a:ext cx="67310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E512EAA-9C69-B762-5CF5-BBA01E3E800D}"/>
              </a:ext>
            </a:extLst>
          </p:cNvPr>
          <p:cNvSpPr/>
          <p:nvPr/>
        </p:nvSpPr>
        <p:spPr>
          <a:xfrm>
            <a:off x="5080005" y="3581400"/>
            <a:ext cx="67310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3E20434-B123-5D86-21AA-76E3348059EF}"/>
              </a:ext>
            </a:extLst>
          </p:cNvPr>
          <p:cNvSpPr/>
          <p:nvPr/>
        </p:nvSpPr>
        <p:spPr>
          <a:xfrm>
            <a:off x="5080005" y="4495800"/>
            <a:ext cx="67310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D46D5BD-A55D-372B-DF35-614F92AFB1B0}"/>
              </a:ext>
            </a:extLst>
          </p:cNvPr>
          <p:cNvSpPr/>
          <p:nvPr/>
        </p:nvSpPr>
        <p:spPr>
          <a:xfrm>
            <a:off x="5080005" y="5410200"/>
            <a:ext cx="6731000" cy="914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5365BC-AC27-5056-E697-CDF49DDC8613}"/>
              </a:ext>
            </a:extLst>
          </p:cNvPr>
          <p:cNvSpPr txBox="1"/>
          <p:nvPr/>
        </p:nvSpPr>
        <p:spPr>
          <a:xfrm>
            <a:off x="623707" y="3245492"/>
            <a:ext cx="3810000" cy="251340"/>
          </a:xfrm>
          <a:prstGeom prst="rect">
            <a:avLst/>
          </a:prstGeom>
          <a:noFill/>
        </p:spPr>
        <p:txBody>
          <a:bodyPr wrap="none" numCol="1">
            <a:normAutofit/>
          </a:bodyPr>
          <a:lstStyle/>
          <a:p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hlinkClick r:id="rId2"/>
              </a:rPr>
              <a:t>오라클 교육 학습 일지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3B2616-5393-3C1A-4246-F5F1F3D6B6E3}"/>
              </a:ext>
            </a:extLst>
          </p:cNvPr>
          <p:cNvSpPr txBox="1"/>
          <p:nvPr/>
        </p:nvSpPr>
        <p:spPr>
          <a:xfrm>
            <a:off x="5427143" y="1938867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LawSight</a:t>
            </a:r>
            <a:endParaRPr lang="ko-KR" altLang="en-US" sz="1200" b="1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0FD438-F9E9-7B0C-CE6F-5C7D07EB3FAF}"/>
              </a:ext>
            </a:extLst>
          </p:cNvPr>
          <p:cNvSpPr txBox="1"/>
          <p:nvPr/>
        </p:nvSpPr>
        <p:spPr>
          <a:xfrm>
            <a:off x="5427143" y="2133065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판례 분석 </a:t>
            </a:r>
            <a:r>
              <a:rPr lang="en-US" altLang="ko-KR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소송전략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C9307B-7AC4-E2D8-5C97-E64CBD4A3395}"/>
              </a:ext>
            </a:extLst>
          </p:cNvPr>
          <p:cNvSpPr txBox="1"/>
          <p:nvPr/>
        </p:nvSpPr>
        <p:spPr>
          <a:xfrm>
            <a:off x="7086605" y="1937298"/>
            <a:ext cx="1371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한이음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드림업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4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</a:t>
            </a:r>
          </a:p>
          <a:p>
            <a:pPr>
              <a:lnSpc>
                <a:spcPct val="105000"/>
              </a:lnSpc>
            </a:pP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2026.04 ~ 10 (7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0B0B20-4577-3FFC-07B4-FCEF2830A9BB}"/>
              </a:ext>
            </a:extLst>
          </p:cNvPr>
          <p:cNvSpPr txBox="1"/>
          <p:nvPr/>
        </p:nvSpPr>
        <p:spPr>
          <a:xfrm>
            <a:off x="8495273" y="1937298"/>
            <a:ext cx="1244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(PM)</a:t>
            </a:r>
          </a:p>
          <a:p>
            <a:pPr>
              <a:lnSpc>
                <a:spcPct val="105000"/>
              </a:lnSpc>
            </a:pP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 · DB · Infra 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E28E19-B7B3-85DB-B7EA-49C22861A39B}"/>
              </a:ext>
            </a:extLst>
          </p:cNvPr>
          <p:cNvSpPr txBox="1"/>
          <p:nvPr/>
        </p:nvSpPr>
        <p:spPr>
          <a:xfrm>
            <a:off x="9818131" y="1937298"/>
            <a:ext cx="1752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판례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41,438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파이프라인</a:t>
            </a:r>
          </a:p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응답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0.68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실서비스 배포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D045B8-66E7-3584-C45B-470208214057}"/>
              </a:ext>
            </a:extLst>
          </p:cNvPr>
          <p:cNvSpPr txBox="1"/>
          <p:nvPr/>
        </p:nvSpPr>
        <p:spPr>
          <a:xfrm>
            <a:off x="5427143" y="2707420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 Task Pilot</a:t>
            </a:r>
            <a:endParaRPr lang="ko-KR" altLang="en-US" sz="120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92B2E1-8FE8-C0CE-3078-CB1091E015EB}"/>
              </a:ext>
            </a:extLst>
          </p:cNvPr>
          <p:cNvSpPr txBox="1"/>
          <p:nvPr/>
        </p:nvSpPr>
        <p:spPr>
          <a:xfrm>
            <a:off x="5427143" y="2909855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0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Agent </a:t>
            </a:r>
            <a:r>
              <a:rPr lang="ko-KR" altLang="en-US" sz="10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자동화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D72C31-37C6-3709-DD9D-E258BC7EAC5D}"/>
              </a:ext>
            </a:extLst>
          </p:cNvPr>
          <p:cNvSpPr txBox="1"/>
          <p:nvPr/>
        </p:nvSpPr>
        <p:spPr>
          <a:xfrm>
            <a:off x="7086605" y="2672898"/>
            <a:ext cx="1371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한이음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졸업작품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3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</a:t>
            </a:r>
          </a:p>
          <a:p>
            <a:pPr>
              <a:lnSpc>
                <a:spcPct val="105000"/>
              </a:lnSpc>
            </a:pP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2026.04 ~ 10 (7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FC9D83-B111-BA14-B0E8-EE81F30C55F8}"/>
              </a:ext>
            </a:extLst>
          </p:cNvPr>
          <p:cNvSpPr txBox="1"/>
          <p:nvPr/>
        </p:nvSpPr>
        <p:spPr>
          <a:xfrm>
            <a:off x="8495273" y="2672898"/>
            <a:ext cx="1244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(Data / AI)</a:t>
            </a:r>
          </a:p>
          <a:p>
            <a:pPr>
              <a:lnSpc>
                <a:spcPct val="105000"/>
              </a:lnSpc>
            </a:pP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RAG 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44AF265-666E-403D-C081-24A83FA288E0}"/>
              </a:ext>
            </a:extLst>
          </p:cNvPr>
          <p:cNvSpPr txBox="1"/>
          <p:nvPr/>
        </p:nvSpPr>
        <p:spPr>
          <a:xfrm>
            <a:off x="9818131" y="2672898"/>
            <a:ext cx="1752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PostgreSQL+pgvector 6T</a:t>
            </a:r>
          </a:p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전수 정합성 검증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B3327B-92C7-D011-F164-7D980AA20AE3}"/>
              </a:ext>
            </a:extLst>
          </p:cNvPr>
          <p:cNvSpPr txBox="1"/>
          <p:nvPr/>
        </p:nvSpPr>
        <p:spPr>
          <a:xfrm>
            <a:off x="5427143" y="4292276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맞춤형 식단 관리 웹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CFB39B-9BAC-B4EE-2F0F-75F8AD7B252A}"/>
              </a:ext>
            </a:extLst>
          </p:cNvPr>
          <p:cNvSpPr txBox="1"/>
          <p:nvPr/>
        </p:nvSpPr>
        <p:spPr>
          <a:xfrm>
            <a:off x="5427143" y="4511187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 연동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DC5A95-4E07-59B4-5411-2BD4499EA990}"/>
              </a:ext>
            </a:extLst>
          </p:cNvPr>
          <p:cNvSpPr txBox="1"/>
          <p:nvPr/>
        </p:nvSpPr>
        <p:spPr>
          <a:xfrm>
            <a:off x="7086605" y="4315421"/>
            <a:ext cx="1371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3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 여름방학</a:t>
            </a:r>
            <a:endParaRPr lang="en-US" altLang="ko-KR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5000"/>
              </a:lnSpc>
            </a:pP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2025.07 ~ 08 (2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D3D883-A48F-48A1-26FA-1D4FA589973E}"/>
              </a:ext>
            </a:extLst>
          </p:cNvPr>
          <p:cNvSpPr txBox="1"/>
          <p:nvPr/>
        </p:nvSpPr>
        <p:spPr>
          <a:xfrm>
            <a:off x="8495273" y="4315421"/>
            <a:ext cx="1244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단독 수행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7B0B93-E48E-D880-01EA-47C7BA328AE2}"/>
              </a:ext>
            </a:extLst>
          </p:cNvPr>
          <p:cNvSpPr txBox="1"/>
          <p:nvPr/>
        </p:nvSpPr>
        <p:spPr>
          <a:xfrm>
            <a:off x="9818131" y="4315421"/>
            <a:ext cx="1752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1,000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연동</a:t>
            </a:r>
          </a:p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집계 쿼리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시각화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DE816E5-CC26-56C6-836B-094DE0152819}"/>
              </a:ext>
            </a:extLst>
          </p:cNvPr>
          <p:cNvCxnSpPr>
            <a:cxnSpLocks/>
          </p:cNvCxnSpPr>
          <p:nvPr/>
        </p:nvCxnSpPr>
        <p:spPr>
          <a:xfrm flipV="1">
            <a:off x="6897856" y="1744212"/>
            <a:ext cx="0" cy="4580388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AC011343-F4EA-6D1C-ECCC-9390EF7CF404}"/>
              </a:ext>
            </a:extLst>
          </p:cNvPr>
          <p:cNvCxnSpPr>
            <a:cxnSpLocks/>
          </p:cNvCxnSpPr>
          <p:nvPr/>
        </p:nvCxnSpPr>
        <p:spPr>
          <a:xfrm>
            <a:off x="5274737" y="2487990"/>
            <a:ext cx="6408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95952371-2CEF-DC8E-66AB-98806DA7B8CA}"/>
              </a:ext>
            </a:extLst>
          </p:cNvPr>
          <p:cNvCxnSpPr>
            <a:cxnSpLocks/>
          </p:cNvCxnSpPr>
          <p:nvPr/>
        </p:nvCxnSpPr>
        <p:spPr>
          <a:xfrm>
            <a:off x="5274737" y="3272425"/>
            <a:ext cx="6408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42452499-6222-BA9F-862B-EBF2A111E5C6}"/>
              </a:ext>
            </a:extLst>
          </p:cNvPr>
          <p:cNvCxnSpPr>
            <a:cxnSpLocks/>
          </p:cNvCxnSpPr>
          <p:nvPr/>
        </p:nvCxnSpPr>
        <p:spPr>
          <a:xfrm>
            <a:off x="5274737" y="4077035"/>
            <a:ext cx="6408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7AEB67B-030E-4449-78D2-F7155E967F39}"/>
              </a:ext>
            </a:extLst>
          </p:cNvPr>
          <p:cNvCxnSpPr>
            <a:cxnSpLocks/>
          </p:cNvCxnSpPr>
          <p:nvPr/>
        </p:nvCxnSpPr>
        <p:spPr>
          <a:xfrm>
            <a:off x="5274737" y="4868117"/>
            <a:ext cx="6408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4D128AC-C8DB-DEC5-4226-465CF9374DB7}"/>
              </a:ext>
            </a:extLst>
          </p:cNvPr>
          <p:cNvCxnSpPr>
            <a:cxnSpLocks/>
          </p:cNvCxnSpPr>
          <p:nvPr/>
        </p:nvCxnSpPr>
        <p:spPr>
          <a:xfrm>
            <a:off x="5274737" y="5594100"/>
            <a:ext cx="6408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1B65A22-6E59-31B6-C771-E3446D0C6BB8}"/>
              </a:ext>
            </a:extLst>
          </p:cNvPr>
          <p:cNvSpPr txBox="1"/>
          <p:nvPr/>
        </p:nvSpPr>
        <p:spPr>
          <a:xfrm>
            <a:off x="5427143" y="5078539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신용 리스크 예측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44D71D-8771-81F1-033B-8A413AE53D5E}"/>
              </a:ext>
            </a:extLst>
          </p:cNvPr>
          <p:cNvSpPr txBox="1"/>
          <p:nvPr/>
        </p:nvSpPr>
        <p:spPr>
          <a:xfrm>
            <a:off x="7086605" y="5128040"/>
            <a:ext cx="1371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3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 수강과목</a:t>
            </a:r>
            <a:endParaRPr lang="en-US" altLang="ko-KR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5000"/>
              </a:lnSpc>
            </a:pP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2025.10 ~ 11 (2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D81840-CF33-FC36-9F67-EEE4EFB39D16}"/>
              </a:ext>
            </a:extLst>
          </p:cNvPr>
          <p:cNvSpPr txBox="1"/>
          <p:nvPr/>
        </p:nvSpPr>
        <p:spPr>
          <a:xfrm>
            <a:off x="8495273" y="5128040"/>
            <a:ext cx="1244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단독 수행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5EE2E4-654F-B79A-1AF1-49FBB4A83D91}"/>
              </a:ext>
            </a:extLst>
          </p:cNvPr>
          <p:cNvSpPr txBox="1"/>
          <p:nvPr/>
        </p:nvSpPr>
        <p:spPr>
          <a:xfrm>
            <a:off x="9818131" y="5128040"/>
            <a:ext cx="1752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 건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SMOTE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보정</a:t>
            </a:r>
          </a:p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AUROC 0.8585</a:t>
            </a:r>
            <a:endParaRPr lang="ko-KR" altLang="en-US" sz="85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535546-9743-A801-B026-E8A54129C8DC}"/>
              </a:ext>
            </a:extLst>
          </p:cNvPr>
          <p:cNvSpPr txBox="1"/>
          <p:nvPr/>
        </p:nvSpPr>
        <p:spPr>
          <a:xfrm>
            <a:off x="5443619" y="5279741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알고리즘분석 과제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E2C7FC-FDF1-4FE8-7D8B-366F7E351DA6}"/>
              </a:ext>
            </a:extLst>
          </p:cNvPr>
          <p:cNvSpPr txBox="1"/>
          <p:nvPr/>
        </p:nvSpPr>
        <p:spPr>
          <a:xfrm>
            <a:off x="5427143" y="3500683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영화 예매 플랫폼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B22275-794B-B5EA-12EE-65D28EE2F061}"/>
              </a:ext>
            </a:extLst>
          </p:cNvPr>
          <p:cNvSpPr txBox="1"/>
          <p:nvPr/>
        </p:nvSpPr>
        <p:spPr>
          <a:xfrm>
            <a:off x="5427143" y="3694880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역량 강화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A3E2A9-E800-EC49-8FB8-03CEA1195EC1}"/>
              </a:ext>
            </a:extLst>
          </p:cNvPr>
          <p:cNvSpPr txBox="1"/>
          <p:nvPr/>
        </p:nvSpPr>
        <p:spPr>
          <a:xfrm>
            <a:off x="7086605" y="3441447"/>
            <a:ext cx="1371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3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 겨울방학</a:t>
            </a:r>
            <a:endParaRPr lang="en-US" altLang="ko-KR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5000"/>
              </a:lnSpc>
            </a:pP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2026.01 ~ 02 (2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개월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C7FD6E-67B3-EAE1-7671-8F8D01C29EC7}"/>
              </a:ext>
            </a:extLst>
          </p:cNvPr>
          <p:cNvSpPr txBox="1"/>
          <p:nvPr/>
        </p:nvSpPr>
        <p:spPr>
          <a:xfrm>
            <a:off x="8495273" y="3441447"/>
            <a:ext cx="1244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단독 수행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280130-9488-8959-733C-2C9DCD4CD7F7}"/>
              </a:ext>
            </a:extLst>
          </p:cNvPr>
          <p:cNvSpPr txBox="1"/>
          <p:nvPr/>
        </p:nvSpPr>
        <p:spPr>
          <a:xfrm>
            <a:off x="9818131" y="3441447"/>
            <a:ext cx="1752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논리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물리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PostgreSQL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</a:t>
            </a:r>
          </a:p>
        </p:txBody>
      </p:sp>
      <p:sp>
        <p:nvSpPr>
          <p:cNvPr id="76" name="Pentagon 12">
            <a:extLst>
              <a:ext uri="{FF2B5EF4-FFF2-40B4-BE49-F238E27FC236}">
                <a16:creationId xmlns:a16="http://schemas.microsoft.com/office/drawing/2014/main" id="{BF0AB3D9-4008-3B35-3442-B10D55594C88}"/>
              </a:ext>
            </a:extLst>
          </p:cNvPr>
          <p:cNvSpPr/>
          <p:nvPr/>
        </p:nvSpPr>
        <p:spPr>
          <a:xfrm rot="16200000">
            <a:off x="4696819" y="5782038"/>
            <a:ext cx="639882" cy="445241"/>
          </a:xfrm>
          <a:prstGeom prst="homePlate">
            <a:avLst>
              <a:gd name="adj" fmla="val 3400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endParaRPr sz="800" b="0" i="0" dirty="0">
              <a:solidFill>
                <a:srgbClr val="D6DEEE"/>
              </a:solidFill>
              <a:latin typeface="맑은 고딕"/>
              <a:ea typeface="맑은 고딕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2B29544-8783-E9E2-37AC-E1F0254A52B1}"/>
              </a:ext>
            </a:extLst>
          </p:cNvPr>
          <p:cNvSpPr txBox="1"/>
          <p:nvPr/>
        </p:nvSpPr>
        <p:spPr>
          <a:xfrm>
            <a:off x="5414784" y="5881732"/>
            <a:ext cx="17272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 &amp; Language</a:t>
            </a:r>
            <a:endParaRPr lang="ko-KR" altLang="en-US" sz="1200" b="1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F64B36-59C4-ADB3-DC71-59A6859BC8AF}"/>
              </a:ext>
            </a:extLst>
          </p:cNvPr>
          <p:cNvSpPr txBox="1"/>
          <p:nvPr/>
        </p:nvSpPr>
        <p:spPr>
          <a:xfrm>
            <a:off x="7074246" y="5931233"/>
            <a:ext cx="1371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 </a:t>
            </a:r>
            <a:r>
              <a:rPr lang="en-US" altLang="ko-KR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2</a:t>
            </a: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45DFFEB-2F1D-AEF4-8A87-1F6F1CE48C07}"/>
              </a:ext>
            </a:extLst>
          </p:cNvPr>
          <p:cNvSpPr txBox="1"/>
          <p:nvPr/>
        </p:nvSpPr>
        <p:spPr>
          <a:xfrm>
            <a:off x="8482914" y="5931233"/>
            <a:ext cx="1244600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단독 수행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91992B8-9767-32AA-FE68-78E71B9B998A}"/>
              </a:ext>
            </a:extLst>
          </p:cNvPr>
          <p:cNvSpPr txBox="1"/>
          <p:nvPr/>
        </p:nvSpPr>
        <p:spPr>
          <a:xfrm>
            <a:off x="9805772" y="5857091"/>
            <a:ext cx="1942758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운영체제</a:t>
            </a:r>
            <a:r>
              <a:rPr lang="en-US" altLang="ko-KR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리눅스</a:t>
            </a:r>
            <a:r>
              <a:rPr lang="en-US" altLang="ko-KR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네트워크</a:t>
            </a:r>
            <a:r>
              <a:rPr lang="en-US" altLang="ko-KR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자료구조</a:t>
            </a:r>
            <a:endParaRPr lang="en-US" altLang="ko-KR" sz="85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5000"/>
              </a:lnSpc>
            </a:pPr>
            <a:r>
              <a:rPr lang="en-US" altLang="ko-KR" sz="850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C, Java, Python</a:t>
            </a:r>
            <a:endParaRPr lang="ko-KR" altLang="en-US" sz="85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F465956-BB35-6C8E-127A-D1DB64CBC6C5}"/>
              </a:ext>
            </a:extLst>
          </p:cNvPr>
          <p:cNvCxnSpPr>
            <a:cxnSpLocks/>
          </p:cNvCxnSpPr>
          <p:nvPr/>
        </p:nvCxnSpPr>
        <p:spPr>
          <a:xfrm>
            <a:off x="5274737" y="6306675"/>
            <a:ext cx="6408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Pentagon 12">
            <a:extLst>
              <a:ext uri="{FF2B5EF4-FFF2-40B4-BE49-F238E27FC236}">
                <a16:creationId xmlns:a16="http://schemas.microsoft.com/office/drawing/2014/main" id="{0E91613F-3694-FB36-3A9D-00B5097189AF}"/>
              </a:ext>
            </a:extLst>
          </p:cNvPr>
          <p:cNvSpPr/>
          <p:nvPr/>
        </p:nvSpPr>
        <p:spPr>
          <a:xfrm rot="16200000">
            <a:off x="3879829" y="4246290"/>
            <a:ext cx="2249158" cy="445243"/>
          </a:xfrm>
          <a:prstGeom prst="homePlate">
            <a:avLst>
              <a:gd name="adj" fmla="val 34003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endParaRPr sz="800" b="0" i="0" dirty="0">
              <a:solidFill>
                <a:srgbClr val="D6DEEE"/>
              </a:solidFill>
              <a:latin typeface="맑은 고딕"/>
              <a:ea typeface="맑은 고딕"/>
            </a:endParaRPr>
          </a:p>
        </p:txBody>
      </p:sp>
      <p:sp>
        <p:nvSpPr>
          <p:cNvPr id="86" name="Pentagon 12">
            <a:extLst>
              <a:ext uri="{FF2B5EF4-FFF2-40B4-BE49-F238E27FC236}">
                <a16:creationId xmlns:a16="http://schemas.microsoft.com/office/drawing/2014/main" id="{870A54E9-F52E-54F3-7EAF-0C01A63F7491}"/>
              </a:ext>
            </a:extLst>
          </p:cNvPr>
          <p:cNvSpPr/>
          <p:nvPr/>
        </p:nvSpPr>
        <p:spPr>
          <a:xfrm rot="16200000">
            <a:off x="4244500" y="2289889"/>
            <a:ext cx="1519820" cy="445242"/>
          </a:xfrm>
          <a:prstGeom prst="homePlate">
            <a:avLst>
              <a:gd name="adj" fmla="val 34003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endParaRPr sz="800" b="0" i="0" dirty="0">
              <a:solidFill>
                <a:srgbClr val="D6DEEE"/>
              </a:solidFill>
              <a:latin typeface="맑은 고딕"/>
              <a:ea typeface="맑은 고딕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38FE660-4730-3743-F336-B55C045BC2A9}"/>
              </a:ext>
            </a:extLst>
          </p:cNvPr>
          <p:cNvSpPr txBox="1"/>
          <p:nvPr/>
        </p:nvSpPr>
        <p:spPr>
          <a:xfrm>
            <a:off x="4795627" y="5857091"/>
            <a:ext cx="445244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기초</a:t>
            </a:r>
            <a:endParaRPr lang="en-US" altLang="ko-KR" sz="12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05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FACD67-9D8E-AFBE-9F18-8A5BA8FB79F4}"/>
              </a:ext>
            </a:extLst>
          </p:cNvPr>
          <p:cNvSpPr txBox="1"/>
          <p:nvPr/>
        </p:nvSpPr>
        <p:spPr>
          <a:xfrm>
            <a:off x="4789253" y="4288403"/>
            <a:ext cx="445244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 단계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EF6BB42-3B60-2F69-BB0E-FF219B5D9136}"/>
              </a:ext>
            </a:extLst>
          </p:cNvPr>
          <p:cNvSpPr txBox="1"/>
          <p:nvPr/>
        </p:nvSpPr>
        <p:spPr>
          <a:xfrm>
            <a:off x="4777688" y="2397977"/>
            <a:ext cx="445244" cy="31375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실전  단계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AF477E-5DA6-614D-6555-8F07859B330D}"/>
              </a:ext>
            </a:extLst>
          </p:cNvPr>
          <p:cNvSpPr txBox="1"/>
          <p:nvPr/>
        </p:nvSpPr>
        <p:spPr>
          <a:xfrm>
            <a:off x="6995162" y="2192579"/>
            <a:ext cx="29057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3"/>
              </a:rPr>
              <a:t>https://www.lawsight.co.kr</a:t>
            </a:r>
            <a:endParaRPr lang="ko-KR" alt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9BDCC1-7676-B7FE-094C-96FCC6B9215B}"/>
              </a:ext>
            </a:extLst>
          </p:cNvPr>
          <p:cNvSpPr txBox="1"/>
          <p:nvPr/>
        </p:nvSpPr>
        <p:spPr>
          <a:xfrm>
            <a:off x="6995162" y="2935223"/>
            <a:ext cx="269239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4"/>
              </a:rPr>
              <a:t>https://www.mytaskpilot.kr</a:t>
            </a:r>
            <a:endParaRPr lang="ko-KR" alt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17F10-BAB8-1C42-DCBA-D0AFD5BF3C80}"/>
              </a:ext>
            </a:extLst>
          </p:cNvPr>
          <p:cNvSpPr txBox="1"/>
          <p:nvPr/>
        </p:nvSpPr>
        <p:spPr>
          <a:xfrm>
            <a:off x="6995162" y="3718652"/>
            <a:ext cx="29057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5"/>
              </a:rPr>
              <a:t>https://movie-booking-platform-ui.vercel.app</a:t>
            </a:r>
            <a:endParaRPr lang="ko-KR" altLang="en-US" sz="9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34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57BC-64FF-7002-A23D-CCACB1642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5EEB1-AA1C-83CB-24D6-F70BAF980E05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SCOPE MATRIX</a:t>
            </a:r>
            <a:endParaRPr lang="ko-KR" altLang="en-US" sz="900" b="1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676E9-0278-4E89-2F6C-3C8DEC7C40CE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프로젝트별 수행 역할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D61CB-18A4-7BBB-0264-B188CF7B3D03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구성 및 프로젝트 단계별 수행 역할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파트 주도적 역할 수행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A0A3B-6CF2-232C-3E32-CFD6F5E13FA8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D39CC-0744-B0E1-1C63-20427187E1EF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42E0D5-70CC-9BF4-26E9-8339387FEF17}"/>
              </a:ext>
            </a:extLst>
          </p:cNvPr>
          <p:cNvSpPr/>
          <p:nvPr/>
        </p:nvSpPr>
        <p:spPr>
          <a:xfrm>
            <a:off x="2921000" y="1371600"/>
            <a:ext cx="4330700" cy="279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구성별 수행 범위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DD42307-2774-A2A8-0C4A-04094F817E41}"/>
              </a:ext>
            </a:extLst>
          </p:cNvPr>
          <p:cNvSpPr/>
          <p:nvPr/>
        </p:nvSpPr>
        <p:spPr>
          <a:xfrm>
            <a:off x="7353300" y="1371600"/>
            <a:ext cx="4330700" cy="2794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단계별 수행 범위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BEEBE5-7B24-BA5C-E3F2-126EB69EFDB5}"/>
              </a:ext>
            </a:extLst>
          </p:cNvPr>
          <p:cNvSpPr/>
          <p:nvPr/>
        </p:nvSpPr>
        <p:spPr>
          <a:xfrm>
            <a:off x="2921000" y="1676400"/>
            <a:ext cx="1409700" cy="2794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7DB0B1-930C-B79D-5E0C-51430C704963}"/>
              </a:ext>
            </a:extLst>
          </p:cNvPr>
          <p:cNvSpPr/>
          <p:nvPr/>
        </p:nvSpPr>
        <p:spPr>
          <a:xfrm>
            <a:off x="4381500" y="1676400"/>
            <a:ext cx="1409700" cy="2794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4C5FD0-8C90-D4FB-D5A6-D3E944A19B8C}"/>
              </a:ext>
            </a:extLst>
          </p:cNvPr>
          <p:cNvSpPr/>
          <p:nvPr/>
        </p:nvSpPr>
        <p:spPr>
          <a:xfrm>
            <a:off x="5842000" y="1676400"/>
            <a:ext cx="1409700" cy="2794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D92CB9-8D8C-C636-F9B2-BE294521E0ED}"/>
              </a:ext>
            </a:extLst>
          </p:cNvPr>
          <p:cNvSpPr/>
          <p:nvPr/>
        </p:nvSpPr>
        <p:spPr>
          <a:xfrm>
            <a:off x="7353300" y="1676400"/>
            <a:ext cx="1409700" cy="2794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224602-555D-7ECD-AF07-2F0AAD9EB6B1}"/>
              </a:ext>
            </a:extLst>
          </p:cNvPr>
          <p:cNvSpPr/>
          <p:nvPr/>
        </p:nvSpPr>
        <p:spPr>
          <a:xfrm>
            <a:off x="8813800" y="1676400"/>
            <a:ext cx="1409700" cy="2794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DDB93A-6EBD-5501-1419-7BA895DE4D4C}"/>
              </a:ext>
            </a:extLst>
          </p:cNvPr>
          <p:cNvSpPr/>
          <p:nvPr/>
        </p:nvSpPr>
        <p:spPr>
          <a:xfrm>
            <a:off x="10274300" y="1676400"/>
            <a:ext cx="1409700" cy="2794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1B14DF-CF23-7432-F022-2CCC4401ADAA}"/>
              </a:ext>
            </a:extLst>
          </p:cNvPr>
          <p:cNvSpPr/>
          <p:nvPr/>
        </p:nvSpPr>
        <p:spPr>
          <a:xfrm>
            <a:off x="508000" y="1371600"/>
            <a:ext cx="2362200" cy="584200"/>
          </a:xfrm>
          <a:prstGeom prst="rect">
            <a:avLst/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E61D7299-7D12-C05A-83AE-AB25DFB39CE6}"/>
              </a:ext>
            </a:extLst>
          </p:cNvPr>
          <p:cNvCxnSpPr/>
          <p:nvPr/>
        </p:nvCxnSpPr>
        <p:spPr>
          <a:xfrm>
            <a:off x="508000" y="2743200"/>
            <a:ext cx="11176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B1F3639-6673-7BE8-EEC2-7895B44A9F71}"/>
              </a:ext>
            </a:extLst>
          </p:cNvPr>
          <p:cNvSpPr txBox="1"/>
          <p:nvPr/>
        </p:nvSpPr>
        <p:spPr>
          <a:xfrm>
            <a:off x="906853" y="2258542"/>
            <a:ext cx="18624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40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LawSight</a:t>
            </a:r>
            <a:endParaRPr lang="ko-KR" altLang="en-US" sz="1400" b="1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A759110-60A9-4CBF-958B-B969B774DB84}"/>
              </a:ext>
            </a:extLst>
          </p:cNvPr>
          <p:cNvSpPr/>
          <p:nvPr/>
        </p:nvSpPr>
        <p:spPr>
          <a:xfrm>
            <a:off x="4781550" y="2159000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2AEDDC-C216-FD61-8FC7-087D5FEE8918}"/>
              </a:ext>
            </a:extLst>
          </p:cNvPr>
          <p:cNvSpPr txBox="1"/>
          <p:nvPr/>
        </p:nvSpPr>
        <p:spPr>
          <a:xfrm>
            <a:off x="4406900" y="24130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연동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병목 개선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48A229-58E1-21E5-A851-66A41588E756}"/>
              </a:ext>
            </a:extLst>
          </p:cNvPr>
          <p:cNvSpPr txBox="1"/>
          <p:nvPr/>
        </p:nvSpPr>
        <p:spPr>
          <a:xfrm>
            <a:off x="5867400" y="24130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EC2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425D1C-59BA-B3E4-9138-23DABE654E3B}"/>
              </a:ext>
            </a:extLst>
          </p:cNvPr>
          <p:cNvSpPr txBox="1"/>
          <p:nvPr/>
        </p:nvSpPr>
        <p:spPr>
          <a:xfrm>
            <a:off x="7378700" y="24130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총괄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915476-86F7-41B9-3FDA-CCEEEFBEE835}"/>
              </a:ext>
            </a:extLst>
          </p:cNvPr>
          <p:cNvSpPr txBox="1"/>
          <p:nvPr/>
        </p:nvSpPr>
        <p:spPr>
          <a:xfrm>
            <a:off x="8839200" y="24130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설계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EEA06D-026F-8A3E-67E3-40FB0FDE550E}"/>
              </a:ext>
            </a:extLst>
          </p:cNvPr>
          <p:cNvSpPr txBox="1"/>
          <p:nvPr/>
        </p:nvSpPr>
        <p:spPr>
          <a:xfrm>
            <a:off x="10299700" y="24130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파이프라인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기능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화면</a:t>
            </a:r>
            <a:endParaRPr lang="ko-KR" altLang="en-US" sz="8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D902FC3-2E69-EB3D-5BAF-66FF356CC2EF}"/>
              </a:ext>
            </a:extLst>
          </p:cNvPr>
          <p:cNvCxnSpPr/>
          <p:nvPr/>
        </p:nvCxnSpPr>
        <p:spPr>
          <a:xfrm>
            <a:off x="508000" y="3479800"/>
            <a:ext cx="11176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13D2E33-8A99-3AA5-525B-20BD1F046D51}"/>
              </a:ext>
            </a:extLst>
          </p:cNvPr>
          <p:cNvSpPr txBox="1"/>
          <p:nvPr/>
        </p:nvSpPr>
        <p:spPr>
          <a:xfrm>
            <a:off x="906853" y="2995142"/>
            <a:ext cx="18624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4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 Task Pilot</a:t>
            </a:r>
            <a:endParaRPr lang="ko-KR" altLang="en-US" sz="140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E3FBFD0-0A1E-7597-0206-27A9A5C3ED5C}"/>
              </a:ext>
            </a:extLst>
          </p:cNvPr>
          <p:cNvSpPr/>
          <p:nvPr/>
        </p:nvSpPr>
        <p:spPr>
          <a:xfrm>
            <a:off x="4781550" y="2895600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44A0FE-2DBA-E621-1F80-C0F2F47B8899}"/>
              </a:ext>
            </a:extLst>
          </p:cNvPr>
          <p:cNvSpPr txBox="1"/>
          <p:nvPr/>
        </p:nvSpPr>
        <p:spPr>
          <a:xfrm>
            <a:off x="4406900" y="31496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RAG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개인화 기획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5254FE8-4AEB-4059-B8AD-40D40AD066BD}"/>
              </a:ext>
            </a:extLst>
          </p:cNvPr>
          <p:cNvSpPr/>
          <p:nvPr/>
        </p:nvSpPr>
        <p:spPr>
          <a:xfrm>
            <a:off x="6242050" y="2895600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827DB0-785D-B635-87F0-368EA6412331}"/>
              </a:ext>
            </a:extLst>
          </p:cNvPr>
          <p:cNvSpPr txBox="1"/>
          <p:nvPr/>
        </p:nvSpPr>
        <p:spPr>
          <a:xfrm>
            <a:off x="5867400" y="31496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 문서 총괄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F89EB1C-B849-0D3C-E527-C09D0F810343}"/>
              </a:ext>
            </a:extLst>
          </p:cNvPr>
          <p:cNvSpPr/>
          <p:nvPr/>
        </p:nvSpPr>
        <p:spPr>
          <a:xfrm>
            <a:off x="7753350" y="2895600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71F5B1-2C4B-A6F0-39DC-7AEE634B41E1}"/>
              </a:ext>
            </a:extLst>
          </p:cNvPr>
          <p:cNvSpPr txBox="1"/>
          <p:nvPr/>
        </p:nvSpPr>
        <p:spPr>
          <a:xfrm>
            <a:off x="7378700" y="31496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요구사항정의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CAFF4E-56E0-5DF9-4D32-D06A23B40EC8}"/>
              </a:ext>
            </a:extLst>
          </p:cNvPr>
          <p:cNvSpPr txBox="1"/>
          <p:nvPr/>
        </p:nvSpPr>
        <p:spPr>
          <a:xfrm>
            <a:off x="8839200" y="31496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테이블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기능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</a:rPr>
              <a:t>화면 설계</a:t>
            </a:r>
            <a:endParaRPr lang="ko-KR" altLang="en-US" sz="8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FBCB758-D88C-953E-C662-E0AD3AB3C2BA}"/>
              </a:ext>
            </a:extLst>
          </p:cNvPr>
          <p:cNvSpPr txBox="1"/>
          <p:nvPr/>
        </p:nvSpPr>
        <p:spPr>
          <a:xfrm>
            <a:off x="10299700" y="31496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구현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</a:t>
            </a: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A2C21C0-EC7C-1D66-1022-C2EF1DD0732E}"/>
              </a:ext>
            </a:extLst>
          </p:cNvPr>
          <p:cNvCxnSpPr/>
          <p:nvPr/>
        </p:nvCxnSpPr>
        <p:spPr>
          <a:xfrm>
            <a:off x="508000" y="4216400"/>
            <a:ext cx="11176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2E4A34E-F790-F318-EB03-57AD5A199667}"/>
              </a:ext>
            </a:extLst>
          </p:cNvPr>
          <p:cNvCxnSpPr/>
          <p:nvPr/>
        </p:nvCxnSpPr>
        <p:spPr>
          <a:xfrm>
            <a:off x="508000" y="4953000"/>
            <a:ext cx="11176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0711452-5F9C-2443-B24E-C9E2B5E5A119}"/>
              </a:ext>
            </a:extLst>
          </p:cNvPr>
          <p:cNvSpPr txBox="1"/>
          <p:nvPr/>
        </p:nvSpPr>
        <p:spPr>
          <a:xfrm>
            <a:off x="906853" y="3746888"/>
            <a:ext cx="18624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4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영화 예매 플랫폼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EE5CAEB-CBD3-A2B3-4845-A733E35C6190}"/>
              </a:ext>
            </a:extLst>
          </p:cNvPr>
          <p:cNvSpPr/>
          <p:nvPr/>
        </p:nvSpPr>
        <p:spPr>
          <a:xfrm>
            <a:off x="4781550" y="3672513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4ED1F41-5152-BCB0-D5CA-8E98CE2D2734}"/>
              </a:ext>
            </a:extLst>
          </p:cNvPr>
          <p:cNvSpPr txBox="1"/>
          <p:nvPr/>
        </p:nvSpPr>
        <p:spPr>
          <a:xfrm>
            <a:off x="4406900" y="3926513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좌석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JOIN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쿼리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CCD71DF5-69D8-E3A9-1E46-DD0DEF7815A6}"/>
              </a:ext>
            </a:extLst>
          </p:cNvPr>
          <p:cNvSpPr/>
          <p:nvPr/>
        </p:nvSpPr>
        <p:spPr>
          <a:xfrm>
            <a:off x="6242050" y="3672513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0BDADD-648B-35B4-3810-BF8D297E9396}"/>
              </a:ext>
            </a:extLst>
          </p:cNvPr>
          <p:cNvSpPr txBox="1"/>
          <p:nvPr/>
        </p:nvSpPr>
        <p:spPr>
          <a:xfrm>
            <a:off x="5867400" y="3926513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화면 구현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9A1EF6BF-977D-4DC3-9F24-DDB0BA749686}"/>
              </a:ext>
            </a:extLst>
          </p:cNvPr>
          <p:cNvSpPr/>
          <p:nvPr/>
        </p:nvSpPr>
        <p:spPr>
          <a:xfrm>
            <a:off x="7753350" y="3672513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E40A3A7-0C81-E8FD-5EF2-605869317418}"/>
              </a:ext>
            </a:extLst>
          </p:cNvPr>
          <p:cNvSpPr txBox="1"/>
          <p:nvPr/>
        </p:nvSpPr>
        <p:spPr>
          <a:xfrm>
            <a:off x="7378700" y="3926513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정의서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C2BEF46-B9A6-B164-5CBD-53F4087D92D7}"/>
              </a:ext>
            </a:extLst>
          </p:cNvPr>
          <p:cNvSpPr/>
          <p:nvPr/>
        </p:nvSpPr>
        <p:spPr>
          <a:xfrm>
            <a:off x="9213850" y="3672513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C0891F-4B0C-82BE-8ACA-1E84FC4F2B41}"/>
              </a:ext>
            </a:extLst>
          </p:cNvPr>
          <p:cNvSpPr txBox="1"/>
          <p:nvPr/>
        </p:nvSpPr>
        <p:spPr>
          <a:xfrm>
            <a:off x="8839200" y="3926513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DA# Modeler/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FD1C6E7D-D4F6-8130-0E23-A718D25C0EFB}"/>
              </a:ext>
            </a:extLst>
          </p:cNvPr>
          <p:cNvSpPr/>
          <p:nvPr/>
        </p:nvSpPr>
        <p:spPr>
          <a:xfrm>
            <a:off x="10674350" y="3672513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13BD52-5F2E-E361-0EC2-0AE78F3DDFF9}"/>
              </a:ext>
            </a:extLst>
          </p:cNvPr>
          <p:cNvSpPr txBox="1"/>
          <p:nvPr/>
        </p:nvSpPr>
        <p:spPr>
          <a:xfrm>
            <a:off x="10299700" y="3926513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Node.js · PostgreSQL</a:t>
            </a:r>
            <a:endParaRPr lang="ko-KR" altLang="en-US" sz="80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306EB701-BA98-5320-3C03-4B8B373A72FC}"/>
              </a:ext>
            </a:extLst>
          </p:cNvPr>
          <p:cNvCxnSpPr/>
          <p:nvPr/>
        </p:nvCxnSpPr>
        <p:spPr>
          <a:xfrm>
            <a:off x="508000" y="5689600"/>
            <a:ext cx="11176000" cy="0"/>
          </a:xfrm>
          <a:prstGeom prst="line">
            <a:avLst/>
          </a:prstGeom>
          <a:ln w="9525">
            <a:solidFill>
              <a:srgbClr val="DDE0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1E9AD62-1C74-7FDD-B642-1BD9BB5EDE83}"/>
              </a:ext>
            </a:extLst>
          </p:cNvPr>
          <p:cNvSpPr txBox="1"/>
          <p:nvPr/>
        </p:nvSpPr>
        <p:spPr>
          <a:xfrm>
            <a:off x="906853" y="4475099"/>
            <a:ext cx="18624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4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맞춤형 식단 관리 웹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86A79652-B1AD-CE97-9192-2323833A9A66}"/>
              </a:ext>
            </a:extLst>
          </p:cNvPr>
          <p:cNvSpPr/>
          <p:nvPr/>
        </p:nvSpPr>
        <p:spPr>
          <a:xfrm>
            <a:off x="4781550" y="437555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1B7440-C0FF-15AE-9057-C8F933B613C5}"/>
              </a:ext>
            </a:extLst>
          </p:cNvPr>
          <p:cNvSpPr txBox="1"/>
          <p:nvPr/>
        </p:nvSpPr>
        <p:spPr>
          <a:xfrm>
            <a:off x="4406900" y="4629557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칼로리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영양 집계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BE925BDA-AD6C-FEF2-D698-3905EEE4A714}"/>
              </a:ext>
            </a:extLst>
          </p:cNvPr>
          <p:cNvSpPr/>
          <p:nvPr/>
        </p:nvSpPr>
        <p:spPr>
          <a:xfrm>
            <a:off x="6242050" y="437555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A5DBC7-F60B-FB23-04EA-07050614E9ED}"/>
              </a:ext>
            </a:extLst>
          </p:cNvPr>
          <p:cNvSpPr txBox="1"/>
          <p:nvPr/>
        </p:nvSpPr>
        <p:spPr>
          <a:xfrm>
            <a:off x="5867400" y="4629557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차트 시각화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CD86AC67-4F4B-4D16-420E-39DF98CC7338}"/>
              </a:ext>
            </a:extLst>
          </p:cNvPr>
          <p:cNvSpPr/>
          <p:nvPr/>
        </p:nvSpPr>
        <p:spPr>
          <a:xfrm>
            <a:off x="7753350" y="437555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EC132A1-7D17-D204-ED28-68E950A4D098}"/>
              </a:ext>
            </a:extLst>
          </p:cNvPr>
          <p:cNvSpPr txBox="1"/>
          <p:nvPr/>
        </p:nvSpPr>
        <p:spPr>
          <a:xfrm>
            <a:off x="7378700" y="4629557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정의서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31121888-FBDF-EF8B-2F44-58DA4C7B377F}"/>
              </a:ext>
            </a:extLst>
          </p:cNvPr>
          <p:cNvSpPr/>
          <p:nvPr/>
        </p:nvSpPr>
        <p:spPr>
          <a:xfrm>
            <a:off x="9213850" y="437555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DFC8E30-AA73-41F9-EF3D-E52D73C4B757}"/>
              </a:ext>
            </a:extLst>
          </p:cNvPr>
          <p:cNvSpPr txBox="1"/>
          <p:nvPr/>
        </p:nvSpPr>
        <p:spPr>
          <a:xfrm>
            <a:off x="8839200" y="4629557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설계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F7D801A-ABE8-6494-A543-63BB94D295D5}"/>
              </a:ext>
            </a:extLst>
          </p:cNvPr>
          <p:cNvSpPr/>
          <p:nvPr/>
        </p:nvSpPr>
        <p:spPr>
          <a:xfrm>
            <a:off x="10674350" y="437555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203E250-9A10-FAE4-A09A-51ACEFE313FD}"/>
              </a:ext>
            </a:extLst>
          </p:cNvPr>
          <p:cNvSpPr txBox="1"/>
          <p:nvPr/>
        </p:nvSpPr>
        <p:spPr>
          <a:xfrm>
            <a:off x="10299700" y="4629557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Spring Boot·MyBatis</a:t>
            </a:r>
            <a:endParaRPr lang="ko-KR" altLang="en-US" sz="80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DA1E3ED7-0D79-033A-1907-676C8D9B8A85}"/>
              </a:ext>
            </a:extLst>
          </p:cNvPr>
          <p:cNvSpPr/>
          <p:nvPr/>
        </p:nvSpPr>
        <p:spPr>
          <a:xfrm>
            <a:off x="2844800" y="5777468"/>
            <a:ext cx="1562100" cy="459259"/>
          </a:xfrm>
          <a:prstGeom prst="roundRect">
            <a:avLst>
              <a:gd name="adj" fmla="val 29167"/>
            </a:avLst>
          </a:prstGeom>
          <a:solidFill>
            <a:srgbClr val="FBE9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全 프로젝트</a:t>
            </a:r>
            <a:endParaRPr lang="en-US" altLang="ko-KR" sz="1200" b="1" dirty="0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2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altLang="ko-KR" sz="12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파트 주도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0DDCEF81-06D1-EDFD-C5F7-984EFAE31181}"/>
              </a:ext>
            </a:extLst>
          </p:cNvPr>
          <p:cNvSpPr/>
          <p:nvPr/>
        </p:nvSpPr>
        <p:spPr>
          <a:xfrm>
            <a:off x="10674350" y="2895600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46C08D35-650C-A4FD-F379-1F0921503713}"/>
              </a:ext>
            </a:extLst>
          </p:cNvPr>
          <p:cNvSpPr/>
          <p:nvPr/>
        </p:nvSpPr>
        <p:spPr>
          <a:xfrm>
            <a:off x="9216705" y="215333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DD2DECF7-8E44-6D6A-0E80-22F2F32E6FCA}"/>
              </a:ext>
            </a:extLst>
          </p:cNvPr>
          <p:cNvSpPr/>
          <p:nvPr/>
        </p:nvSpPr>
        <p:spPr>
          <a:xfrm>
            <a:off x="10677205" y="215333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3E492E23-56B5-4ECC-3EB0-A870D13DBCDA}"/>
              </a:ext>
            </a:extLst>
          </p:cNvPr>
          <p:cNvSpPr/>
          <p:nvPr/>
        </p:nvSpPr>
        <p:spPr>
          <a:xfrm>
            <a:off x="7753350" y="2157968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5CEBF6C9-AEC8-D7C1-D8BE-B931385CC477}"/>
              </a:ext>
            </a:extLst>
          </p:cNvPr>
          <p:cNvSpPr/>
          <p:nvPr/>
        </p:nvSpPr>
        <p:spPr>
          <a:xfrm>
            <a:off x="9213850" y="2901951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B8EA1377-F622-0E5C-B34B-7BCBE455F15E}"/>
              </a:ext>
            </a:extLst>
          </p:cNvPr>
          <p:cNvSpPr/>
          <p:nvPr/>
        </p:nvSpPr>
        <p:spPr>
          <a:xfrm>
            <a:off x="6242050" y="2148874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1940E7D9-E122-D33F-5593-B38B8CC231CF}"/>
              </a:ext>
            </a:extLst>
          </p:cNvPr>
          <p:cNvSpPr/>
          <p:nvPr/>
        </p:nvSpPr>
        <p:spPr>
          <a:xfrm>
            <a:off x="2968882" y="2018268"/>
            <a:ext cx="1285618" cy="3583462"/>
          </a:xfrm>
          <a:prstGeom prst="roundRect">
            <a:avLst>
              <a:gd name="adj" fmla="val 3802"/>
            </a:avLst>
          </a:prstGeom>
          <a:solidFill>
            <a:srgbClr val="FBE9EC">
              <a:alpha val="30000"/>
            </a:srgbClr>
          </a:solidFill>
          <a:ln w="12700" cap="flat" cmpd="sng" algn="ctr">
            <a:solidFill>
              <a:srgbClr val="FBE9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endParaRPr lang="ko-KR" altLang="en-US" sz="1050" b="1" dirty="0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64E57DE-3FE2-8EDB-7415-7C9131DA95C6}"/>
              </a:ext>
            </a:extLst>
          </p:cNvPr>
          <p:cNvSpPr/>
          <p:nvPr/>
        </p:nvSpPr>
        <p:spPr>
          <a:xfrm>
            <a:off x="3321050" y="2159000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EF42DD-93B1-0ABA-39FE-49EF4B266E47}"/>
              </a:ext>
            </a:extLst>
          </p:cNvPr>
          <p:cNvSpPr txBox="1"/>
          <p:nvPr/>
        </p:nvSpPr>
        <p:spPr>
          <a:xfrm>
            <a:off x="2946400" y="24130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정제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·DB·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벡터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endParaRPr lang="ko-KR" altLang="en-US" sz="8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A0AFBA10-15B2-0DFA-5D6A-BD9E2710959F}"/>
              </a:ext>
            </a:extLst>
          </p:cNvPr>
          <p:cNvSpPr/>
          <p:nvPr/>
        </p:nvSpPr>
        <p:spPr>
          <a:xfrm>
            <a:off x="3321050" y="2895600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1018D7-84DD-9AB7-7EB6-221F7BB92108}"/>
              </a:ext>
            </a:extLst>
          </p:cNvPr>
          <p:cNvSpPr txBox="1"/>
          <p:nvPr/>
        </p:nvSpPr>
        <p:spPr>
          <a:xfrm>
            <a:off x="2946400" y="3149600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en-US" altLang="ko-KR" sz="800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pgvector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전환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4DA7CF2-5B7A-23E3-28EB-6760552909EA}"/>
              </a:ext>
            </a:extLst>
          </p:cNvPr>
          <p:cNvSpPr/>
          <p:nvPr/>
        </p:nvSpPr>
        <p:spPr>
          <a:xfrm>
            <a:off x="3321050" y="3672513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CACB4A-E727-5F9D-0AF1-9689D5176FFF}"/>
              </a:ext>
            </a:extLst>
          </p:cNvPr>
          <p:cNvSpPr txBox="1"/>
          <p:nvPr/>
        </p:nvSpPr>
        <p:spPr>
          <a:xfrm>
            <a:off x="2946400" y="3926513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논리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물리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</a:t>
            </a:r>
            <a:endParaRPr lang="ko-KR" altLang="en-US" sz="80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AF8A7969-F677-1325-B9AC-05179B5267CC}"/>
              </a:ext>
            </a:extLst>
          </p:cNvPr>
          <p:cNvSpPr/>
          <p:nvPr/>
        </p:nvSpPr>
        <p:spPr>
          <a:xfrm>
            <a:off x="3321050" y="4375557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4108D9-2D05-CEB4-A325-F8558B118800}"/>
              </a:ext>
            </a:extLst>
          </p:cNvPr>
          <p:cNvSpPr txBox="1"/>
          <p:nvPr/>
        </p:nvSpPr>
        <p:spPr>
          <a:xfrm>
            <a:off x="2946400" y="4629557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 수집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65E9CD-1EA0-E747-9FC7-319AC16E4FB5}"/>
              </a:ext>
            </a:extLst>
          </p:cNvPr>
          <p:cNvSpPr txBox="1"/>
          <p:nvPr/>
        </p:nvSpPr>
        <p:spPr>
          <a:xfrm>
            <a:off x="906853" y="5191428"/>
            <a:ext cx="1862433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4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신용 리스크 예측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99E1848-DF3A-6F53-36E5-59E208C36D85}"/>
              </a:ext>
            </a:extLst>
          </p:cNvPr>
          <p:cNvSpPr/>
          <p:nvPr/>
        </p:nvSpPr>
        <p:spPr>
          <a:xfrm>
            <a:off x="4781550" y="5100275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E00606-6906-C896-BD7E-2FEE651D66B3}"/>
              </a:ext>
            </a:extLst>
          </p:cNvPr>
          <p:cNvSpPr txBox="1"/>
          <p:nvPr/>
        </p:nvSpPr>
        <p:spPr>
          <a:xfrm>
            <a:off x="4406900" y="5354275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모델 비교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선정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765CF8D-2414-8F80-C7B7-54030E65DD49}"/>
              </a:ext>
            </a:extLst>
          </p:cNvPr>
          <p:cNvSpPr/>
          <p:nvPr/>
        </p:nvSpPr>
        <p:spPr>
          <a:xfrm>
            <a:off x="6242050" y="5100275"/>
            <a:ext cx="609600" cy="1905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 err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해당없음</a:t>
            </a:r>
            <a:endParaRPr lang="ko-KR" altLang="en-US" sz="8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70B9F93-B45C-4C18-9C29-365A0E7FB4ED}"/>
              </a:ext>
            </a:extLst>
          </p:cNvPr>
          <p:cNvSpPr/>
          <p:nvPr/>
        </p:nvSpPr>
        <p:spPr>
          <a:xfrm>
            <a:off x="7753350" y="5100275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E3D37E-20B6-7589-2876-AEEDFADEF135}"/>
              </a:ext>
            </a:extLst>
          </p:cNvPr>
          <p:cNvSpPr txBox="1"/>
          <p:nvPr/>
        </p:nvSpPr>
        <p:spPr>
          <a:xfrm>
            <a:off x="7378700" y="5354275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탐색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설정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3477012-AAC3-2E39-4FF9-B875B4A298F7}"/>
              </a:ext>
            </a:extLst>
          </p:cNvPr>
          <p:cNvSpPr/>
          <p:nvPr/>
        </p:nvSpPr>
        <p:spPr>
          <a:xfrm>
            <a:off x="9213850" y="5100275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B566DDA-8369-3FA6-E81E-2FC0A1C3FDFC}"/>
              </a:ext>
            </a:extLst>
          </p:cNvPr>
          <p:cNvSpPr txBox="1"/>
          <p:nvPr/>
        </p:nvSpPr>
        <p:spPr>
          <a:xfrm>
            <a:off x="8839200" y="5354275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전략 설계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52979445-1628-9D0E-88B5-E47521F70090}"/>
              </a:ext>
            </a:extLst>
          </p:cNvPr>
          <p:cNvSpPr/>
          <p:nvPr/>
        </p:nvSpPr>
        <p:spPr>
          <a:xfrm>
            <a:off x="10674350" y="5100275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A637B3-7506-153E-A57B-42200F2EAB5A}"/>
              </a:ext>
            </a:extLst>
          </p:cNvPr>
          <p:cNvSpPr txBox="1"/>
          <p:nvPr/>
        </p:nvSpPr>
        <p:spPr>
          <a:xfrm>
            <a:off x="10299700" y="5354275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모델링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·Test/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9CEEDD5-34E2-0E09-072C-9D8AD81E9188}"/>
              </a:ext>
            </a:extLst>
          </p:cNvPr>
          <p:cNvSpPr/>
          <p:nvPr/>
        </p:nvSpPr>
        <p:spPr>
          <a:xfrm>
            <a:off x="3321050" y="5100275"/>
            <a:ext cx="609600" cy="1905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2649733-CE3D-F747-15B2-1FBEA29CD567}"/>
              </a:ext>
            </a:extLst>
          </p:cNvPr>
          <p:cNvSpPr txBox="1"/>
          <p:nvPr/>
        </p:nvSpPr>
        <p:spPr>
          <a:xfrm>
            <a:off x="2946400" y="5354275"/>
            <a:ext cx="1358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불균형 보정</a:t>
            </a:r>
          </a:p>
        </p:txBody>
      </p:sp>
    </p:spTree>
    <p:extLst>
      <p:ext uri="{BB962C8B-B14F-4D97-AF65-F5344CB8AC3E}">
        <p14:creationId xmlns:p14="http://schemas.microsoft.com/office/powerpoint/2010/main" val="347377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21945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29260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32918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58521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62179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69494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73152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24358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0" y="0"/>
            <a:ext cx="48768" cy="6858000"/>
          </a:xfrm>
          <a:prstGeom prst="rect">
            <a:avLst/>
          </a:prstGeom>
          <a:solidFill>
            <a:srgbClr val="A07850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87680" y="243840"/>
            <a:ext cx="54864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3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7333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53440" y="3048000"/>
            <a:ext cx="4267200" cy="0"/>
          </a:xfrm>
          <a:prstGeom prst="line">
            <a:avLst/>
          </a:prstGeom>
          <a:noFill/>
          <a:ln w="10160">
            <a:solidFill>
              <a:srgbClr val="A0785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53440" y="323088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LawSight — AI 판례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및 소송 전략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53440" y="426720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한이음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드림업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· Team 404 (4인) ·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팀장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(PM) 겸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데이터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· DB ·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배포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인프라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총괄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· 2026.04 –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진행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중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1643360" y="6461760"/>
            <a:ext cx="426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4E4E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7680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PROJECT 01  ·  LAWSIGHT  · 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상황</a:t>
            </a:r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 /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해결과제</a:t>
            </a:r>
            <a:endParaRPr sz="900" b="1" i="0" dirty="0">
              <a:solidFill>
                <a:srgbClr val="C8102E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1F24"/>
                </a:solidFill>
                <a:latin typeface="맑은 고딕"/>
                <a:ea typeface="맑은 고딕"/>
              </a:rPr>
              <a:t>LawSight </a:t>
            </a:r>
            <a:r>
              <a:rPr sz="2000" b="1" i="0">
                <a:solidFill>
                  <a:srgbClr val="808080"/>
                </a:solidFill>
                <a:latin typeface="맑은 고딕"/>
                <a:ea typeface="맑은 고딕"/>
              </a:rPr>
              <a:t>&gt; AI 판례 분석 및 소송전략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1173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변호사가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자연어로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사건을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입력하면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유사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판례를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찾고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IRAC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형식의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소송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전략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리포트를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생성하는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AI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리서치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보조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서비스</a:t>
            </a:r>
            <a:endParaRPr sz="1200" b="1" i="1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전예원  |  Data Engineer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1417320"/>
            <a:ext cx="11173968" cy="7315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1527048"/>
            <a:ext cx="3063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46504"/>
            <a:ext cx="30632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2026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한이음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드림업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(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과기정통부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) · Team 404 · 4인 ·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2026.04~10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527048"/>
            <a:ext cx="2514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본인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746504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팀장(PM) 겸 Data · DB · 배포 인프라 총괄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52704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대상 사용자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746504"/>
            <a:ext cx="17373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개인 · 소형 로펌 변호사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152704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기술 스택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1746504"/>
            <a:ext cx="315468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PostgreSQL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ChromaDB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KoSBERT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BM25+RRF ·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FastAPI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GPT-4o · AWS EC2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" y="2331720"/>
            <a:ext cx="5440680" cy="3520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251460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554884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판례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리서치는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수작업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,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원천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데이터는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비정형</a:t>
            </a:r>
            <a:endParaRPr sz="1150" b="1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" y="2953512"/>
            <a:ext cx="5074920" cy="477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변호사의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판례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검색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비교는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사건마다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수작업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현직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변호사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인터뷰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결과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“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사실관계가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비슷한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판례”와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“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근거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없는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답변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(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환각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)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배제”가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핵심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니즈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" y="36393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원천은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국가법령정보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공공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API —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목록과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본문이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분리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판례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목록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조회와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본문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조회가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별도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API,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판결문은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장문의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비정형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텍스트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" y="43251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표기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불일치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중복이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섞인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원시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데이터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같은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법원이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여러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이름으로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기록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(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원시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104종),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동일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판례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중복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수집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발생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" y="50109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제한된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자원과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일정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4인 · 7개월,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클라우드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지원금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범위의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EC2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단일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인스턴스에서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서비스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운영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45352" y="2331720"/>
            <a:ext cx="54406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46520" y="25146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60920" y="2554884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1F24"/>
                </a:solidFill>
                <a:latin typeface="맑은 고딕"/>
                <a:ea typeface="맑은 고딕"/>
              </a:rPr>
              <a:t>데이터가 검색 품질을 결정한다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29718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9535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대규모 판례 수집 자동화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2단계 API 호출로 수만 건 판례를 중단 없이 수집 · 재실행 가능한 구조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36576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6393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비정형 판결문 정제 · 표준화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파싱 · 법원명 표준화 · 중복 제거 · 테이블 간 정합성 보장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43434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3251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정형 + 벡터 저장소 설계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메타 · 본문은 PostgreSQL, 의미 검색은 ChromaDB로 역할 분리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50292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0109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제한 자원에서 실서비스 운영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검색 응답 속도 · 메모리 안정성 확보, HTTPS 배포 · 팀 산출물 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" y="5989320"/>
            <a:ext cx="11173968" cy="384048"/>
          </a:xfrm>
          <a:prstGeom prst="roundRect">
            <a:avLst>
              <a:gd name="adj" fmla="val 6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182880" bIns="27432" rtlCol="0" anchor="ctr"/>
          <a:lstStyle/>
          <a:p>
            <a:pPr algn="l"/>
            <a:r>
              <a:rPr sz="850" b="1" i="0">
                <a:solidFill>
                  <a:srgbClr val="C8102E"/>
                </a:solidFill>
                <a:latin typeface="맑은 고딕"/>
                <a:ea typeface="맑은 고딕"/>
              </a:rPr>
              <a:t>NEXT  </a:t>
            </a:r>
            <a:r>
              <a:rPr sz="950" b="1" i="0">
                <a:solidFill>
                  <a:srgbClr val="1B1F24"/>
                </a:solidFill>
                <a:latin typeface="맑은 고딕"/>
                <a:ea typeface="맑은 고딕"/>
              </a:rPr>
              <a:t>액션 ①  수집 · 전처리 파이프라인   ›   액션 ②  저장소 · 서비스 구성   ›   액션 ③  운영 장애 대응   ›   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73968" y="655624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맑은 고딕"/>
                <a:ea typeface="맑은 고딕"/>
              </a:rPr>
              <a:t>PROJECT 01  ·  LAWSIGHT  ·  액션 ① 데이터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1F24"/>
                </a:solidFill>
                <a:latin typeface="맑은 고딕"/>
                <a:ea typeface="맑은 고딕"/>
              </a:rPr>
              <a:t>LawSight </a:t>
            </a:r>
            <a:r>
              <a:rPr sz="2000" b="1" i="0">
                <a:solidFill>
                  <a:srgbClr val="808080"/>
                </a:solidFill>
                <a:latin typeface="맑은 고딕"/>
                <a:ea typeface="맑은 고딕"/>
              </a:rPr>
              <a:t>&gt; 수집 · 전처리 파이프라인 설계 및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1173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데이터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수집처리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정의서로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기준을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먼저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확정한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뒤,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수집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→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파싱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→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정제·검증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→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적재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→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임베딩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5단계를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Python으로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직접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구현</a:t>
            </a:r>
            <a:endParaRPr sz="1200" b="1" i="1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전예원  |  Data Engineer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 dirty="0" err="1">
                <a:solidFill>
                  <a:srgbClr val="9AA0A8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3" name="Pentagon 12"/>
          <p:cNvSpPr/>
          <p:nvPr/>
        </p:nvSpPr>
        <p:spPr>
          <a:xfrm>
            <a:off x="512064" y="1444752"/>
            <a:ext cx="2223820" cy="566928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01  수집</a:t>
            </a:r>
          </a:p>
          <a:p>
            <a:pPr algn="l"/>
            <a:r>
              <a:rPr sz="800" b="0" i="0">
                <a:solidFill>
                  <a:srgbClr val="D6DEEE"/>
                </a:solidFill>
                <a:latin typeface="맑은 고딕"/>
                <a:ea typeface="맑은 고딕"/>
              </a:rPr>
              <a:t>collect_cases.py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2103120"/>
            <a:ext cx="2132380" cy="21214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t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2212848"/>
            <a:ext cx="1931212" cy="1246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국가법령정보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Open API 2단계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REST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호출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— ①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목록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조회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②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판례일련번호별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본문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조회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수집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대상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범위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방법은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정의서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기준으로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관리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초기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3,503건 →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범위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확장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재수집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(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수집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상한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대비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약 92%)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4297680"/>
            <a:ext cx="21323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4352544"/>
            <a:ext cx="21323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8102E"/>
                </a:solidFill>
                <a:latin typeface="맑은 고딕"/>
                <a:ea typeface="맑은 고딕"/>
              </a:rPr>
              <a:t>41,438건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690872"/>
            <a:ext cx="2040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F6670"/>
                </a:solidFill>
                <a:latin typeface="맑은 고딕"/>
                <a:ea typeface="맑은 고딕"/>
              </a:rPr>
              <a:t>판례 수집 (초기 대비 11.8배)</a:t>
            </a:r>
          </a:p>
        </p:txBody>
      </p:sp>
      <p:sp>
        <p:nvSpPr>
          <p:cNvPr id="19" name="Pentagon 18"/>
          <p:cNvSpPr/>
          <p:nvPr/>
        </p:nvSpPr>
        <p:spPr>
          <a:xfrm>
            <a:off x="2772460" y="1444752"/>
            <a:ext cx="2223820" cy="566928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02  파싱</a:t>
            </a:r>
          </a:p>
          <a:p>
            <a:pPr algn="l"/>
            <a:r>
              <a:rPr sz="800" b="0" i="0">
                <a:solidFill>
                  <a:srgbClr val="D6DEEE"/>
                </a:solidFill>
                <a:latin typeface="맑은 고딕"/>
                <a:ea typeface="맑은 고딕"/>
              </a:rPr>
              <a:t>parse_judgment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2460" y="2103120"/>
            <a:ext cx="2132380" cy="21214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t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82188" y="2212848"/>
            <a:ext cx="1931212" cy="1246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판결문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응답을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파싱해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사건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메타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(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사건번호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법원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선고일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)와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판결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본문을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분리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CASE_ · JUDGMENT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테이블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구조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에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맞게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필드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매핑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가변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항목은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JSONB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컬럼으로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보존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72460" y="4297680"/>
            <a:ext cx="21323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72460" y="4352544"/>
            <a:ext cx="21323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8102E"/>
                </a:solidFill>
                <a:latin typeface="맑은 고딕"/>
                <a:ea typeface="맑은 고딕"/>
              </a:rPr>
              <a:t>CASE_ : JUDGMENT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8180" y="4690872"/>
            <a:ext cx="2040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F6670"/>
                </a:solidFill>
                <a:latin typeface="맑은 고딕"/>
                <a:ea typeface="맑은 고딕"/>
              </a:rPr>
              <a:t>1 : 1 구조로 분리 적재</a:t>
            </a:r>
          </a:p>
        </p:txBody>
      </p:sp>
      <p:sp>
        <p:nvSpPr>
          <p:cNvPr id="25" name="Pentagon 24"/>
          <p:cNvSpPr/>
          <p:nvPr/>
        </p:nvSpPr>
        <p:spPr>
          <a:xfrm>
            <a:off x="5032857" y="1444752"/>
            <a:ext cx="2223820" cy="566928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03  정제 · 검증</a:t>
            </a:r>
          </a:p>
          <a:p>
            <a:pPr algn="l"/>
            <a:r>
              <a:rPr sz="800" b="0" i="0">
                <a:solidFill>
                  <a:srgbClr val="D6DEEE"/>
                </a:solidFill>
                <a:latin typeface="맑은 고딕"/>
                <a:ea typeface="맑은 고딕"/>
              </a:rPr>
              <a:t>정규화 · 검증 스크립트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32857" y="2103120"/>
            <a:ext cx="2132380" cy="21214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t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2585" y="2212848"/>
            <a:ext cx="1931212" cy="1088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법원명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원시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표기를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표준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법원명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매핑으로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정규화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동일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판례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중복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66건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제거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CASE_ – JUDGMENT 1:1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정합성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검증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스크립트로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누락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고아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레코드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점검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32857" y="4297680"/>
            <a:ext cx="21323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32857" y="4352544"/>
            <a:ext cx="21323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8102E"/>
                </a:solidFill>
                <a:latin typeface="맑은 고딕"/>
                <a:ea typeface="맑은 고딕"/>
              </a:rPr>
              <a:t>104 → 73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8577" y="4690872"/>
            <a:ext cx="2040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F6670"/>
                </a:solidFill>
                <a:latin typeface="맑은 고딕"/>
                <a:ea typeface="맑은 고딕"/>
              </a:rPr>
              <a:t>법원명 표준화 · 중복 66건 제거</a:t>
            </a:r>
          </a:p>
        </p:txBody>
      </p:sp>
      <p:sp>
        <p:nvSpPr>
          <p:cNvPr id="31" name="Pentagon 30"/>
          <p:cNvSpPr/>
          <p:nvPr/>
        </p:nvSpPr>
        <p:spPr>
          <a:xfrm>
            <a:off x="7293254" y="1444752"/>
            <a:ext cx="2223820" cy="566928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04  적재</a:t>
            </a:r>
          </a:p>
          <a:p>
            <a:pPr algn="l"/>
            <a:r>
              <a:rPr sz="800" b="0" i="0">
                <a:solidFill>
                  <a:srgbClr val="D6DEEE"/>
                </a:solidFill>
                <a:latin typeface="맑은 고딕"/>
                <a:ea typeface="맑은 고딕"/>
              </a:rPr>
              <a:t>PostgreSQL (EC2)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3254" y="2103120"/>
            <a:ext cx="2132380" cy="21214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t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02982" y="2212848"/>
            <a:ext cx="1931212" cy="1088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ERD v1 → v2,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최종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11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테이블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DDL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작성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FK ON DELETE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CASCADE로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참조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무결성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확보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인덱스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14개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(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본문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JSONB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검색용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GIN 2개)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3254" y="4297680"/>
            <a:ext cx="21323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93254" y="4352544"/>
            <a:ext cx="21323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8102E"/>
                </a:solidFill>
                <a:latin typeface="맑은 고딕"/>
                <a:ea typeface="맑은 고딕"/>
              </a:rPr>
              <a:t>11 /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8974" y="4690872"/>
            <a:ext cx="2040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F6670"/>
                </a:solidFill>
                <a:latin typeface="맑은 고딕"/>
                <a:ea typeface="맑은 고딕"/>
              </a:rPr>
              <a:t>테이블 / 인덱스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53651" y="1444752"/>
            <a:ext cx="2132380" cy="56692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05  임베딩 · 인덱싱</a:t>
            </a:r>
          </a:p>
          <a:p>
            <a:pPr algn="l"/>
            <a:r>
              <a:rPr sz="800" b="0" i="0">
                <a:solidFill>
                  <a:srgbClr val="D6DEEE"/>
                </a:solidFill>
                <a:latin typeface="맑은 고딕"/>
                <a:ea typeface="맑은 고딕"/>
              </a:rPr>
              <a:t>KoSBERT · ChromaDB · BM25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53651" y="2103120"/>
            <a:ext cx="2132380" cy="212140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t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63379" y="2212848"/>
            <a:ext cx="1931212" cy="1246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판결문을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청크로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분할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→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KoSBERT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(ko-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sbert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-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nli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)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임베딩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체크포인트를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JSONL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실제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저장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건수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기준으로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관리해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중단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지점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부터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재개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ChromaDB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2개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컬렉션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분할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적재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+ BM25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키워드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인덱스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553651" y="4297680"/>
            <a:ext cx="21323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53651" y="4352544"/>
            <a:ext cx="213238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8102E"/>
                </a:solidFill>
                <a:latin typeface="맑은 고딕"/>
                <a:ea typeface="맑은 고딕"/>
              </a:rPr>
              <a:t>726,814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99371" y="4690872"/>
            <a:ext cx="2040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5F6670"/>
                </a:solidFill>
                <a:latin typeface="맑은 고딕"/>
                <a:ea typeface="맑은 고딕"/>
              </a:rPr>
              <a:t>임베딩 청크 (723,929 적재)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" y="513892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파이프라인 설계 원칙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" y="5440680"/>
            <a:ext cx="36393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" y="5522976"/>
            <a:ext cx="3310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5597"/>
                </a:solidFill>
                <a:latin typeface="맑은 고딕"/>
                <a:ea typeface="맑은 고딕"/>
              </a:rPr>
              <a:t>문서 우선 설계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5769864"/>
            <a:ext cx="33101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B1F24"/>
                </a:solidFill>
                <a:latin typeface="맑은 고딕"/>
                <a:ea typeface="맑은 고딕"/>
              </a:rPr>
              <a:t>데이터 요구사항(FR-DATA) 7건과 데이터 수집처리 정의서(대상 · 방법 · 전처리 · 정합성 기준)를 먼저 확정하고 코드로 구현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79392" y="5440680"/>
            <a:ext cx="36393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43983" y="5522976"/>
            <a:ext cx="3310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5597"/>
                </a:solidFill>
                <a:latin typeface="맑은 고딕"/>
                <a:ea typeface="맑은 고딕"/>
              </a:rPr>
              <a:t>재실행 가능한 파이프라인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43983" y="5769864"/>
            <a:ext cx="33101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B1F24"/>
                </a:solidFill>
                <a:latin typeface="맑은 고딕"/>
                <a:ea typeface="맑은 고딕"/>
              </a:rPr>
              <a:t>단계별 스크립트 분리 + 체크포인트 재개 구조 → 72만 청크 전면 재생성도 처음부터 다시 돌리지 않고 안전하게 수행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20" y="5440680"/>
            <a:ext cx="3639312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11312" y="5522976"/>
            <a:ext cx="33101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5597"/>
                </a:solidFill>
                <a:latin typeface="맑은 고딕"/>
                <a:ea typeface="맑은 고딕"/>
              </a:rPr>
              <a:t>검증을 파이프라인 안에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2" y="5769864"/>
            <a:ext cx="3310128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B1F24"/>
                </a:solidFill>
                <a:latin typeface="맑은 고딕"/>
                <a:ea typeface="맑은 고딕"/>
              </a:rPr>
              <a:t>적재 후 정합성 검증 스크립트를 실행해 테이블 간 1:1 관계 · 중복 · 누락을 매 수집 주기마다 확인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73968" y="655624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3F30-3319-5F2B-BC38-F178978F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40CD8-94F2-062B-0F0D-458B8FC082EE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01  ·  LAWSIGHT  ·  액션 ② 저장소 · 서비스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83B257-C2E1-DE3A-36B3-253212CB8632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2400" b="1" dirty="0" err="1">
                <a:solidFill>
                  <a:srgbClr val="1B1F24"/>
                </a:solidFill>
                <a:latin typeface="맑은 고딕" panose="020B0503020000020004" pitchFamily="50" charset="-127"/>
              </a:rPr>
              <a:t>LawSight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저장소 · 서비스 구성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39A06-458E-98F8-780C-D0ED6114D3AE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계층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벡터 인덱스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단독 설계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구축하고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계층은 성능 개선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계층은 배포 인프라를 담당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B915B-B866-6369-9DC8-8A4C9C850912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D7483-9796-4DA3-5C26-E9E7E9BB943A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EC765906-B5E9-D4E1-2F46-00A176B6F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60" y="1621369"/>
            <a:ext cx="5964195" cy="2810590"/>
          </a:xfrm>
          <a:prstGeom prst="rect">
            <a:avLst/>
          </a:prstGeom>
        </p:spPr>
      </p:pic>
      <p:pic>
        <p:nvPicPr>
          <p:cNvPr id="88" name="그림 87">
            <a:extLst>
              <a:ext uri="{FF2B5EF4-FFF2-40B4-BE49-F238E27FC236}">
                <a16:creationId xmlns:a16="http://schemas.microsoft.com/office/drawing/2014/main" id="{44E6A8AF-EF2A-3614-00C7-9A377FC57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359" y="4668072"/>
            <a:ext cx="6002643" cy="19180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9" name="Google Shape;745;p26">
            <a:extLst>
              <a:ext uri="{FF2B5EF4-FFF2-40B4-BE49-F238E27FC236}">
                <a16:creationId xmlns:a16="http://schemas.microsoft.com/office/drawing/2014/main" id="{918EBFDA-10FB-F3F0-8496-8665764B18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40" t="3289" r="1901" b="3981"/>
          <a:stretch>
            <a:fillRect/>
          </a:stretch>
        </p:blipFill>
        <p:spPr>
          <a:xfrm>
            <a:off x="6949348" y="1757680"/>
            <a:ext cx="4734652" cy="456691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D2F1FEB-CD97-672E-A26B-2B516388BE3A}"/>
              </a:ext>
            </a:extLst>
          </p:cNvPr>
          <p:cNvSpPr/>
          <p:nvPr/>
        </p:nvSpPr>
        <p:spPr>
          <a:xfrm>
            <a:off x="508000" y="1422400"/>
            <a:ext cx="6197600" cy="3112743"/>
          </a:xfrm>
          <a:prstGeom prst="roundRect">
            <a:avLst>
              <a:gd name="adj" fmla="val 233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63CAAD3A-B4EA-9DB8-EE1B-82198D32E7A6}"/>
              </a:ext>
            </a:extLst>
          </p:cNvPr>
          <p:cNvSpPr/>
          <p:nvPr/>
        </p:nvSpPr>
        <p:spPr>
          <a:xfrm>
            <a:off x="508000" y="4734112"/>
            <a:ext cx="6197600" cy="1767496"/>
          </a:xfrm>
          <a:prstGeom prst="roundRect">
            <a:avLst>
              <a:gd name="adj" fmla="val 233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75A5F6F-56EC-45CD-FE82-43C88C48D228}"/>
              </a:ext>
            </a:extLst>
          </p:cNvPr>
          <p:cNvSpPr/>
          <p:nvPr/>
        </p:nvSpPr>
        <p:spPr>
          <a:xfrm>
            <a:off x="6825782" y="1422400"/>
            <a:ext cx="4959817" cy="5079208"/>
          </a:xfrm>
          <a:prstGeom prst="roundRect">
            <a:avLst>
              <a:gd name="adj" fmla="val 233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131480CB-C54C-7B6B-C1D4-8E663123DB35}"/>
              </a:ext>
            </a:extLst>
          </p:cNvPr>
          <p:cNvSpPr/>
          <p:nvPr/>
        </p:nvSpPr>
        <p:spPr>
          <a:xfrm>
            <a:off x="2823860" y="1302266"/>
            <a:ext cx="155764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구성도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92E67F47-03CB-2CE3-C01A-CFC696D1D368}"/>
              </a:ext>
            </a:extLst>
          </p:cNvPr>
          <p:cNvSpPr/>
          <p:nvPr/>
        </p:nvSpPr>
        <p:spPr>
          <a:xfrm>
            <a:off x="2823860" y="4630928"/>
            <a:ext cx="155764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구성도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B452CBEB-D2CA-78A8-9413-66400AE95BA5}"/>
              </a:ext>
            </a:extLst>
          </p:cNvPr>
          <p:cNvSpPr/>
          <p:nvPr/>
        </p:nvSpPr>
        <p:spPr>
          <a:xfrm>
            <a:off x="8473348" y="1320800"/>
            <a:ext cx="155764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 구성도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(ERD)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86736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3064DF-1D42-35A5-3AF8-FED7C6D80904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01  ·  LAWSIGHT  ·  액션 ③ 운영 장애 대응</a:t>
            </a:r>
            <a:endParaRPr lang="ko-KR" altLang="en-US" sz="900" b="1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3B389-D463-9333-90AA-8FE1BEAD393E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2400" b="1" dirty="0" err="1">
                <a:solidFill>
                  <a:srgbClr val="1B1F24"/>
                </a:solidFill>
                <a:latin typeface="맑은 고딕" panose="020B0503020000020004" pitchFamily="50" charset="-127"/>
              </a:rPr>
              <a:t>LawSight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운영 장애 대응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66B43-D26F-5BC2-B322-C3003C275D9C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 → 원인 → 조치 → 효과를 측정 가능한 지표로 정리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9A9E9-A3DA-FF7F-E8B0-B292AE882D80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2B48A-9E9A-3DEE-617A-31CF0E32D540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3D78A37-8636-A98F-A662-B29D54103001}"/>
              </a:ext>
            </a:extLst>
          </p:cNvPr>
          <p:cNvSpPr/>
          <p:nvPr/>
        </p:nvSpPr>
        <p:spPr>
          <a:xfrm>
            <a:off x="508000" y="1422400"/>
            <a:ext cx="5524500" cy="2362200"/>
          </a:xfrm>
          <a:prstGeom prst="roundRect">
            <a:avLst>
              <a:gd name="adj" fmla="val 3763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0D74763-C62D-5070-A5A8-B97C20FFC325}"/>
              </a:ext>
            </a:extLst>
          </p:cNvPr>
          <p:cNvSpPr/>
          <p:nvPr/>
        </p:nvSpPr>
        <p:spPr>
          <a:xfrm>
            <a:off x="685800" y="16002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1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87684F-7F29-38CC-1812-88B28A2B011F}"/>
              </a:ext>
            </a:extLst>
          </p:cNvPr>
          <p:cNvSpPr txBox="1"/>
          <p:nvPr/>
        </p:nvSpPr>
        <p:spPr>
          <a:xfrm>
            <a:off x="1447800" y="16002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요청별 </a:t>
            </a:r>
            <a:r>
              <a:rPr lang="en-US" altLang="ko-KR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BM25 </a:t>
            </a:r>
            <a:r>
              <a:rPr lang="ko-KR" altLang="en-US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인덱스 </a:t>
            </a:r>
            <a:r>
              <a:rPr lang="ko-KR" altLang="en-US" sz="115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재로딩</a:t>
            </a:r>
            <a:r>
              <a:rPr lang="ko-KR" altLang="en-US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  <a:ea typeface="맑은 고딕" panose="020B0503020000020004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</a:rPr>
              <a:t> </a:t>
            </a:r>
            <a:r>
              <a:rPr lang="ko-KR" altLang="en-US" sz="1200" b="1" dirty="0">
                <a:solidFill>
                  <a:srgbClr val="3333CC"/>
                </a:solidFill>
                <a:latin typeface="Calibri"/>
              </a:rPr>
              <a:t>병목 원인 분석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</a:rPr>
              <a:t>·</a:t>
            </a:r>
            <a:r>
              <a:rPr lang="ko-KR" altLang="en-US" sz="1200" b="1" dirty="0">
                <a:solidFill>
                  <a:srgbClr val="3333CC"/>
                </a:solidFill>
                <a:latin typeface="Calibri"/>
              </a:rPr>
              <a:t>개선</a:t>
            </a:r>
            <a:endParaRPr lang="ko-KR" altLang="en-US" sz="1150" b="1" dirty="0">
              <a:solidFill>
                <a:srgbClr val="3333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CA32F-C845-DAF9-73E4-BBCDA93F5A39}"/>
              </a:ext>
            </a:extLst>
          </p:cNvPr>
          <p:cNvSpPr txBox="1"/>
          <p:nvPr/>
        </p:nvSpPr>
        <p:spPr>
          <a:xfrm>
            <a:off x="685800" y="1981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AC684C-918A-A1F8-E737-C2706A28909D}"/>
              </a:ext>
            </a:extLst>
          </p:cNvPr>
          <p:cNvSpPr txBox="1"/>
          <p:nvPr/>
        </p:nvSpPr>
        <p:spPr>
          <a:xfrm>
            <a:off x="1143000" y="19812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요청마다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383MB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인덱스를 디스크에서 재로딩 →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20~60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타임아웃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24D995-F03E-24F9-1858-4979303D615A}"/>
              </a:ext>
            </a:extLst>
          </p:cNvPr>
          <p:cNvSpPr txBox="1"/>
          <p:nvPr/>
        </p:nvSpPr>
        <p:spPr>
          <a:xfrm>
            <a:off x="685800" y="3245708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1DE0D-3ABC-82D0-6835-D6A04A062B05}"/>
              </a:ext>
            </a:extLst>
          </p:cNvPr>
          <p:cNvSpPr txBox="1"/>
          <p:nvPr/>
        </p:nvSpPr>
        <p:spPr>
          <a:xfrm>
            <a:off x="1143000" y="3245708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서비스를 모듈 레벨 인스턴스로 전환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시작 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회만 로딩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B7042BD-6541-D2C6-83E4-69B9B56ACC0F}"/>
              </a:ext>
            </a:extLst>
          </p:cNvPr>
          <p:cNvSpPr/>
          <p:nvPr/>
        </p:nvSpPr>
        <p:spPr>
          <a:xfrm>
            <a:off x="4381500" y="1981200"/>
            <a:ext cx="1473200" cy="162560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0EE20A-416D-8342-8466-4D7F70334E35}"/>
              </a:ext>
            </a:extLst>
          </p:cNvPr>
          <p:cNvSpPr txBox="1"/>
          <p:nvPr/>
        </p:nvSpPr>
        <p:spPr>
          <a:xfrm>
            <a:off x="4432300" y="2196754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600" b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D5A2D2-B8AC-99DA-4F14-A6F77AE00888}"/>
              </a:ext>
            </a:extLst>
          </p:cNvPr>
          <p:cNvSpPr txBox="1"/>
          <p:nvPr/>
        </p:nvSpPr>
        <p:spPr>
          <a:xfrm>
            <a:off x="4432300" y="25908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0.68</a:t>
            </a:r>
            <a:r>
              <a:rPr lang="ko-KR" altLang="en-US" sz="1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1939B7-59FC-3B07-3548-31D4A91A1F38}"/>
              </a:ext>
            </a:extLst>
          </p:cNvPr>
          <p:cNvSpPr txBox="1"/>
          <p:nvPr/>
        </p:nvSpPr>
        <p:spPr>
          <a:xfrm>
            <a:off x="4432300" y="2997200"/>
            <a:ext cx="1371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20~60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→ 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0.68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3017459-E1F0-CEA1-4073-21D2B02CB8B0}"/>
              </a:ext>
            </a:extLst>
          </p:cNvPr>
          <p:cNvSpPr/>
          <p:nvPr/>
        </p:nvSpPr>
        <p:spPr>
          <a:xfrm>
            <a:off x="6159500" y="1422400"/>
            <a:ext cx="5524500" cy="2362200"/>
          </a:xfrm>
          <a:prstGeom prst="roundRect">
            <a:avLst>
              <a:gd name="adj" fmla="val 3763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78E2A2E-3D42-66F4-0D8A-A5183CA89AC6}"/>
              </a:ext>
            </a:extLst>
          </p:cNvPr>
          <p:cNvSpPr/>
          <p:nvPr/>
        </p:nvSpPr>
        <p:spPr>
          <a:xfrm>
            <a:off x="6337300" y="16002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Case 2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919C81-3440-08CB-C423-258D8A7899DA}"/>
              </a:ext>
            </a:extLst>
          </p:cNvPr>
          <p:cNvSpPr txBox="1"/>
          <p:nvPr/>
        </p:nvSpPr>
        <p:spPr>
          <a:xfrm>
            <a:off x="7099300" y="16002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5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임베딩</a:t>
            </a:r>
            <a:r>
              <a:rPr lang="ko-KR" altLang="en-US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모델 </a:t>
            </a:r>
            <a:r>
              <a:rPr lang="ko-KR" altLang="en-US" sz="115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오혼입</a:t>
            </a:r>
            <a:r>
              <a:rPr lang="en-US" altLang="ko-KR" sz="12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</a:t>
            </a:r>
            <a:r>
              <a:rPr lang="en-US" altLang="ko-KR" sz="1200" b="1" dirty="0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726,814개 </a:t>
            </a:r>
            <a:r>
              <a:rPr lang="en-US" altLang="ko-KR" sz="1200" b="1" dirty="0" err="1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청크</a:t>
            </a:r>
            <a:r>
              <a:rPr lang="en-US" altLang="ko-KR" sz="1200" b="1" dirty="0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전면</a:t>
            </a:r>
            <a:r>
              <a:rPr lang="en-US" altLang="ko-KR" sz="1200" b="1" dirty="0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rgbClr val="333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재생성</a:t>
            </a:r>
            <a:endParaRPr lang="ko-KR" altLang="en-US" sz="1150" b="1" dirty="0">
              <a:solidFill>
                <a:srgbClr val="3333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55D937-D2C5-03E8-578A-06F2E1D9610F}"/>
              </a:ext>
            </a:extLst>
          </p:cNvPr>
          <p:cNvSpPr txBox="1"/>
          <p:nvPr/>
        </p:nvSpPr>
        <p:spPr>
          <a:xfrm>
            <a:off x="6337300" y="1981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D67072-C1FC-540F-E51D-5351ADE2197C}"/>
              </a:ext>
            </a:extLst>
          </p:cNvPr>
          <p:cNvSpPr txBox="1"/>
          <p:nvPr/>
        </p:nvSpPr>
        <p:spPr>
          <a:xfrm>
            <a:off x="6794500" y="19812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점검에서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7,501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청크가 설계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(KoSBERT)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다른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MiniLM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임베딩된 것을 발견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E94D38-1E34-F06F-D1AA-43B6F6686304}"/>
              </a:ext>
            </a:extLst>
          </p:cNvPr>
          <p:cNvSpPr txBox="1"/>
          <p:nvPr/>
        </p:nvSpPr>
        <p:spPr>
          <a:xfrm>
            <a:off x="6337300" y="3245708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30D271-8ED9-309D-535A-8D714EF10F30}"/>
              </a:ext>
            </a:extLst>
          </p:cNvPr>
          <p:cNvSpPr txBox="1"/>
          <p:nvPr/>
        </p:nvSpPr>
        <p:spPr>
          <a:xfrm>
            <a:off x="6794500" y="3245708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.env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기본값 원인 확인 → 모델 코드 고정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체크포인트를 실제 저장 건수 기준으로 단일화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6F2C646-96D1-9A4E-2F89-8E645B993A3B}"/>
              </a:ext>
            </a:extLst>
          </p:cNvPr>
          <p:cNvSpPr/>
          <p:nvPr/>
        </p:nvSpPr>
        <p:spPr>
          <a:xfrm>
            <a:off x="10033000" y="1981200"/>
            <a:ext cx="1473200" cy="162560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1675F3-7120-63A6-3B1A-25082292A64F}"/>
              </a:ext>
            </a:extLst>
          </p:cNvPr>
          <p:cNvSpPr txBox="1"/>
          <p:nvPr/>
        </p:nvSpPr>
        <p:spPr>
          <a:xfrm>
            <a:off x="10083800" y="2196754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600" b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9A28A1-0890-77F1-7BAF-80CA0AF4D68B}"/>
              </a:ext>
            </a:extLst>
          </p:cNvPr>
          <p:cNvSpPr txBox="1"/>
          <p:nvPr/>
        </p:nvSpPr>
        <p:spPr>
          <a:xfrm>
            <a:off x="10083800" y="25908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726,814</a:t>
            </a:r>
            <a:endParaRPr lang="ko-KR" altLang="en-US" sz="1900" b="1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ACA529-5FC5-D332-60E9-FC597BD73FC1}"/>
              </a:ext>
            </a:extLst>
          </p:cNvPr>
          <p:cNvSpPr txBox="1"/>
          <p:nvPr/>
        </p:nvSpPr>
        <p:spPr>
          <a:xfrm>
            <a:off x="10083800" y="2997200"/>
            <a:ext cx="1371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청크 전량 재생성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F479AA2-3C0B-A951-A244-C201FBC5B7B8}"/>
              </a:ext>
            </a:extLst>
          </p:cNvPr>
          <p:cNvSpPr/>
          <p:nvPr/>
        </p:nvSpPr>
        <p:spPr>
          <a:xfrm>
            <a:off x="508000" y="3911600"/>
            <a:ext cx="5524500" cy="2362200"/>
          </a:xfrm>
          <a:prstGeom prst="roundRect">
            <a:avLst>
              <a:gd name="adj" fmla="val 3763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D380DA6-A09D-435B-8121-0D02921F41F1}"/>
              </a:ext>
            </a:extLst>
          </p:cNvPr>
          <p:cNvSpPr/>
          <p:nvPr/>
        </p:nvSpPr>
        <p:spPr>
          <a:xfrm>
            <a:off x="685800" y="40894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Case 3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8568A-A70D-4072-6847-A2E22248CCC3}"/>
              </a:ext>
            </a:extLst>
          </p:cNvPr>
          <p:cNvSpPr txBox="1"/>
          <p:nvPr/>
        </p:nvSpPr>
        <p:spPr>
          <a:xfrm>
            <a:off x="1447800" y="4089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 부족 </a:t>
            </a:r>
            <a:r>
              <a:rPr lang="en-US" altLang="ko-KR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(OOM) 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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</a:rPr>
              <a:t> </a:t>
            </a:r>
            <a:r>
              <a:rPr lang="ko-KR" altLang="en-US" sz="1200" b="1" dirty="0">
                <a:solidFill>
                  <a:srgbClr val="3333CC"/>
                </a:solidFill>
                <a:latin typeface="Calibri"/>
              </a:rPr>
              <a:t>제한 자원 환경에서의 팀 공동 대응</a:t>
            </a:r>
            <a:endParaRPr lang="ko-KR" altLang="en-US" sz="1150" b="1" dirty="0">
              <a:solidFill>
                <a:srgbClr val="3333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86B1EB-D9D6-316C-0B4F-D57FD53DDF54}"/>
              </a:ext>
            </a:extLst>
          </p:cNvPr>
          <p:cNvSpPr txBox="1"/>
          <p:nvPr/>
        </p:nvSpPr>
        <p:spPr>
          <a:xfrm>
            <a:off x="685800" y="4470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2F20AD-A1E6-3BB2-0CEC-9C85B956D706}"/>
              </a:ext>
            </a:extLst>
          </p:cNvPr>
          <p:cNvSpPr txBox="1"/>
          <p:nvPr/>
        </p:nvSpPr>
        <p:spPr>
          <a:xfrm>
            <a:off x="1143000" y="44704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RAM 4GB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인덱스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벡터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동시 상주 →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OOM killer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백엔드 종료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44C8BD-FF32-22A8-1F77-D7352B1E1056}"/>
              </a:ext>
            </a:extLst>
          </p:cNvPr>
          <p:cNvSpPr txBox="1"/>
          <p:nvPr/>
        </p:nvSpPr>
        <p:spPr>
          <a:xfrm>
            <a:off x="685800" y="5734908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1CF147-417E-5561-95AB-DBFC84D092EC}"/>
              </a:ext>
            </a:extLst>
          </p:cNvPr>
          <p:cNvSpPr txBox="1"/>
          <p:nvPr/>
        </p:nvSpPr>
        <p:spPr>
          <a:xfrm>
            <a:off x="1143000" y="5734908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journalctl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추적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t3.medium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증설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swap 4GB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BM25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인덱싱 범위 축소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5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785898E-9967-F019-7579-9A6F589A7877}"/>
              </a:ext>
            </a:extLst>
          </p:cNvPr>
          <p:cNvSpPr/>
          <p:nvPr/>
        </p:nvSpPr>
        <p:spPr>
          <a:xfrm>
            <a:off x="4381500" y="4470400"/>
            <a:ext cx="1473200" cy="162560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47AB86-070E-FFE1-FC75-5B30F03E70ED}"/>
              </a:ext>
            </a:extLst>
          </p:cNvPr>
          <p:cNvSpPr txBox="1"/>
          <p:nvPr/>
        </p:nvSpPr>
        <p:spPr>
          <a:xfrm>
            <a:off x="4432300" y="4685954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600" b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FD4832-6D09-AEA0-F821-233F35609804}"/>
              </a:ext>
            </a:extLst>
          </p:cNvPr>
          <p:cNvSpPr txBox="1"/>
          <p:nvPr/>
        </p:nvSpPr>
        <p:spPr>
          <a:xfrm>
            <a:off x="4432300" y="50800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687MB</a:t>
            </a:r>
            <a:endParaRPr lang="ko-KR" altLang="en-US" sz="1900" b="1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77978B3-9511-AF66-72FB-EA8925A91FFA}"/>
              </a:ext>
            </a:extLst>
          </p:cNvPr>
          <p:cNvSpPr txBox="1"/>
          <p:nvPr/>
        </p:nvSpPr>
        <p:spPr>
          <a:xfrm>
            <a:off x="4432300" y="5486400"/>
            <a:ext cx="1371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swap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3.2GB → 687MB</a:t>
            </a:r>
            <a:endParaRPr lang="ko-KR" altLang="en-US" sz="80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3DA36C11-8F75-3B09-1F95-C901CF088EAB}"/>
              </a:ext>
            </a:extLst>
          </p:cNvPr>
          <p:cNvSpPr/>
          <p:nvPr/>
        </p:nvSpPr>
        <p:spPr>
          <a:xfrm>
            <a:off x="6159500" y="3911600"/>
            <a:ext cx="5524500" cy="2362200"/>
          </a:xfrm>
          <a:prstGeom prst="roundRect">
            <a:avLst>
              <a:gd name="adj" fmla="val 3763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A53B8DC1-112C-1947-0350-627C9BDB9CE9}"/>
              </a:ext>
            </a:extLst>
          </p:cNvPr>
          <p:cNvSpPr/>
          <p:nvPr/>
        </p:nvSpPr>
        <p:spPr>
          <a:xfrm>
            <a:off x="6337300" y="40894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Case 4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EC8452-D5B4-1E80-1F3B-BBD3B5013A3B}"/>
              </a:ext>
            </a:extLst>
          </p:cNvPr>
          <p:cNvSpPr txBox="1"/>
          <p:nvPr/>
        </p:nvSpPr>
        <p:spPr>
          <a:xfrm>
            <a:off x="7099300" y="4089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15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ChromaDB</a:t>
            </a:r>
            <a:r>
              <a:rPr lang="en-US" altLang="ko-KR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1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대량 적재 </a:t>
            </a:r>
            <a:r>
              <a:rPr lang="ko-KR" altLang="en-US" sz="115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세그폴트</a:t>
            </a:r>
            <a:r>
              <a:rPr lang="ko-KR" altLang="en-US" sz="1200" b="1" dirty="0">
                <a:solidFill>
                  <a:srgbClr val="27272A"/>
                </a:solidFill>
                <a:latin typeface="Calibri"/>
              </a:rPr>
              <a:t> 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 </a:t>
            </a:r>
            <a:r>
              <a:rPr lang="ko-KR" altLang="en-US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분할 적재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 </a:t>
            </a:r>
            <a:r>
              <a:rPr lang="ko-KR" altLang="en-US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및 </a:t>
            </a:r>
            <a:r>
              <a:rPr lang="en-US" altLang="ko-KR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Rebuild </a:t>
            </a:r>
            <a:r>
              <a:rPr lang="ko-KR" altLang="en-US" sz="1200" b="1" dirty="0">
                <a:solidFill>
                  <a:srgbClr val="3333CC"/>
                </a:solidFill>
                <a:latin typeface="Calibri"/>
                <a:sym typeface="Wingdings" panose="05000000000000000000" pitchFamily="2" charset="2"/>
              </a:rPr>
              <a:t>수행</a:t>
            </a:r>
            <a:endParaRPr lang="ko-KR" altLang="en-US" sz="1150" b="1" dirty="0">
              <a:solidFill>
                <a:srgbClr val="3333C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69ACB1-D072-05FD-31FA-BECBC343FC14}"/>
              </a:ext>
            </a:extLst>
          </p:cNvPr>
          <p:cNvSpPr txBox="1"/>
          <p:nvPr/>
        </p:nvSpPr>
        <p:spPr>
          <a:xfrm>
            <a:off x="6337300" y="4470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CA98F7-4DCE-F146-FF19-7933ED99C269}"/>
              </a:ext>
            </a:extLst>
          </p:cNvPr>
          <p:cNvSpPr txBox="1"/>
          <p:nvPr/>
        </p:nvSpPr>
        <p:spPr>
          <a:xfrm>
            <a:off x="6794500" y="4470400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컬렉션 적재 중 세그폴트 반복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EC2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Python 3.14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의존성 설치 실패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0598FD-718B-AB97-58D0-A807A16BE4F1}"/>
              </a:ext>
            </a:extLst>
          </p:cNvPr>
          <p:cNvSpPr txBox="1"/>
          <p:nvPr/>
        </p:nvSpPr>
        <p:spPr>
          <a:xfrm>
            <a:off x="6337300" y="5734908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55483A-8796-839D-63FA-FFE5A744EB83}"/>
              </a:ext>
            </a:extLst>
          </p:cNvPr>
          <p:cNvSpPr txBox="1"/>
          <p:nvPr/>
        </p:nvSpPr>
        <p:spPr>
          <a:xfrm>
            <a:off x="6794500" y="5734908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컬렉션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(571,603 / 152,326)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 적재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Python 3.11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소스 빌드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전용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venv</a:t>
            </a:r>
            <a:endParaRPr lang="ko-KR" altLang="en-US" sz="85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2705BCE-B7BB-54EE-DAAE-006A3926C49B}"/>
              </a:ext>
            </a:extLst>
          </p:cNvPr>
          <p:cNvSpPr/>
          <p:nvPr/>
        </p:nvSpPr>
        <p:spPr>
          <a:xfrm>
            <a:off x="10033000" y="4470400"/>
            <a:ext cx="1473200" cy="1625600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C94240-E1C1-73B7-3AA4-05B3B02E9F40}"/>
              </a:ext>
            </a:extLst>
          </p:cNvPr>
          <p:cNvSpPr txBox="1"/>
          <p:nvPr/>
        </p:nvSpPr>
        <p:spPr>
          <a:xfrm>
            <a:off x="10083800" y="4685954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600" b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42E6D4-921B-195E-DAB7-E4D3FEF6C604}"/>
              </a:ext>
            </a:extLst>
          </p:cNvPr>
          <p:cNvSpPr txBox="1"/>
          <p:nvPr/>
        </p:nvSpPr>
        <p:spPr>
          <a:xfrm>
            <a:off x="10083800" y="5080000"/>
            <a:ext cx="13716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723,929</a:t>
            </a:r>
            <a:endParaRPr lang="ko-KR" altLang="en-US" sz="1900" b="1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E93703-D35F-1AC0-4353-C517A590A0A5}"/>
              </a:ext>
            </a:extLst>
          </p:cNvPr>
          <p:cNvSpPr txBox="1"/>
          <p:nvPr/>
        </p:nvSpPr>
        <p:spPr>
          <a:xfrm>
            <a:off x="10083800" y="5486400"/>
            <a:ext cx="1371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청크 적재 완료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0DEFDF-76F6-2DAF-A486-DB284651048C}"/>
              </a:ext>
            </a:extLst>
          </p:cNvPr>
          <p:cNvSpPr txBox="1"/>
          <p:nvPr/>
        </p:nvSpPr>
        <p:spPr>
          <a:xfrm>
            <a:off x="689916" y="2566083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ACC0C-28FE-BB1A-6919-4711D8F67C93}"/>
              </a:ext>
            </a:extLst>
          </p:cNvPr>
          <p:cNvSpPr txBox="1"/>
          <p:nvPr/>
        </p:nvSpPr>
        <p:spPr>
          <a:xfrm>
            <a:off x="1147116" y="2566083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로딩이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안에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있어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매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요청이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I/O +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역직렬화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비용을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</a:t>
            </a:r>
            <a:r>
              <a:rPr lang="en-US" altLang="ko-KR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850" dirty="0" err="1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부담</a:t>
            </a:r>
            <a:endParaRPr lang="en-US" altLang="ko-KR" sz="85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D211CE-7EC7-B284-890E-FF4CFF5DCC7C}"/>
              </a:ext>
            </a:extLst>
          </p:cNvPr>
          <p:cNvSpPr txBox="1"/>
          <p:nvPr/>
        </p:nvSpPr>
        <p:spPr>
          <a:xfrm>
            <a:off x="6341416" y="2566083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원인</a:t>
            </a:r>
            <a:endParaRPr lang="ko-KR" altLang="en-US" sz="850" b="1" dirty="0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D28589-EB17-6C16-B610-848C4BDD7444}"/>
              </a:ext>
            </a:extLst>
          </p:cNvPr>
          <p:cNvSpPr txBox="1"/>
          <p:nvPr/>
        </p:nvSpPr>
        <p:spPr>
          <a:xfrm>
            <a:off x="6798616" y="2566083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기존 실행 환경의 </a:t>
            </a:r>
            <a:r>
              <a:rPr lang="en-US" altLang="ko-KR" sz="850" dirty="0">
                <a:solidFill>
                  <a:srgbClr val="52525B"/>
                </a:solidFill>
                <a:latin typeface="Calibri"/>
              </a:rPr>
              <a:t>.env 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기본값이 </a:t>
            </a:r>
            <a:r>
              <a:rPr lang="en-US" altLang="ko-KR" sz="850" dirty="0" err="1">
                <a:solidFill>
                  <a:srgbClr val="52525B"/>
                </a:solidFill>
                <a:latin typeface="Calibri"/>
              </a:rPr>
              <a:t>MiniLM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을 가리킨 상태로 </a:t>
            </a:r>
            <a:r>
              <a:rPr lang="ko-KR" altLang="en-US" sz="850" dirty="0" err="1">
                <a:solidFill>
                  <a:srgbClr val="52525B"/>
                </a:solidFill>
                <a:latin typeface="Calibri"/>
              </a:rPr>
              <a:t>임베딩이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 수행된 것을 확인</a:t>
            </a:r>
            <a:endParaRPr lang="ko-KR" altLang="en-US" sz="85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9ED4285-708D-6D9E-3288-A7655431811E}"/>
              </a:ext>
            </a:extLst>
          </p:cNvPr>
          <p:cNvSpPr txBox="1"/>
          <p:nvPr/>
        </p:nvSpPr>
        <p:spPr>
          <a:xfrm>
            <a:off x="689916" y="5055283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원인</a:t>
            </a:r>
            <a:endParaRPr lang="ko-KR" altLang="en-US" sz="850" b="1" dirty="0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80BB1A-5BF2-9954-DE66-8A48ABEE5B18}"/>
              </a:ext>
            </a:extLst>
          </p:cNvPr>
          <p:cNvSpPr txBox="1"/>
          <p:nvPr/>
        </p:nvSpPr>
        <p:spPr>
          <a:xfrm>
            <a:off x="1147116" y="5055283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인스턴스 증설 후에도 재발해 단순 사양 문제만은 아님을 확인</a:t>
            </a:r>
            <a:r>
              <a:rPr lang="en-US" altLang="ko-KR" sz="850" dirty="0">
                <a:solidFill>
                  <a:srgbClr val="52525B"/>
                </a:solidFill>
                <a:latin typeface="Calibri"/>
              </a:rPr>
              <a:t>. 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메모리 상주 객체와 전체 검색 범위를 함께 점검</a:t>
            </a:r>
            <a:endParaRPr lang="ko-KR" altLang="en-US" sz="850" dirty="0"/>
          </a:p>
          <a:p>
            <a:pPr>
              <a:lnSpc>
                <a:spcPct val="105000"/>
              </a:lnSpc>
            </a:pPr>
            <a:endParaRPr lang="ko-KR" altLang="en-US" sz="850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FBBF40-F3FD-6A77-3DBE-27BED9B4AB41}"/>
              </a:ext>
            </a:extLst>
          </p:cNvPr>
          <p:cNvSpPr txBox="1"/>
          <p:nvPr/>
        </p:nvSpPr>
        <p:spPr>
          <a:xfrm>
            <a:off x="6341416" y="5055283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원인</a:t>
            </a:r>
            <a:endParaRPr lang="ko-KR" altLang="en-US" sz="850" b="1" dirty="0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FB1D3B1-C9FB-3C3F-1F12-87C0664EAE26}"/>
              </a:ext>
            </a:extLst>
          </p:cNvPr>
          <p:cNvSpPr txBox="1"/>
          <p:nvPr/>
        </p:nvSpPr>
        <p:spPr>
          <a:xfrm>
            <a:off x="6798616" y="5055283"/>
            <a:ext cx="3111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50" dirty="0">
                <a:solidFill>
                  <a:srgbClr val="52525B"/>
                </a:solidFill>
                <a:latin typeface="Calibri"/>
              </a:rPr>
              <a:t>DB 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무결성은 정상이고 </a:t>
            </a:r>
            <a:r>
              <a:rPr lang="en-US" altLang="ko-KR" sz="850" dirty="0">
                <a:solidFill>
                  <a:srgbClr val="52525B"/>
                </a:solidFill>
                <a:latin typeface="Calibri"/>
              </a:rPr>
              <a:t>Python 3.11/3.14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에서 모두 재현되어 단일 컬렉션 규모</a:t>
            </a:r>
            <a:r>
              <a:rPr lang="en-US" altLang="ko-KR" sz="850" dirty="0">
                <a:solidFill>
                  <a:srgbClr val="52525B"/>
                </a:solidFill>
                <a:latin typeface="Calibri"/>
              </a:rPr>
              <a:t>·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메모리 한계를 우선 원인으로 판단 </a:t>
            </a:r>
            <a:r>
              <a:rPr lang="en-US" altLang="ko-KR" sz="850" dirty="0">
                <a:solidFill>
                  <a:srgbClr val="52525B"/>
                </a:solidFill>
                <a:latin typeface="Calibri"/>
              </a:rPr>
              <a:t>/ 3.14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는 일부 </a:t>
            </a:r>
            <a:r>
              <a:rPr lang="en-US" altLang="ko-KR" sz="850" dirty="0">
                <a:solidFill>
                  <a:srgbClr val="52525B"/>
                </a:solidFill>
                <a:latin typeface="Calibri"/>
              </a:rPr>
              <a:t>Rust </a:t>
            </a:r>
            <a:r>
              <a:rPr lang="ko-KR" altLang="en-US" sz="850" dirty="0">
                <a:solidFill>
                  <a:srgbClr val="52525B"/>
                </a:solidFill>
                <a:latin typeface="Calibri"/>
              </a:rPr>
              <a:t>기반 의존성의 사전 빌드 미지원</a:t>
            </a:r>
            <a:endParaRPr lang="ko-KR" altLang="en-US" sz="850" dirty="0"/>
          </a:p>
        </p:txBody>
      </p:sp>
      <p:sp>
        <p:nvSpPr>
          <p:cNvPr id="59" name="Rounded Rectangle 58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66228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PROJECT 01  ·  LAWSIGHT  · 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결과</a:t>
            </a:r>
            <a:endParaRPr sz="900" b="1" i="0" dirty="0">
              <a:solidFill>
                <a:srgbClr val="C8102E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1F24"/>
                </a:solidFill>
                <a:latin typeface="맑은 고딕"/>
                <a:ea typeface="맑은 고딕"/>
              </a:rPr>
              <a:t>LawSight </a:t>
            </a:r>
            <a:r>
              <a:rPr sz="2000" b="1" i="0">
                <a:solidFill>
                  <a:srgbClr val="808080"/>
                </a:solidFill>
                <a:latin typeface="맑은 고딕"/>
                <a:ea typeface="맑은 고딕"/>
              </a:rPr>
              <a:t>&gt; 결과 · 서비스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1173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판례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41,438건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기반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하이브리드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검색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서비스를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실서비스로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배포하고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,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한이음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중간평가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상위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30%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선정</a:t>
            </a:r>
            <a:endParaRPr sz="1200" b="1" i="1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전예원  |  Data Engineer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1F24"/>
                </a:solidFill>
                <a:latin typeface="맑은 고딕"/>
                <a:ea typeface="맑은 고딕"/>
              </a:rPr>
              <a:t>41,438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판례 수집 (초기 3,503 → 최종)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2680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92680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1F24"/>
                </a:solidFill>
                <a:latin typeface="맑은 고딕"/>
                <a:ea typeface="맑은 고딕"/>
              </a:rPr>
              <a:t>726,814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KoSBERT 임베딩 청크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3296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3296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1F24"/>
                </a:solidFill>
                <a:latin typeface="맑은 고딕"/>
                <a:ea typeface="맑은 고딕"/>
              </a:rPr>
              <a:t>11 / 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9016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PostgreSQL 테이블 / 인덱스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53912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8102E"/>
                </a:solidFill>
                <a:latin typeface="맑은 고딕"/>
                <a:ea typeface="맑은 고딕"/>
              </a:rPr>
              <a:t>104 → 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법원명 원시 유형 표준화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4528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34528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8102E"/>
                </a:solidFill>
                <a:latin typeface="맑은 고딕"/>
                <a:ea typeface="맑은 고딕"/>
              </a:rPr>
              <a:t>0.68초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0248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검색 응답 (20~60초 → warm)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15144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15144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8102E"/>
                </a:solidFill>
                <a:latin typeface="맑은 고딕"/>
                <a:ea typeface="맑은 고딕"/>
              </a:rPr>
              <a:t>상위 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0864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한이음 중간평가 우수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2468880"/>
            <a:ext cx="324612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4944" y="265176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26426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1F24"/>
                </a:solidFill>
                <a:latin typeface="맑은 고딕"/>
                <a:ea typeface="맑은 고딕"/>
              </a:rPr>
              <a:t>실서비스 운영까지 완주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3072384"/>
            <a:ext cx="2880360" cy="1953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www.lawsight.co.kr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실서비스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배포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(EC2 t3.medium · nginx · HTTPS)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검색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타임아웃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해소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— BM25 1회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로딩으로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응답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0.68초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실패율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0%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개발설계서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완료보고서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제출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,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중간평가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상위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30% ·</a:t>
            </a: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장려상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후보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“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확인된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진척”만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기록하는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문서-코드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정합성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점검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프로세스를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팀에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정착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배운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점: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검색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품질은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모델보다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데이터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정제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재실행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가능한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파이프라인에서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결정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rcRect t="1400" b="17100"/>
          <a:stretch>
            <a:fillRect/>
          </a:stretch>
        </p:blipFill>
        <p:spPr>
          <a:xfrm>
            <a:off x="3977639" y="2606040"/>
            <a:ext cx="3657600" cy="1657858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36" name="Rounded Rectangle 35"/>
          <p:cNvSpPr/>
          <p:nvPr/>
        </p:nvSpPr>
        <p:spPr>
          <a:xfrm>
            <a:off x="3977639" y="246888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판례 검색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77639" y="4526280"/>
            <a:ext cx="3154680" cy="1820718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38" name="Rounded Rectangle 37"/>
          <p:cNvSpPr/>
          <p:nvPr/>
        </p:nvSpPr>
        <p:spPr>
          <a:xfrm>
            <a:off x="3977639" y="438912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승소 / 패소 비교표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rcRect b="20800"/>
          <a:stretch>
            <a:fillRect/>
          </a:stretch>
        </p:blipFill>
        <p:spPr>
          <a:xfrm>
            <a:off x="7818120" y="2606040"/>
            <a:ext cx="3867912" cy="1702213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40" name="Rounded Rectangle 39"/>
          <p:cNvSpPr/>
          <p:nvPr/>
        </p:nvSpPr>
        <p:spPr>
          <a:xfrm>
            <a:off x="7818120" y="2468880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전략 리포트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818120" y="4343400"/>
            <a:ext cx="3867912" cy="1784754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11173968" y="655624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288F6B-64AD-47F1-52DF-E49616D6EDCF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01  ·  LAWSIGHT  · </a:t>
            </a:r>
            <a:r>
              <a:rPr lang="ko-KR" altLang="en-US" sz="900" b="1" dirty="0">
                <a:solidFill>
                  <a:srgbClr val="C8102E"/>
                </a:solidFill>
                <a:ea typeface="맑은 고딕"/>
              </a:rPr>
              <a:t>결과</a:t>
            </a:r>
            <a:endParaRPr lang="ko-KR" altLang="en-US" sz="900" b="1" dirty="0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4F1B3-DEFA-F8EA-5610-6BC5047E6FCE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2400" b="1" dirty="0" err="1">
                <a:solidFill>
                  <a:srgbClr val="1B1F24"/>
                </a:solidFill>
                <a:latin typeface="맑은 고딕" panose="020B0503020000020004" pitchFamily="50" charset="-127"/>
              </a:rPr>
              <a:t>LawSight</a:t>
            </a:r>
            <a:r>
              <a:rPr lang="en-US" altLang="ko-KR" sz="2400" b="1" dirty="0">
                <a:solidFill>
                  <a:srgbClr val="1B1F24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및 산출물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23910-A163-0F53-B750-8CF7A29B6695}"/>
              </a:ext>
            </a:extLst>
          </p:cNvPr>
          <p:cNvSpPr txBox="1"/>
          <p:nvPr/>
        </p:nvSpPr>
        <p:spPr>
          <a:xfrm>
            <a:off x="464065" y="1009134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팀장으로서 전 단계 산출물을 총괄하고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팀원별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산출물 검토 및 보완 수행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06DD54-6AE1-CC16-1A53-7E0A256E1B98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FA9C58-7E7F-1973-E398-43D90698D707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636BEE59-DF1D-D119-91F0-A334C890CBFE}"/>
              </a:ext>
            </a:extLst>
          </p:cNvPr>
          <p:cNvSpPr/>
          <p:nvPr/>
        </p:nvSpPr>
        <p:spPr>
          <a:xfrm>
            <a:off x="508000" y="1422400"/>
            <a:ext cx="3657600" cy="558800"/>
          </a:xfrm>
          <a:prstGeom prst="homePlate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</a:t>
            </a:r>
            <a:r>
              <a:rPr lang="ko-KR" altLang="en-US" sz="13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</a:p>
          <a:p>
            <a:pPr algn="ctr"/>
            <a:r>
              <a:rPr lang="ko-KR" altLang="en-US" sz="850" dirty="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 dirty="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· </a:t>
            </a:r>
            <a:r>
              <a:rPr lang="ko-KR" altLang="en-US" sz="850" dirty="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 </a:t>
            </a:r>
            <a:r>
              <a:rPr lang="en-US" altLang="ko-KR" sz="850" dirty="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/  </a:t>
            </a:r>
            <a:r>
              <a:rPr lang="ko-KR" altLang="en-US" sz="850" dirty="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 dirty="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50" dirty="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B201074-0C12-B780-EBAE-7FC4B254CD04}"/>
              </a:ext>
            </a:extLst>
          </p:cNvPr>
          <p:cNvSpPr/>
          <p:nvPr/>
        </p:nvSpPr>
        <p:spPr>
          <a:xfrm>
            <a:off x="5080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D493949-86C5-C6D1-7509-CA98D73DCE77}"/>
              </a:ext>
            </a:extLst>
          </p:cNvPr>
          <p:cNvSpPr/>
          <p:nvPr/>
        </p:nvSpPr>
        <p:spPr>
          <a:xfrm>
            <a:off x="6096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9BAFBA-AE7E-398F-A807-431B3C6F8EB8}"/>
              </a:ext>
            </a:extLst>
          </p:cNvPr>
          <p:cNvSpPr txBox="1"/>
          <p:nvPr/>
        </p:nvSpPr>
        <p:spPr>
          <a:xfrm>
            <a:off x="13208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정의서 총괄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5E90F1-2409-85DE-689B-A71247994037}"/>
              </a:ext>
            </a:extLst>
          </p:cNvPr>
          <p:cNvSpPr txBox="1"/>
          <p:nvPr/>
        </p:nvSpPr>
        <p:spPr>
          <a:xfrm>
            <a:off x="13208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모듈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35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기능 요구사항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(FR)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B58EED0-571A-6440-9FD9-D272D7172BC1}"/>
              </a:ext>
            </a:extLst>
          </p:cNvPr>
          <p:cNvSpPr/>
          <p:nvPr/>
        </p:nvSpPr>
        <p:spPr>
          <a:xfrm>
            <a:off x="5080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F33A74F-0A47-F88E-8AB2-BAC96A8A87D9}"/>
              </a:ext>
            </a:extLst>
          </p:cNvPr>
          <p:cNvSpPr/>
          <p:nvPr/>
        </p:nvSpPr>
        <p:spPr>
          <a:xfrm>
            <a:off x="6096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9B4ED-D0BB-BCA1-F6FF-79B17A584448}"/>
              </a:ext>
            </a:extLst>
          </p:cNvPr>
          <p:cNvSpPr txBox="1"/>
          <p:nvPr/>
        </p:nvSpPr>
        <p:spPr>
          <a:xfrm>
            <a:off x="13208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요구사항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(FR-DATA)</a:t>
            </a:r>
            <a:endParaRPr lang="ko-KR" altLang="en-US" sz="95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162194-8B26-EB58-BF85-C7B05B9552C0}"/>
              </a:ext>
            </a:extLst>
          </p:cNvPr>
          <p:cNvSpPr txBox="1"/>
          <p:nvPr/>
        </p:nvSpPr>
        <p:spPr>
          <a:xfrm>
            <a:off x="13208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인덱싱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요구사항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A5DE71-67C2-9C44-F95D-7065BB356DC7}"/>
              </a:ext>
            </a:extLst>
          </p:cNvPr>
          <p:cNvSpPr/>
          <p:nvPr/>
        </p:nvSpPr>
        <p:spPr>
          <a:xfrm>
            <a:off x="5080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B6BA27-4354-8743-BCA2-E423231B9F84}"/>
              </a:ext>
            </a:extLst>
          </p:cNvPr>
          <p:cNvSpPr txBox="1"/>
          <p:nvPr/>
        </p:nvSpPr>
        <p:spPr>
          <a:xfrm>
            <a:off x="13208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시장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 환경 분석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114F3-AEE6-5960-D575-2C0FD5066CE7}"/>
              </a:ext>
            </a:extLst>
          </p:cNvPr>
          <p:cNvSpPr txBox="1"/>
          <p:nvPr/>
        </p:nvSpPr>
        <p:spPr>
          <a:xfrm>
            <a:off x="13208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경쟁 서비스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 기능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가격 비교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F2F075B-70D8-F161-BDB7-073BFFBACD0B}"/>
              </a:ext>
            </a:extLst>
          </p:cNvPr>
          <p:cNvSpPr/>
          <p:nvPr/>
        </p:nvSpPr>
        <p:spPr>
          <a:xfrm>
            <a:off x="508000" y="37846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6E0236-8445-4D62-002D-22F2215F8EAE}"/>
              </a:ext>
            </a:extLst>
          </p:cNvPr>
          <p:cNvSpPr txBox="1"/>
          <p:nvPr/>
        </p:nvSpPr>
        <p:spPr>
          <a:xfrm>
            <a:off x="1320800" y="3848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현직 변호사 인터뷰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61DD7E-68CF-B36F-A093-E1286D5A6CF4}"/>
              </a:ext>
            </a:extLst>
          </p:cNvPr>
          <p:cNvSpPr txBox="1"/>
          <p:nvPr/>
        </p:nvSpPr>
        <p:spPr>
          <a:xfrm>
            <a:off x="1320800" y="4051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무환각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사실관계 유사성 니즈 도출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4955118-AE18-99EC-C729-2F0278BE76EA}"/>
              </a:ext>
            </a:extLst>
          </p:cNvPr>
          <p:cNvSpPr/>
          <p:nvPr/>
        </p:nvSpPr>
        <p:spPr>
          <a:xfrm>
            <a:off x="508000" y="43434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706382-E25F-A292-3C6F-80DF7B9B3288}"/>
              </a:ext>
            </a:extLst>
          </p:cNvPr>
          <p:cNvSpPr txBox="1"/>
          <p:nvPr/>
        </p:nvSpPr>
        <p:spPr>
          <a:xfrm>
            <a:off x="1320800" y="4406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유즈케이스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정의서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FA9227-3FBD-3E9B-B3DB-5F5FEA9B3768}"/>
              </a:ext>
            </a:extLst>
          </p:cNvPr>
          <p:cNvSpPr txBox="1"/>
          <p:nvPr/>
        </p:nvSpPr>
        <p:spPr>
          <a:xfrm>
            <a:off x="1320800" y="4610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UC-01 ~ UC-12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액터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 정의</a:t>
            </a:r>
          </a:p>
        </p:txBody>
      </p:sp>
      <p:sp>
        <p:nvSpPr>
          <p:cNvPr id="28" name="화살표: 갈매기형 수장 27">
            <a:extLst>
              <a:ext uri="{FF2B5EF4-FFF2-40B4-BE49-F238E27FC236}">
                <a16:creationId xmlns:a16="http://schemas.microsoft.com/office/drawing/2014/main" id="{AB4C5559-634A-5201-312F-3F5402535882}"/>
              </a:ext>
            </a:extLst>
          </p:cNvPr>
          <p:cNvSpPr/>
          <p:nvPr/>
        </p:nvSpPr>
        <p:spPr>
          <a:xfrm>
            <a:off x="4267200" y="1422400"/>
            <a:ext cx="3657600" cy="55880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64FCDB5-FD6C-EB75-3C36-1324C75ABD00}"/>
              </a:ext>
            </a:extLst>
          </p:cNvPr>
          <p:cNvSpPr/>
          <p:nvPr/>
        </p:nvSpPr>
        <p:spPr>
          <a:xfrm>
            <a:off x="42672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22F39EA-CB8E-5E26-F260-51E7A47D7BF5}"/>
              </a:ext>
            </a:extLst>
          </p:cNvPr>
          <p:cNvSpPr/>
          <p:nvPr/>
        </p:nvSpPr>
        <p:spPr>
          <a:xfrm>
            <a:off x="43688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7F059D-8417-8167-FBAA-3F0E14D295FE}"/>
              </a:ext>
            </a:extLst>
          </p:cNvPr>
          <p:cNvSpPr txBox="1"/>
          <p:nvPr/>
        </p:nvSpPr>
        <p:spPr>
          <a:xfrm>
            <a:off x="50800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구성도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6AD96E-388D-6ADC-DC79-1FAF81AC48A8}"/>
              </a:ext>
            </a:extLst>
          </p:cNvPr>
          <p:cNvSpPr txBox="1"/>
          <p:nvPr/>
        </p:nvSpPr>
        <p:spPr>
          <a:xfrm>
            <a:off x="50800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인덱싱 파이프라인 흐름 설계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5F07CAE-225A-C6A0-E293-D7C4634F9780}"/>
              </a:ext>
            </a:extLst>
          </p:cNvPr>
          <p:cNvSpPr/>
          <p:nvPr/>
        </p:nvSpPr>
        <p:spPr>
          <a:xfrm>
            <a:off x="42672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573FE06-C5C7-A6F8-439F-B5CB5CA06EE3}"/>
              </a:ext>
            </a:extLst>
          </p:cNvPr>
          <p:cNvSpPr/>
          <p:nvPr/>
        </p:nvSpPr>
        <p:spPr>
          <a:xfrm>
            <a:off x="43688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93DCD0-2703-84CF-1DAB-CE77D883E2BB}"/>
              </a:ext>
            </a:extLst>
          </p:cNvPr>
          <p:cNvSpPr txBox="1"/>
          <p:nvPr/>
        </p:nvSpPr>
        <p:spPr>
          <a:xfrm>
            <a:off x="50800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수집처리 정의서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4320D5-E479-3262-A7BF-CA7CB1C666EC}"/>
              </a:ext>
            </a:extLst>
          </p:cNvPr>
          <p:cNvSpPr txBox="1"/>
          <p:nvPr/>
        </p:nvSpPr>
        <p:spPr>
          <a:xfrm>
            <a:off x="50800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대상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정합성 기준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48D9BAC-3641-70F3-DD49-33A028856C25}"/>
              </a:ext>
            </a:extLst>
          </p:cNvPr>
          <p:cNvSpPr/>
          <p:nvPr/>
        </p:nvSpPr>
        <p:spPr>
          <a:xfrm>
            <a:off x="42672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9C17E90-381F-1428-4785-4C47BC563F17}"/>
              </a:ext>
            </a:extLst>
          </p:cNvPr>
          <p:cNvSpPr/>
          <p:nvPr/>
        </p:nvSpPr>
        <p:spPr>
          <a:xfrm>
            <a:off x="4368800" y="33782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4B60EA-D5C4-6FF1-5262-0FE300C5E789}"/>
              </a:ext>
            </a:extLst>
          </p:cNvPr>
          <p:cNvSpPr txBox="1"/>
          <p:nvPr/>
        </p:nvSpPr>
        <p:spPr>
          <a:xfrm>
            <a:off x="50800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v1 → v2 (11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5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EBB064-153F-85A4-E4B8-ACB823C1E422}"/>
              </a:ext>
            </a:extLst>
          </p:cNvPr>
          <p:cNvSpPr txBox="1"/>
          <p:nvPr/>
        </p:nvSpPr>
        <p:spPr>
          <a:xfrm>
            <a:off x="50800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PostgreSQL + ChromaDB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저장소 분리 설계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3B6F536-F3CD-10FE-78AA-82DC119603D7}"/>
              </a:ext>
            </a:extLst>
          </p:cNvPr>
          <p:cNvSpPr/>
          <p:nvPr/>
        </p:nvSpPr>
        <p:spPr>
          <a:xfrm>
            <a:off x="4267200" y="37846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6DA9512-4B93-73F0-7886-F29C015BE3D0}"/>
              </a:ext>
            </a:extLst>
          </p:cNvPr>
          <p:cNvSpPr/>
          <p:nvPr/>
        </p:nvSpPr>
        <p:spPr>
          <a:xfrm>
            <a:off x="4368800" y="39370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EDF58D-7E45-6423-5DB4-4908F48AE6F6}"/>
              </a:ext>
            </a:extLst>
          </p:cNvPr>
          <p:cNvSpPr txBox="1"/>
          <p:nvPr/>
        </p:nvSpPr>
        <p:spPr>
          <a:xfrm>
            <a:off x="5080000" y="3848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필드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도메인 정의서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A2F657-8ED6-80D4-6880-DFF2E2ABADB7}"/>
              </a:ext>
            </a:extLst>
          </p:cNvPr>
          <p:cNvSpPr txBox="1"/>
          <p:nvPr/>
        </p:nvSpPr>
        <p:spPr>
          <a:xfrm>
            <a:off x="5080000" y="4051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데이터사전 포함 명세서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시트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C469A7B-C43D-8EDD-67BE-D9B1B3BDD6D3}"/>
              </a:ext>
            </a:extLst>
          </p:cNvPr>
          <p:cNvSpPr/>
          <p:nvPr/>
        </p:nvSpPr>
        <p:spPr>
          <a:xfrm>
            <a:off x="4267200" y="43434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F38BC0D-9D68-3659-1176-7F48A059275C}"/>
              </a:ext>
            </a:extLst>
          </p:cNvPr>
          <p:cNvSpPr/>
          <p:nvPr/>
        </p:nvSpPr>
        <p:spPr>
          <a:xfrm>
            <a:off x="4368800" y="44958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0B3EA53-14E6-A9A6-4EEF-1E2B27F842CF}"/>
              </a:ext>
            </a:extLst>
          </p:cNvPr>
          <p:cNvSpPr txBox="1"/>
          <p:nvPr/>
        </p:nvSpPr>
        <p:spPr>
          <a:xfrm>
            <a:off x="5080000" y="4406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구성도 </a:t>
            </a: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설계서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A89AA7-AECC-0F4D-BA65-A40EE4189633}"/>
              </a:ext>
            </a:extLst>
          </p:cNvPr>
          <p:cNvSpPr txBox="1"/>
          <p:nvPr/>
        </p:nvSpPr>
        <p:spPr>
          <a:xfrm>
            <a:off x="5080000" y="4610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↔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상호참조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B1A21961-688E-AD37-52A6-612D0B1CFBCF}"/>
              </a:ext>
            </a:extLst>
          </p:cNvPr>
          <p:cNvSpPr/>
          <p:nvPr/>
        </p:nvSpPr>
        <p:spPr>
          <a:xfrm>
            <a:off x="4267200" y="4902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3B3BB93-DBC4-C1EC-4C74-1CFDF81F2987}"/>
              </a:ext>
            </a:extLst>
          </p:cNvPr>
          <p:cNvSpPr/>
          <p:nvPr/>
        </p:nvSpPr>
        <p:spPr>
          <a:xfrm>
            <a:off x="4368800" y="5054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6E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6B72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팀원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A3B9B9-BE4D-5EC8-509C-2A388D5B98A2}"/>
              </a:ext>
            </a:extLst>
          </p:cNvPr>
          <p:cNvSpPr txBox="1"/>
          <p:nvPr/>
        </p:nvSpPr>
        <p:spPr>
          <a:xfrm>
            <a:off x="5080000" y="4965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IRAC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알고리즘 명세서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D5C8F2-D23B-1AA7-3E0B-223F9C92197B}"/>
              </a:ext>
            </a:extLst>
          </p:cNvPr>
          <p:cNvSpPr txBox="1"/>
          <p:nvPr/>
        </p:nvSpPr>
        <p:spPr>
          <a:xfrm>
            <a:off x="5080000" y="5168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체인 설계</a:t>
            </a:r>
          </a:p>
        </p:txBody>
      </p:sp>
      <p:sp>
        <p:nvSpPr>
          <p:cNvPr id="53" name="화살표: 갈매기형 수장 52">
            <a:extLst>
              <a:ext uri="{FF2B5EF4-FFF2-40B4-BE49-F238E27FC236}">
                <a16:creationId xmlns:a16="http://schemas.microsoft.com/office/drawing/2014/main" id="{1512E296-E2E8-C357-F063-EE887662C7BF}"/>
              </a:ext>
            </a:extLst>
          </p:cNvPr>
          <p:cNvSpPr/>
          <p:nvPr/>
        </p:nvSpPr>
        <p:spPr>
          <a:xfrm>
            <a:off x="8026400" y="1422400"/>
            <a:ext cx="3657600" cy="55880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AF9CE6E-90D0-804E-E040-02B178AFA230}"/>
              </a:ext>
            </a:extLst>
          </p:cNvPr>
          <p:cNvSpPr/>
          <p:nvPr/>
        </p:nvSpPr>
        <p:spPr>
          <a:xfrm>
            <a:off x="80264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5D49AB49-2F0F-1E85-FB1D-53035C941F13}"/>
              </a:ext>
            </a:extLst>
          </p:cNvPr>
          <p:cNvSpPr/>
          <p:nvPr/>
        </p:nvSpPr>
        <p:spPr>
          <a:xfrm>
            <a:off x="81280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35E0B92-4AC0-A11D-7AD5-5A6731735923}"/>
              </a:ext>
            </a:extLst>
          </p:cNvPr>
          <p:cNvSpPr txBox="1"/>
          <p:nvPr/>
        </p:nvSpPr>
        <p:spPr>
          <a:xfrm>
            <a:off x="88392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 프로그램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ADCB53-D2F7-2522-DF7E-65A4A6754F95}"/>
              </a:ext>
            </a:extLst>
          </p:cNvPr>
          <p:cNvSpPr txBox="1"/>
          <p:nvPr/>
        </p:nvSpPr>
        <p:spPr>
          <a:xfrm>
            <a:off x="88392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collect_cases.py · parse_judgment 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A713475-3CF1-0294-6049-C2C9A4BBADE5}"/>
              </a:ext>
            </a:extLst>
          </p:cNvPr>
          <p:cNvSpPr/>
          <p:nvPr/>
        </p:nvSpPr>
        <p:spPr>
          <a:xfrm>
            <a:off x="80264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354BBEF9-7612-DECD-6F61-090C2753CA63}"/>
              </a:ext>
            </a:extLst>
          </p:cNvPr>
          <p:cNvSpPr/>
          <p:nvPr/>
        </p:nvSpPr>
        <p:spPr>
          <a:xfrm>
            <a:off x="81280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09DCE6-888C-F9B9-2422-7D6B341DEC1A}"/>
              </a:ext>
            </a:extLst>
          </p:cNvPr>
          <p:cNvSpPr txBox="1"/>
          <p:nvPr/>
        </p:nvSpPr>
        <p:spPr>
          <a:xfrm>
            <a:off x="88392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(DDL 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인덱스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5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E8E8AE-224A-DBB6-50B5-E900BA9BB08B}"/>
              </a:ext>
            </a:extLst>
          </p:cNvPr>
          <p:cNvSpPr txBox="1"/>
          <p:nvPr/>
        </p:nvSpPr>
        <p:spPr>
          <a:xfrm>
            <a:off x="88392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FK CASCADE · GIN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인덱스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9DF841F2-F287-6386-A85B-CE90C242D408}"/>
              </a:ext>
            </a:extLst>
          </p:cNvPr>
          <p:cNvSpPr/>
          <p:nvPr/>
        </p:nvSpPr>
        <p:spPr>
          <a:xfrm>
            <a:off x="80264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14D2687-8469-8F86-C2D9-AFA04E5FC180}"/>
              </a:ext>
            </a:extLst>
          </p:cNvPr>
          <p:cNvSpPr/>
          <p:nvPr/>
        </p:nvSpPr>
        <p:spPr>
          <a:xfrm>
            <a:off x="8128000" y="33782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B693A7-D51D-A1D0-8850-91D6B6CBEECE}"/>
              </a:ext>
            </a:extLst>
          </p:cNvPr>
          <p:cNvSpPr txBox="1"/>
          <p:nvPr/>
        </p:nvSpPr>
        <p:spPr>
          <a:xfrm>
            <a:off x="88392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임베딩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벡터 인덱싱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34268DD-8D6C-4F14-0D7F-106A0B072EE9}"/>
              </a:ext>
            </a:extLst>
          </p:cNvPr>
          <p:cNvSpPr txBox="1"/>
          <p:nvPr/>
        </p:nvSpPr>
        <p:spPr>
          <a:xfrm>
            <a:off x="88392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KoSBERT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재생성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ChromaDB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분할 적재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49BCB142-F335-B346-5FC9-AE5F2E9F082A}"/>
              </a:ext>
            </a:extLst>
          </p:cNvPr>
          <p:cNvSpPr/>
          <p:nvPr/>
        </p:nvSpPr>
        <p:spPr>
          <a:xfrm>
            <a:off x="8026400" y="37846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A1A45A7E-1298-D2B6-5BF3-54FFB60EA725}"/>
              </a:ext>
            </a:extLst>
          </p:cNvPr>
          <p:cNvSpPr/>
          <p:nvPr/>
        </p:nvSpPr>
        <p:spPr>
          <a:xfrm>
            <a:off x="8128000" y="39370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B964FB-6FA1-8868-0566-ECB0006438BF}"/>
              </a:ext>
            </a:extLst>
          </p:cNvPr>
          <p:cNvSpPr txBox="1"/>
          <p:nvPr/>
        </p:nvSpPr>
        <p:spPr>
          <a:xfrm>
            <a:off x="8839200" y="3848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641664-92C6-D4AC-964D-3065F9A34057}"/>
              </a:ext>
            </a:extLst>
          </p:cNvPr>
          <p:cNvSpPr txBox="1"/>
          <p:nvPr/>
        </p:nvSpPr>
        <p:spPr>
          <a:xfrm>
            <a:off x="8839200" y="4051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EC2 · nginx · systemd · HTTPS</a:t>
            </a:r>
            <a:endParaRPr lang="ko-KR" altLang="en-US" sz="80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F2CDE482-70AA-563E-1B91-0EAFC6836AC0}"/>
              </a:ext>
            </a:extLst>
          </p:cNvPr>
          <p:cNvSpPr/>
          <p:nvPr/>
        </p:nvSpPr>
        <p:spPr>
          <a:xfrm>
            <a:off x="8026400" y="43434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4F6340A1-D0FE-A307-4ECF-F076A76B3714}"/>
              </a:ext>
            </a:extLst>
          </p:cNvPr>
          <p:cNvSpPr/>
          <p:nvPr/>
        </p:nvSpPr>
        <p:spPr>
          <a:xfrm>
            <a:off x="8128000" y="44958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4F94608-D5B1-F174-1314-C7D71421F155}"/>
              </a:ext>
            </a:extLst>
          </p:cNvPr>
          <p:cNvSpPr txBox="1"/>
          <p:nvPr/>
        </p:nvSpPr>
        <p:spPr>
          <a:xfrm>
            <a:off x="8839200" y="4406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연동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성능 개선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2BE5199-C83E-3EC9-1EA6-E20BBF839446}"/>
              </a:ext>
            </a:extLst>
          </p:cNvPr>
          <p:cNvSpPr txBox="1"/>
          <p:nvPr/>
        </p:nvSpPr>
        <p:spPr>
          <a:xfrm>
            <a:off x="8839200" y="4610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인스턴스 재사용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0.68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63E5F2B7-DD45-EA97-DA57-BD4D06EB0107}"/>
              </a:ext>
            </a:extLst>
          </p:cNvPr>
          <p:cNvSpPr/>
          <p:nvPr/>
        </p:nvSpPr>
        <p:spPr>
          <a:xfrm>
            <a:off x="8026400" y="4902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3C4AA558-C693-EA7D-21EA-4B01F6561C28}"/>
              </a:ext>
            </a:extLst>
          </p:cNvPr>
          <p:cNvSpPr/>
          <p:nvPr/>
        </p:nvSpPr>
        <p:spPr>
          <a:xfrm>
            <a:off x="8128000" y="5054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6E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6B72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팀원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630C583-C63D-C763-4CF5-D93428304273}"/>
              </a:ext>
            </a:extLst>
          </p:cNvPr>
          <p:cNvSpPr txBox="1"/>
          <p:nvPr/>
        </p:nvSpPr>
        <p:spPr>
          <a:xfrm>
            <a:off x="8839200" y="4965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IRAC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체인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React UI</a:t>
            </a:r>
            <a:endParaRPr lang="ko-KR" altLang="en-US" sz="95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45F7CEB-8C2A-F39D-FE72-FF4037BB2305}"/>
              </a:ext>
            </a:extLst>
          </p:cNvPr>
          <p:cNvSpPr txBox="1"/>
          <p:nvPr/>
        </p:nvSpPr>
        <p:spPr>
          <a:xfrm>
            <a:off x="8839200" y="5168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구현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E1413C0-3689-4906-B308-99C779B94156}"/>
              </a:ext>
            </a:extLst>
          </p:cNvPr>
          <p:cNvSpPr txBox="1"/>
          <p:nvPr/>
        </p:nvSpPr>
        <p:spPr>
          <a:xfrm>
            <a:off x="508000" y="553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단계 공통 </a:t>
            </a:r>
            <a:r>
              <a:rPr lang="en-US" altLang="ko-KR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— </a:t>
            </a:r>
            <a:r>
              <a:rPr lang="ko-KR" altLang="en-US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관리 </a:t>
            </a:r>
            <a:r>
              <a:rPr lang="en-US" altLang="ko-KR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(PM)</a:t>
            </a:r>
            <a:endParaRPr lang="ko-KR" altLang="en-US" sz="100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DEF96920-E3B1-DE06-F561-FF22F5E02A18}"/>
              </a:ext>
            </a:extLst>
          </p:cNvPr>
          <p:cNvSpPr/>
          <p:nvPr/>
        </p:nvSpPr>
        <p:spPr>
          <a:xfrm>
            <a:off x="50800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DB1ED0E-020D-3FCC-0939-5B528244329F}"/>
              </a:ext>
            </a:extLst>
          </p:cNvPr>
          <p:cNvSpPr txBox="1"/>
          <p:nvPr/>
        </p:nvSpPr>
        <p:spPr>
          <a:xfrm>
            <a:off x="635000" y="5829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 </a:t>
            </a:r>
            <a:r>
              <a:rPr lang="en-US" altLang="ko-KR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 관리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F85E5DE-1342-6562-C549-3208911E2E11}"/>
              </a:ext>
            </a:extLst>
          </p:cNvPr>
          <p:cNvSpPr txBox="1"/>
          <p:nvPr/>
        </p:nvSpPr>
        <p:spPr>
          <a:xfrm>
            <a:off x="635000" y="60198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 단위 회의 </a:t>
            </a:r>
            <a:r>
              <a:rPr lang="en-US" altLang="ko-KR" sz="8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Notion WBS/</a:t>
            </a:r>
            <a:r>
              <a:rPr lang="ko-KR" altLang="en-US" sz="800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간트</a:t>
            </a:r>
            <a:endParaRPr lang="ko-KR" altLang="en-US" sz="800" dirty="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5901F62-479B-4B53-8A07-C4DFE6410822}"/>
              </a:ext>
            </a:extLst>
          </p:cNvPr>
          <p:cNvSpPr/>
          <p:nvPr/>
        </p:nvSpPr>
        <p:spPr>
          <a:xfrm>
            <a:off x="333375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7E8FA87-AE8A-B093-6522-0D66A5E67980}"/>
              </a:ext>
            </a:extLst>
          </p:cNvPr>
          <p:cNvSpPr txBox="1"/>
          <p:nvPr/>
        </p:nvSpPr>
        <p:spPr>
          <a:xfrm>
            <a:off x="3460750" y="5829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확인된 진척만 반영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517E001-C696-022E-FC44-2DA3B0476272}"/>
              </a:ext>
            </a:extLst>
          </p:cNvPr>
          <p:cNvSpPr txBox="1"/>
          <p:nvPr/>
        </p:nvSpPr>
        <p:spPr>
          <a:xfrm>
            <a:off x="3460750" y="60198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 상태 교차 검증 절차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C8622E18-14D1-F8F7-2A15-140A8C1631B7}"/>
              </a:ext>
            </a:extLst>
          </p:cNvPr>
          <p:cNvSpPr/>
          <p:nvPr/>
        </p:nvSpPr>
        <p:spPr>
          <a:xfrm>
            <a:off x="615950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E9B9381-745A-8500-509A-3B9B37A5592F}"/>
              </a:ext>
            </a:extLst>
          </p:cNvPr>
          <p:cNvSpPr txBox="1"/>
          <p:nvPr/>
        </p:nvSpPr>
        <p:spPr>
          <a:xfrm>
            <a:off x="6286500" y="5829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 합류 온보딩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D4C243D-E691-3A50-875E-CB41B05F0C57}"/>
              </a:ext>
            </a:extLst>
          </p:cNvPr>
          <p:cNvSpPr txBox="1"/>
          <p:nvPr/>
        </p:nvSpPr>
        <p:spPr>
          <a:xfrm>
            <a:off x="6286500" y="60198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Notion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pg_dump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스키마 공유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00613E23-50DD-72E2-EC71-CA1CF7A54601}"/>
              </a:ext>
            </a:extLst>
          </p:cNvPr>
          <p:cNvSpPr/>
          <p:nvPr/>
        </p:nvSpPr>
        <p:spPr>
          <a:xfrm>
            <a:off x="898525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7DC6FBA-03A3-C6CA-E999-4EA7D09DB789}"/>
              </a:ext>
            </a:extLst>
          </p:cNvPr>
          <p:cNvSpPr txBox="1"/>
          <p:nvPr/>
        </p:nvSpPr>
        <p:spPr>
          <a:xfrm>
            <a:off x="9112250" y="5829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성과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EEB8E2D-8671-C728-AC61-D5E6982438EB}"/>
              </a:ext>
            </a:extLst>
          </p:cNvPr>
          <p:cNvSpPr txBox="1"/>
          <p:nvPr/>
        </p:nvSpPr>
        <p:spPr>
          <a:xfrm>
            <a:off x="9112250" y="60198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중간평가 상위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30% 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산출물 제출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F64EBCD9-7DD7-0BF5-FC60-F8A00850F4CA}"/>
              </a:ext>
            </a:extLst>
          </p:cNvPr>
          <p:cNvSpPr/>
          <p:nvPr/>
        </p:nvSpPr>
        <p:spPr>
          <a:xfrm>
            <a:off x="609600" y="3368695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9568F1A7-E0E3-28A0-96D2-068FB494E022}"/>
              </a:ext>
            </a:extLst>
          </p:cNvPr>
          <p:cNvSpPr/>
          <p:nvPr/>
        </p:nvSpPr>
        <p:spPr>
          <a:xfrm>
            <a:off x="609600" y="395097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A856ABB9-B851-D41D-3964-6128607E00F0}"/>
              </a:ext>
            </a:extLst>
          </p:cNvPr>
          <p:cNvSpPr/>
          <p:nvPr/>
        </p:nvSpPr>
        <p:spPr>
          <a:xfrm>
            <a:off x="609600" y="449477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6E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6B72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팀원</a:t>
            </a:r>
          </a:p>
        </p:txBody>
      </p:sp>
      <p:sp>
        <p:nvSpPr>
          <p:cNvPr id="17" name="Rounded Rectangle 5">
            <a:extLst>
              <a:ext uri="{FF2B5EF4-FFF2-40B4-BE49-F238E27FC236}">
                <a16:creationId xmlns:a16="http://schemas.microsoft.com/office/drawing/2014/main" id="{6A25CA78-BDA9-1C65-F1D6-525BDE20AC74}"/>
              </a:ext>
            </a:extLst>
          </p:cNvPr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56333E-B1A5-48CC-1CBA-28B5E7034BE7}"/>
              </a:ext>
            </a:extLst>
          </p:cNvPr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BB8A6405-40C6-6C9F-C718-724E79A54BDD}"/>
              </a:ext>
            </a:extLst>
          </p:cNvPr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C4B8583-F52A-548F-CCB1-CDAD7E757EE6}"/>
              </a:ext>
            </a:extLst>
          </p:cNvPr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95" name="Rounded Rectangle 9">
            <a:extLst>
              <a:ext uri="{FF2B5EF4-FFF2-40B4-BE49-F238E27FC236}">
                <a16:creationId xmlns:a16="http://schemas.microsoft.com/office/drawing/2014/main" id="{972CB31B-CFA0-58CF-272B-C03E7BE540D4}"/>
              </a:ext>
            </a:extLst>
          </p:cNvPr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3D20923-EB8D-94E2-C24C-A1510DDE4E50}"/>
              </a:ext>
            </a:extLst>
          </p:cNvPr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97" name="Rounded Rectangle 11">
            <a:extLst>
              <a:ext uri="{FF2B5EF4-FFF2-40B4-BE49-F238E27FC236}">
                <a16:creationId xmlns:a16="http://schemas.microsoft.com/office/drawing/2014/main" id="{09E20630-0BCA-0D2B-8836-EFE3A3287908}"/>
              </a:ext>
            </a:extLst>
          </p:cNvPr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417596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21945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29260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32918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58521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62179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69494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73152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24358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0" y="0"/>
            <a:ext cx="48768" cy="6858000"/>
          </a:xfrm>
          <a:prstGeom prst="rect">
            <a:avLst/>
          </a:prstGeom>
          <a:solidFill>
            <a:srgbClr val="A07850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87680" y="243840"/>
            <a:ext cx="54864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3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7333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53440" y="3048000"/>
            <a:ext cx="4267200" cy="0"/>
          </a:xfrm>
          <a:prstGeom prst="line">
            <a:avLst/>
          </a:prstGeom>
          <a:noFill/>
          <a:ln w="10160">
            <a:solidFill>
              <a:srgbClr val="A0785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53440" y="323088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My Task Pilot — AI Agent 업무 자동화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53440" y="426720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2026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한이음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드림업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겸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졸업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프로젝트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· Team404 (3인) · Data/AI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담당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DB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설계·관리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RAG·멀티모달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467" b="0" i="1" u="none" strike="noStrike" kern="1200" cap="none" spc="0" normalizeH="0" baseline="0" noProof="0" dirty="0" err="1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파이프라인</a:t>
            </a:r>
            <a:r>
              <a:rPr kumimoji="0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· 2026.04 </a:t>
            </a:r>
            <a:r>
              <a:rPr kumimoji="0" lang="en-US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~ </a:t>
            </a:r>
            <a:r>
              <a:rPr kumimoji="0" lang="ko-KR" altLang="en-US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진행중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1643360" y="6461760"/>
            <a:ext cx="426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4E4E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맑은 고딕"/>
                <a:ea typeface="맑은 고딕"/>
              </a:rPr>
              <a:t>PROJECT 02  ·  MY TASK PILOT  ·  상황 / 해결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1F24"/>
                </a:solidFill>
                <a:latin typeface="맑은 고딕"/>
                <a:ea typeface="맑은 고딕"/>
              </a:rPr>
              <a:t>MyTaskPilot </a:t>
            </a:r>
            <a:r>
              <a:rPr sz="2000" b="1" i="0">
                <a:solidFill>
                  <a:srgbClr val="808080"/>
                </a:solidFill>
                <a:latin typeface="맑은 고딕"/>
                <a:ea typeface="맑은 고딕"/>
              </a:rPr>
              <a:t>&gt; AI Agent 업무 자동화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1173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텍스트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음성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(STT) ·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이미지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(OCR)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입력을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분석해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일정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이메일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· 할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일을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자동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등록하는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개인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업무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비서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서비스</a:t>
            </a:r>
            <a:endParaRPr sz="1200" b="1" i="1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전예원  |  Data Engineer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1417320"/>
            <a:ext cx="11173968" cy="7315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1527048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46504"/>
            <a:ext cx="2788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2026 한이음 드림업 + 졸업 프로젝트 · Team404 · 3인 · 2026.04~10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52704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본인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746504"/>
            <a:ext cx="28346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Data / AI — DB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설계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관리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, RAG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멀티모달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파이프라인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,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문서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총괄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6248" y="1527048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대상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1746504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반복 업무를 자연어로 처리하려는 개인 사용자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1527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기술 스택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1746504"/>
            <a:ext cx="30175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PostgreSQL +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pgvector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Whisper · GPT-4o-mini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Vision · text-embedding-3-small · AWS EC2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" y="2331720"/>
            <a:ext cx="5440680" cy="35204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251460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505456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1F24"/>
                </a:solidFill>
                <a:latin typeface="맑은 고딕"/>
                <a:ea typeface="맑은 고딕"/>
              </a:rPr>
              <a:t>입력은 비정형, 저장소는 프로토타입 수준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9535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반복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업무가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여러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앱에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흩어져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수작업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처리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일정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등록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· 할 일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정리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이메일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초안을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사용자가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매번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직접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입력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" y="36393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입력이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음성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이미지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자유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텍스트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—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비정형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데이터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그대로는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DB에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저장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조회할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수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없어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텍스트화와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구조화가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먼저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필요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" y="43251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초기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구현은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로컬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SQLite</a:t>
            </a: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다중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사용자 ·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벡터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검색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상시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운영이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필요한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실서비스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요구를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감당하기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어려움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3232" y="50109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AI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오판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시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일정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메일이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잘못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실행될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위험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자동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실행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전에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사용자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승인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(HITL)과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서버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측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권한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검증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필요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45352" y="2331720"/>
            <a:ext cx="544068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46520" y="25146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해결 과제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50545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1F24"/>
                </a:solidFill>
                <a:latin typeface="맑은 고딕"/>
                <a:ea typeface="맑은 고딕"/>
              </a:rPr>
              <a:t>비정형 입력을 신뢰할 수 있는 데이터로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29718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9535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비정형 입력의 정형화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음성 · 이미지 · 텍스트를 일정 / 할 일 / 메일 레코드로 변환하는 파이프라인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36576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6393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운영형 데이터 모델로 전환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SQLite → PostgreSQL + pgvector, users 중심 6 테이블 설계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43434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43251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개인화 RAG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사용자 이력을 임베딩해 유사 이력 top-3를 응답에 반영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50292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010912"/>
            <a:ext cx="4617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운영 DB 신뢰성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클라우드 운영 DB와 설계 문서 일치, 권한 우회 취약점 차단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4" y="5989320"/>
            <a:ext cx="11173968" cy="384048"/>
          </a:xfrm>
          <a:prstGeom prst="roundRect">
            <a:avLst>
              <a:gd name="adj" fmla="val 6000"/>
            </a:avLst>
          </a:prstGeom>
          <a:solidFill>
            <a:srgbClr val="FB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182880" bIns="27432" rtlCol="0" anchor="ctr"/>
          <a:lstStyle/>
          <a:p>
            <a:pPr algn="l"/>
            <a:r>
              <a:rPr sz="850" b="1" i="0">
                <a:solidFill>
                  <a:srgbClr val="C8102E"/>
                </a:solidFill>
                <a:latin typeface="맑은 고딕"/>
                <a:ea typeface="맑은 고딕"/>
              </a:rPr>
              <a:t>NEXT  </a:t>
            </a:r>
            <a:r>
              <a:rPr sz="950" b="1" i="0">
                <a:solidFill>
                  <a:srgbClr val="1B1F24"/>
                </a:solidFill>
                <a:latin typeface="맑은 고딕"/>
                <a:ea typeface="맑은 고딕"/>
              </a:rPr>
              <a:t>액션 ①  비정형 데이터 파이프라인 · AWS EC2   ›   액션 ②  운영 DB 정합성 · 보안 검증   ›   결과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73968" y="655624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8FFA-ECBF-3B85-9339-BF16EF9D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B1EFC9-7832-7715-6C1B-34AB35668B83}"/>
              </a:ext>
            </a:extLst>
          </p:cNvPr>
          <p:cNvSpPr txBox="1"/>
          <p:nvPr/>
        </p:nvSpPr>
        <p:spPr>
          <a:xfrm>
            <a:off x="512064" y="32918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8102E"/>
                </a:solidFill>
                <a:latin typeface="맑은 고딕"/>
                <a:ea typeface="맑은 고딕"/>
              </a:rPr>
              <a:t>PROJECT 02  ·  MY TASK PILOT  ·  액션 ① 데이터 파이프라인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865F7-09BD-9B62-B91B-F9CEC6009C3E}"/>
              </a:ext>
            </a:extLst>
          </p:cNvPr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1F24"/>
                </a:solidFill>
                <a:latin typeface="맑은 고딕"/>
                <a:ea typeface="맑은 고딕"/>
              </a:rPr>
              <a:t>MyTaskPilot </a:t>
            </a:r>
            <a:r>
              <a:rPr sz="2000" b="1" i="0">
                <a:solidFill>
                  <a:srgbClr val="808080"/>
                </a:solidFill>
                <a:latin typeface="맑은 고딕"/>
                <a:ea typeface="맑은 고딕"/>
              </a:rPr>
              <a:t>&gt; 비정형 데이터 파이프라인 · AWS EC2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B88E8F-DC65-4C66-EDF1-1B7316EAD235}"/>
              </a:ext>
            </a:extLst>
          </p:cNvPr>
          <p:cNvSpPr txBox="1"/>
          <p:nvPr/>
        </p:nvSpPr>
        <p:spPr>
          <a:xfrm>
            <a:off x="512064" y="1014984"/>
            <a:ext cx="11173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음성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이미지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자유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텍스트를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정형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레코드와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벡터로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바꿔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저장하고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,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상시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운영이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필요한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DB ·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벡터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검색은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EC2에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구성</a:t>
            </a:r>
            <a:endParaRPr sz="1200" b="1" i="1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568D8-A34F-0EA4-D9BD-8A838BA04AF7}"/>
              </a:ext>
            </a:extLst>
          </p:cNvPr>
          <p:cNvSpPr txBox="1"/>
          <p:nvPr/>
        </p:nvSpPr>
        <p:spPr>
          <a:xfrm>
            <a:off x="512064" y="655624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전예원  |  Data Engineer Portfolio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98A607-220C-529C-138A-CDECDE81DB8F}"/>
              </a:ext>
            </a:extLst>
          </p:cNvPr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4BB296-1183-5AC6-556B-5B20162B1045}"/>
              </a:ext>
            </a:extLst>
          </p:cNvPr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17ADF45-D290-47B5-0E48-0D76C0512B4D}"/>
              </a:ext>
            </a:extLst>
          </p:cNvPr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0A93F5-5E57-72A4-3E31-3B5B0910C5FA}"/>
              </a:ext>
            </a:extLst>
          </p:cNvPr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7E19821-A963-9767-05B7-F02B647F1E75}"/>
              </a:ext>
            </a:extLst>
          </p:cNvPr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940AB-CF20-7B63-8119-D58E73B853F8}"/>
              </a:ext>
            </a:extLst>
          </p:cNvPr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A9071F-7ECF-8CC3-97E6-B0435AD31129}"/>
              </a:ext>
            </a:extLst>
          </p:cNvPr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E5373-B4BF-1C86-C962-94A2A5D537CC}"/>
              </a:ext>
            </a:extLst>
          </p:cNvPr>
          <p:cNvSpPr txBox="1"/>
          <p:nvPr/>
        </p:nvSpPr>
        <p:spPr>
          <a:xfrm>
            <a:off x="512064" y="14173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1F24"/>
                </a:solidFill>
                <a:latin typeface="맑은 고딕"/>
                <a:ea typeface="맑은 고딕"/>
              </a:rPr>
              <a:t>비정형 데이터 파이프라인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BBF1D206-7CFC-E92C-7742-368973861A42}"/>
              </a:ext>
            </a:extLst>
          </p:cNvPr>
          <p:cNvSpPr/>
          <p:nvPr/>
        </p:nvSpPr>
        <p:spPr>
          <a:xfrm rot="5400000">
            <a:off x="858217" y="1449240"/>
            <a:ext cx="566928" cy="1193006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endParaRPr sz="10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985046-39D7-5E37-4270-CB00BD31BD11}"/>
              </a:ext>
            </a:extLst>
          </p:cNvPr>
          <p:cNvSpPr/>
          <p:nvPr/>
        </p:nvSpPr>
        <p:spPr>
          <a:xfrm>
            <a:off x="1939351" y="1783080"/>
            <a:ext cx="5467289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l"/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텍스트 · 음성 · 이미지 — 형식이 제각각인 비정형 입력</a:t>
            </a:r>
          </a:p>
          <a:p>
            <a:pPr algn="l"/>
            <a:r>
              <a:rPr sz="880" b="0" i="0">
                <a:solidFill>
                  <a:srgbClr val="5F6670"/>
                </a:solidFill>
                <a:latin typeface="맑은 고딕"/>
                <a:ea typeface="맑은 고딕"/>
              </a:rPr>
              <a:t>채팅 텍스트, 음성 녹음, 일정 캡처 · 문서 사진을 하나의 입력 채널로 수용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FC4B0F6A-B8C7-E71E-88DE-8157757F81F6}"/>
              </a:ext>
            </a:extLst>
          </p:cNvPr>
          <p:cNvSpPr/>
          <p:nvPr/>
        </p:nvSpPr>
        <p:spPr>
          <a:xfrm rot="5400000">
            <a:off x="858217" y="2107608"/>
            <a:ext cx="566928" cy="1193006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endParaRPr sz="10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2707642-5F08-820C-BE04-528F61741D18}"/>
              </a:ext>
            </a:extLst>
          </p:cNvPr>
          <p:cNvSpPr/>
          <p:nvPr/>
        </p:nvSpPr>
        <p:spPr>
          <a:xfrm>
            <a:off x="1939351" y="2441448"/>
            <a:ext cx="5467289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l"/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Whisper STT · GPT-4o-mini Vision OCR</a:t>
            </a:r>
          </a:p>
          <a:p>
            <a:pPr algn="l"/>
            <a:r>
              <a:rPr sz="880" b="0" i="0">
                <a:solidFill>
                  <a:srgbClr val="5F6670"/>
                </a:solidFill>
                <a:latin typeface="맑은 고딕"/>
                <a:ea typeface="맑은 고딕"/>
              </a:rPr>
              <a:t>음성 · 이미지를 텍스트로 변환, 샘플 입력으로 STT / OCR 정확도 검증</a:t>
            </a:r>
          </a:p>
        </p:txBody>
      </p:sp>
      <p:sp>
        <p:nvSpPr>
          <p:cNvPr id="18" name="Pentagon 17">
            <a:extLst>
              <a:ext uri="{FF2B5EF4-FFF2-40B4-BE49-F238E27FC236}">
                <a16:creationId xmlns:a16="http://schemas.microsoft.com/office/drawing/2014/main" id="{1A21EAE4-EB36-5292-6997-C3A3AB57FC84}"/>
              </a:ext>
            </a:extLst>
          </p:cNvPr>
          <p:cNvSpPr/>
          <p:nvPr/>
        </p:nvSpPr>
        <p:spPr>
          <a:xfrm rot="5400000">
            <a:off x="858217" y="2765975"/>
            <a:ext cx="566928" cy="1193006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endParaRPr sz="10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6FC4081-B468-9449-2CCD-CFF0E7BE0C66}"/>
              </a:ext>
            </a:extLst>
          </p:cNvPr>
          <p:cNvSpPr/>
          <p:nvPr/>
        </p:nvSpPr>
        <p:spPr>
          <a:xfrm>
            <a:off x="1939351" y="3099815"/>
            <a:ext cx="5467289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l"/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Function Calling 의도 분류 → 필드 추출 → HITL 승인</a:t>
            </a:r>
          </a:p>
          <a:p>
            <a:pPr algn="l"/>
            <a:r>
              <a:rPr sz="880" b="0" i="0">
                <a:solidFill>
                  <a:srgbClr val="5F6670"/>
                </a:solidFill>
                <a:latin typeface="맑은 고딕"/>
                <a:ea typeface="맑은 고딕"/>
              </a:rPr>
              <a:t>일정 / 할 일 / 메일 의도와 제목 · 일시 등 필드를 JSON으로 추출, 사용자 승인 후 확정</a:t>
            </a:r>
          </a:p>
        </p:txBody>
      </p:sp>
      <p:sp>
        <p:nvSpPr>
          <p:cNvPr id="20" name="Pentagon 19">
            <a:extLst>
              <a:ext uri="{FF2B5EF4-FFF2-40B4-BE49-F238E27FC236}">
                <a16:creationId xmlns:a16="http://schemas.microsoft.com/office/drawing/2014/main" id="{CD62EDDF-9E72-3834-3DE4-1D381AC003DD}"/>
              </a:ext>
            </a:extLst>
          </p:cNvPr>
          <p:cNvSpPr/>
          <p:nvPr/>
        </p:nvSpPr>
        <p:spPr>
          <a:xfrm rot="5400000">
            <a:off x="858217" y="3424343"/>
            <a:ext cx="566928" cy="1193006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endParaRPr sz="10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BF16C54-A43B-3103-5F00-E12EEA7A9AE9}"/>
              </a:ext>
            </a:extLst>
          </p:cNvPr>
          <p:cNvSpPr/>
          <p:nvPr/>
        </p:nvSpPr>
        <p:spPr>
          <a:xfrm>
            <a:off x="1939351" y="3758183"/>
            <a:ext cx="5467289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l"/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PostgreSQL 6 테이블 (users 중심)</a:t>
            </a:r>
          </a:p>
          <a:p>
            <a:pPr algn="l"/>
            <a:r>
              <a:rPr sz="880" b="0" i="0">
                <a:solidFill>
                  <a:srgbClr val="5F6670"/>
                </a:solidFill>
                <a:latin typeface="맑은 고딕"/>
                <a:ea typeface="맑은 고딕"/>
              </a:rPr>
              <a:t>schedules · todos · email_drafts에 저장, agent_executions에 실행 이력 기록</a:t>
            </a: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559C8A53-F717-C45B-CD3E-4E4F3AD72616}"/>
              </a:ext>
            </a:extLst>
          </p:cNvPr>
          <p:cNvSpPr/>
          <p:nvPr/>
        </p:nvSpPr>
        <p:spPr>
          <a:xfrm rot="5400000">
            <a:off x="858217" y="4082711"/>
            <a:ext cx="566928" cy="1193006"/>
          </a:xfrm>
          <a:prstGeom prst="homePlat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l"/>
            <a:endParaRPr sz="10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024B151-16DD-4403-75DF-C9C714523664}"/>
              </a:ext>
            </a:extLst>
          </p:cNvPr>
          <p:cNvSpPr/>
          <p:nvPr/>
        </p:nvSpPr>
        <p:spPr>
          <a:xfrm>
            <a:off x="1939351" y="4416551"/>
            <a:ext cx="5467289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27432" rIns="137160" bIns="27432" rtlCol="0" anchor="ctr"/>
          <a:lstStyle/>
          <a:p>
            <a:pPr algn="l"/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text-embedding-3-small (1536차원) → pgvector</a:t>
            </a:r>
          </a:p>
          <a:p>
            <a:pPr algn="l"/>
            <a:r>
              <a:rPr sz="880" b="0" i="0">
                <a:solidFill>
                  <a:srgbClr val="5F6670"/>
                </a:solidFill>
                <a:latin typeface="맑은 고딕"/>
                <a:ea typeface="맑은 고딕"/>
              </a:rPr>
              <a:t>user_embeddings에 저장, 코사인 유사도 top-3 이력을 응답에 반영해 개인화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27B499-37B0-7F1B-398A-1F84147B4873}"/>
              </a:ext>
            </a:extLst>
          </p:cNvPr>
          <p:cNvSpPr txBox="1"/>
          <p:nvPr/>
        </p:nvSpPr>
        <p:spPr>
          <a:xfrm>
            <a:off x="512064" y="5120640"/>
            <a:ext cx="6858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2F5597"/>
                </a:solidFill>
                <a:latin typeface="맑은 고딕"/>
                <a:ea typeface="맑은 고딕"/>
              </a:rPr>
              <a:t>■ 본인 주도 (저장 · 벡터 스키마)   </a:t>
            </a:r>
            <a:r>
              <a:rPr sz="800" b="1" i="0">
                <a:solidFill>
                  <a:srgbClr val="8FAADC"/>
                </a:solidFill>
                <a:latin typeface="맑은 고딕"/>
                <a:ea typeface="맑은 고딕"/>
              </a:rPr>
              <a:t>■ 기획 · 검증 참여   </a:t>
            </a:r>
            <a:r>
              <a:rPr sz="800" b="1" i="0">
                <a:solidFill>
                  <a:srgbClr val="9AA0A8"/>
                </a:solidFill>
                <a:latin typeface="맑은 고딕"/>
                <a:ea typeface="맑은 고딕"/>
              </a:rPr>
              <a:t>■ 팀원 구현 · 본인 연동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10BE1C9-4A3D-31E5-0C99-9BC20D66561B}"/>
              </a:ext>
            </a:extLst>
          </p:cNvPr>
          <p:cNvSpPr/>
          <p:nvPr/>
        </p:nvSpPr>
        <p:spPr>
          <a:xfrm>
            <a:off x="512064" y="544068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F9BE12-4855-147F-24A6-27DB47B67573}"/>
              </a:ext>
            </a:extLst>
          </p:cNvPr>
          <p:cNvSpPr txBox="1"/>
          <p:nvPr/>
        </p:nvSpPr>
        <p:spPr>
          <a:xfrm>
            <a:off x="512064" y="553212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맑은 고딕"/>
                <a:ea typeface="맑은 고딕"/>
              </a:rPr>
              <a:t>226건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1A801B-E133-B9B9-FBCD-2B10ED0461D2}"/>
              </a:ext>
            </a:extLst>
          </p:cNvPr>
          <p:cNvSpPr txBox="1"/>
          <p:nvPr/>
        </p:nvSpPr>
        <p:spPr>
          <a:xfrm>
            <a:off x="512064" y="594360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합성 검증 데이터 · 페르소나 3종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DCD05D7-F8C5-D0B4-A458-20C1CABC55E1}"/>
              </a:ext>
            </a:extLst>
          </p:cNvPr>
          <p:cNvSpPr/>
          <p:nvPr/>
        </p:nvSpPr>
        <p:spPr>
          <a:xfrm>
            <a:off x="2834640" y="544068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D49D9B-11A8-527B-C2B5-93F0BD3C89DA}"/>
              </a:ext>
            </a:extLst>
          </p:cNvPr>
          <p:cNvSpPr txBox="1"/>
          <p:nvPr/>
        </p:nvSpPr>
        <p:spPr>
          <a:xfrm>
            <a:off x="2834640" y="553212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맑은 고딕"/>
                <a:ea typeface="맑은 고딕"/>
              </a:rPr>
              <a:t>0.1~0.2초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F5D644-0C8B-7C0C-25E2-7BC834A87195}"/>
              </a:ext>
            </a:extLst>
          </p:cNvPr>
          <p:cNvSpPr txBox="1"/>
          <p:nvPr/>
        </p:nvSpPr>
        <p:spPr>
          <a:xfrm>
            <a:off x="2834640" y="594360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pgvector 유사도 검색 (테스트)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CD80700-5871-DD9E-6A74-6B6F837AAF34}"/>
              </a:ext>
            </a:extLst>
          </p:cNvPr>
          <p:cNvSpPr/>
          <p:nvPr/>
        </p:nvSpPr>
        <p:spPr>
          <a:xfrm>
            <a:off x="5157216" y="5440680"/>
            <a:ext cx="221284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81382B-1B30-9984-9475-0670CA284F0A}"/>
              </a:ext>
            </a:extLst>
          </p:cNvPr>
          <p:cNvSpPr txBox="1"/>
          <p:nvPr/>
        </p:nvSpPr>
        <p:spPr>
          <a:xfrm>
            <a:off x="5157216" y="5532120"/>
            <a:ext cx="22128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C8102E"/>
                </a:solidFill>
                <a:latin typeface="맑은 고딕"/>
                <a:ea typeface="맑은 고딕"/>
              </a:rPr>
              <a:t>6 테이블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1443E1-A939-F8DC-16D6-5D7A1FF375F8}"/>
              </a:ext>
            </a:extLst>
          </p:cNvPr>
          <p:cNvSpPr txBox="1"/>
          <p:nvPr/>
        </p:nvSpPr>
        <p:spPr>
          <a:xfrm>
            <a:off x="5157216" y="594360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정형 레코드 · 실행 이력 · 임베딩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89B6E92-BD5E-0652-ABCA-D1B0529C37EF}"/>
              </a:ext>
            </a:extLst>
          </p:cNvPr>
          <p:cNvSpPr/>
          <p:nvPr/>
        </p:nvSpPr>
        <p:spPr>
          <a:xfrm>
            <a:off x="7680960" y="1417320"/>
            <a:ext cx="4005072" cy="4937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F63907-A99C-7708-0ED5-F0B3B65E8166}"/>
              </a:ext>
            </a:extLst>
          </p:cNvPr>
          <p:cNvSpPr txBox="1"/>
          <p:nvPr/>
        </p:nvSpPr>
        <p:spPr>
          <a:xfrm>
            <a:off x="7882127" y="15544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B1F24"/>
                </a:solidFill>
                <a:latin typeface="맑은 고딕"/>
                <a:ea typeface="맑은 고딕"/>
              </a:rPr>
              <a:t>왜 클라우드(AWS EC2)인가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91CE45-C8C1-CD9B-1A23-609E64539E29}"/>
              </a:ext>
            </a:extLst>
          </p:cNvPr>
          <p:cNvSpPr txBox="1"/>
          <p:nvPr/>
        </p:nvSpPr>
        <p:spPr>
          <a:xfrm>
            <a:off x="7882127" y="18470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" b="0" i="0">
                <a:solidFill>
                  <a:srgbClr val="5F6670"/>
                </a:solidFill>
                <a:latin typeface="맑은 고딕"/>
                <a:ea typeface="맑은 고딕"/>
              </a:rPr>
              <a:t>로컬 SQLite 프로토타입 → 상시 운영 클라우드 DB로 전환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FF7C3D5-F5BD-C25B-4A86-B5B9F77BD13C}"/>
              </a:ext>
            </a:extLst>
          </p:cNvPr>
          <p:cNvSpPr/>
          <p:nvPr/>
        </p:nvSpPr>
        <p:spPr>
          <a:xfrm>
            <a:off x="7882127" y="2231136"/>
            <a:ext cx="292608" cy="292608"/>
          </a:xfrm>
          <a:prstGeom prst="ellipse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B4B1EB6-19C7-B43F-4840-8F32656E2C7A}"/>
              </a:ext>
            </a:extLst>
          </p:cNvPr>
          <p:cNvSpPr txBox="1"/>
          <p:nvPr/>
        </p:nvSpPr>
        <p:spPr>
          <a:xfrm>
            <a:off x="8293608" y="2212848"/>
            <a:ext cx="3246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pgvector 확장을 직접 설치 · 제어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PostgreSQL 버전과 vector 확장을 직접 설치 · 관리할 수 있는 서버 환경이 필요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FF2F079-285D-22B8-7840-326CD7E5D0F8}"/>
              </a:ext>
            </a:extLst>
          </p:cNvPr>
          <p:cNvSpPr/>
          <p:nvPr/>
        </p:nvSpPr>
        <p:spPr>
          <a:xfrm>
            <a:off x="7882127" y="2990088"/>
            <a:ext cx="292608" cy="292608"/>
          </a:xfrm>
          <a:prstGeom prst="ellipse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5F8D61-AD71-C651-801B-264397C1A2CF}"/>
              </a:ext>
            </a:extLst>
          </p:cNvPr>
          <p:cNvSpPr txBox="1"/>
          <p:nvPr/>
        </p:nvSpPr>
        <p:spPr>
          <a:xfrm>
            <a:off x="8293608" y="2971800"/>
            <a:ext cx="3246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24시간 접속되는 실서비스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mytaskpilot.kr 도메인 · Nginx · HTTPS, Google OAuth 콜백 등 상시 응답 서버 필요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427D9DA-601C-5A91-EA8E-A48411D8546F}"/>
              </a:ext>
            </a:extLst>
          </p:cNvPr>
          <p:cNvSpPr/>
          <p:nvPr/>
        </p:nvSpPr>
        <p:spPr>
          <a:xfrm>
            <a:off x="7882127" y="3749039"/>
            <a:ext cx="292608" cy="292608"/>
          </a:xfrm>
          <a:prstGeom prst="ellipse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9DF8BA-9673-B226-9AF9-1FD5AE0A13C3}"/>
              </a:ext>
            </a:extLst>
          </p:cNvPr>
          <p:cNvSpPr txBox="1"/>
          <p:nvPr/>
        </p:nvSpPr>
        <p:spPr>
          <a:xfrm>
            <a:off x="8293608" y="3730752"/>
            <a:ext cx="3246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팀 공용 단일 운영 DB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3인이 같은 DB를 기준으로 개발하고, SSH · psql로 운영 스키마를 직접 검증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9663794-B970-CC92-AE97-322ECF3B6D83}"/>
              </a:ext>
            </a:extLst>
          </p:cNvPr>
          <p:cNvSpPr/>
          <p:nvPr/>
        </p:nvSpPr>
        <p:spPr>
          <a:xfrm>
            <a:off x="7882127" y="4507992"/>
            <a:ext cx="292608" cy="292608"/>
          </a:xfrm>
          <a:prstGeom prst="ellipse">
            <a:avLst/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950" b="1" i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40F828-21B3-E81F-E319-C336E15B1855}"/>
              </a:ext>
            </a:extLst>
          </p:cNvPr>
          <p:cNvSpPr txBox="1"/>
          <p:nvPr/>
        </p:nvSpPr>
        <p:spPr>
          <a:xfrm>
            <a:off x="8293608" y="4489704"/>
            <a:ext cx="324612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1" i="0">
                <a:solidFill>
                  <a:srgbClr val="1B1F24"/>
                </a:solidFill>
                <a:latin typeface="맑은 고딕"/>
                <a:ea typeface="맑은 고딕"/>
              </a:rPr>
              <a:t>작게 시작해 필요 시 확장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소규모 인스턴스로 비용을 관리하고, 부하에 맞춰 사양을 조정할 수 있는 구조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F0EF66B-6711-6BE5-7ABD-073B653A3C3E}"/>
              </a:ext>
            </a:extLst>
          </p:cNvPr>
          <p:cNvSpPr/>
          <p:nvPr/>
        </p:nvSpPr>
        <p:spPr>
          <a:xfrm>
            <a:off x="7882127" y="5349240"/>
            <a:ext cx="360273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rIns="128016" bIns="27432" rtlCol="0" anchor="ctr"/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2F5597"/>
                </a:solidFill>
                <a:latin typeface="맑은 고딕"/>
                <a:ea typeface="맑은 고딕"/>
              </a:rPr>
              <a:t>본인 수행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B1F24"/>
                </a:solidFill>
                <a:latin typeface="맑은 고딕"/>
                <a:ea typeface="맑은 고딕"/>
              </a:rPr>
              <a:t>EC2 Ubuntu에 PostgreSQL + pgvector 설치 → SQLite 스키마 · 데이터 마이그레이션 → SSH · psql로 운영 스키마 전수 대조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554D872-8635-E88D-1F35-6BA249430502}"/>
              </a:ext>
            </a:extLst>
          </p:cNvPr>
          <p:cNvSpPr txBox="1"/>
          <p:nvPr/>
        </p:nvSpPr>
        <p:spPr>
          <a:xfrm>
            <a:off x="11173968" y="655624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BE0ED9-CFC3-B2BD-F481-B38D7B767859}"/>
              </a:ext>
            </a:extLst>
          </p:cNvPr>
          <p:cNvSpPr txBox="1"/>
          <p:nvPr/>
        </p:nvSpPr>
        <p:spPr>
          <a:xfrm>
            <a:off x="629534" y="1878554"/>
            <a:ext cx="1026270" cy="352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ea typeface="맑은 고딕"/>
              </a:rPr>
              <a:t>입력 수집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C04BF9-63D2-9B5F-C26C-A987C04B1F6E}"/>
              </a:ext>
            </a:extLst>
          </p:cNvPr>
          <p:cNvSpPr txBox="1"/>
          <p:nvPr/>
        </p:nvSpPr>
        <p:spPr>
          <a:xfrm>
            <a:off x="629534" y="2540262"/>
            <a:ext cx="1026270" cy="352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ea typeface="맑은 고딕"/>
              </a:rPr>
              <a:t>텍스트화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F9A773-210D-2163-F06D-ACC8C2EE8414}"/>
              </a:ext>
            </a:extLst>
          </p:cNvPr>
          <p:cNvSpPr txBox="1"/>
          <p:nvPr/>
        </p:nvSpPr>
        <p:spPr>
          <a:xfrm>
            <a:off x="629534" y="3212400"/>
            <a:ext cx="1026270" cy="352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ea typeface="맑은 고딕"/>
              </a:rPr>
              <a:t>구조화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F506ED4-F44E-CD15-963D-50338432FCDA}"/>
              </a:ext>
            </a:extLst>
          </p:cNvPr>
          <p:cNvSpPr txBox="1"/>
          <p:nvPr/>
        </p:nvSpPr>
        <p:spPr>
          <a:xfrm>
            <a:off x="629534" y="3854605"/>
            <a:ext cx="1026270" cy="352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ea typeface="맑은 고딕"/>
              </a:rPr>
              <a:t>정형 저장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90538B-0FF9-3EC5-40B4-867F464A344F}"/>
              </a:ext>
            </a:extLst>
          </p:cNvPr>
          <p:cNvSpPr txBox="1"/>
          <p:nvPr/>
        </p:nvSpPr>
        <p:spPr>
          <a:xfrm>
            <a:off x="629533" y="4477469"/>
            <a:ext cx="1026271" cy="35266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ea typeface="맑은 고딕"/>
              </a:rPr>
              <a:t>벡터화 </a:t>
            </a:r>
            <a:r>
              <a:rPr lang="en-US" altLang="ko-KR" sz="1200" b="1" dirty="0">
                <a:solidFill>
                  <a:srgbClr val="FFFFFF"/>
                </a:solidFill>
                <a:ea typeface="맑은 고딕"/>
              </a:rPr>
              <a:t>RAG</a:t>
            </a:r>
          </a:p>
        </p:txBody>
      </p:sp>
    </p:spTree>
    <p:extLst>
      <p:ext uri="{BB962C8B-B14F-4D97-AF65-F5344CB8AC3E}">
        <p14:creationId xmlns:p14="http://schemas.microsoft.com/office/powerpoint/2010/main" val="3994803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C8DF5-E516-1905-2DE7-8BD5785CCFA5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02  ·  MY TASK PILOT  ·  액션 ② 운영 DB 검증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D3CAB5-2FA3-A896-3053-84EBA9E54107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2400" b="1" dirty="0" err="1">
                <a:solidFill>
                  <a:srgbClr val="1B1F24"/>
                </a:solidFill>
                <a:latin typeface="맑은 고딕" panose="020B0503020000020004" pitchFamily="50" charset="-127"/>
              </a:rPr>
              <a:t>MyTaskPilot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&gt; 운영 DB 정합성 · 보안 검증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5C16F-104B-EDE3-3355-AFE8AFD33DCE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문서가 아닌 운영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실제 권한 흐름을 기준으로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0E7C5C-8AB3-3B26-CADE-70D1FC5A2CA2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92A945-2E5A-A431-CEEE-1428656BB2F3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90C2B10-467D-C456-BDEC-FFF2E0B05F1D}"/>
              </a:ext>
            </a:extLst>
          </p:cNvPr>
          <p:cNvSpPr/>
          <p:nvPr/>
        </p:nvSpPr>
        <p:spPr>
          <a:xfrm>
            <a:off x="508000" y="14224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1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72BD7-5038-408A-AE7B-DB346AD9100F}"/>
              </a:ext>
            </a:extLst>
          </p:cNvPr>
          <p:cNvSpPr txBox="1"/>
          <p:nvPr/>
        </p:nvSpPr>
        <p:spPr>
          <a:xfrm>
            <a:off x="1270000" y="14224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– </a:t>
            </a:r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운영 </a:t>
            </a:r>
            <a:r>
              <a:rPr lang="en-US" altLang="ko-KR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스키마 불일치 전수 검증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2264D34-F5C2-4686-D92E-154D06D09C55}"/>
              </a:ext>
            </a:extLst>
          </p:cNvPr>
          <p:cNvSpPr/>
          <p:nvPr/>
        </p:nvSpPr>
        <p:spPr>
          <a:xfrm>
            <a:off x="508000" y="17526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5F9F0-9C1A-FFB3-60C2-CA3CFA1A60C4}"/>
              </a:ext>
            </a:extLst>
          </p:cNvPr>
          <p:cNvSpPr txBox="1"/>
          <p:nvPr/>
        </p:nvSpPr>
        <p:spPr>
          <a:xfrm>
            <a:off x="660400" y="1905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803E4-51C1-050A-FBA4-7825BE63880C}"/>
              </a:ext>
            </a:extLst>
          </p:cNvPr>
          <p:cNvSpPr txBox="1"/>
          <p:nvPr/>
        </p:nvSpPr>
        <p:spPr>
          <a:xfrm>
            <a:off x="660400" y="2159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제작설계서 제출 전 최종 점검에서 설계 컬럼과 백엔드 구현 사이 다수 불일치 정황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(agent_executions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vs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컬럼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briefings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 미구현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5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860E4C-1010-1839-6C06-482FD240FA51}"/>
              </a:ext>
            </a:extLst>
          </p:cNvPr>
          <p:cNvSpPr txBox="1"/>
          <p:nvPr/>
        </p:nvSpPr>
        <p:spPr>
          <a:xfrm>
            <a:off x="3136900" y="25908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4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400" b="1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51FFBC1-C7ED-D67A-DCAE-ADE9A554E1D0}"/>
              </a:ext>
            </a:extLst>
          </p:cNvPr>
          <p:cNvSpPr/>
          <p:nvPr/>
        </p:nvSpPr>
        <p:spPr>
          <a:xfrm>
            <a:off x="3365500" y="17526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FD2692-5FE7-4351-3623-E776DD35D57E}"/>
              </a:ext>
            </a:extLst>
          </p:cNvPr>
          <p:cNvSpPr txBox="1"/>
          <p:nvPr/>
        </p:nvSpPr>
        <p:spPr>
          <a:xfrm>
            <a:off x="3517900" y="1905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0091CE-A2A5-F6F9-3750-97B8D6E9CE6F}"/>
              </a:ext>
            </a:extLst>
          </p:cNvPr>
          <p:cNvSpPr txBox="1"/>
          <p:nvPr/>
        </p:nvSpPr>
        <p:spPr>
          <a:xfrm>
            <a:off x="3517900" y="2159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백엔드 담당이 스키마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인증 흐름을 변경할 때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담당에게 즉시 공유되지 않는 구조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 리뷰만으로는 판단 불가한 항목 존재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A2C8D7-301A-4A94-A3D5-A326EB31D650}"/>
              </a:ext>
            </a:extLst>
          </p:cNvPr>
          <p:cNvSpPr txBox="1"/>
          <p:nvPr/>
        </p:nvSpPr>
        <p:spPr>
          <a:xfrm>
            <a:off x="5994400" y="25908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4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400" b="1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C9AB342-7E32-956E-2F3B-578C73ECF770}"/>
              </a:ext>
            </a:extLst>
          </p:cNvPr>
          <p:cNvSpPr/>
          <p:nvPr/>
        </p:nvSpPr>
        <p:spPr>
          <a:xfrm>
            <a:off x="6223000" y="17526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6D9229-BBFC-59AF-E645-58F4838BBF5A}"/>
              </a:ext>
            </a:extLst>
          </p:cNvPr>
          <p:cNvSpPr txBox="1"/>
          <p:nvPr/>
        </p:nvSpPr>
        <p:spPr>
          <a:xfrm>
            <a:off x="6375400" y="1905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1CFBEA-4BD4-EE2C-FFB1-F37245166AD4}"/>
              </a:ext>
            </a:extLst>
          </p:cNvPr>
          <p:cNvSpPr txBox="1"/>
          <p:nvPr/>
        </p:nvSpPr>
        <p:spPr>
          <a:xfrm>
            <a:off x="6375400" y="2159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EC2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서버에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SSH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접속해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psql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테이블을 하나씩 대조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기준으로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 정의서 전면 수정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"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아키텍처 변경은 즉시 문서화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"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원칙 합의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08D7B9-C288-D632-529B-997FBAE0E49A}"/>
              </a:ext>
            </a:extLst>
          </p:cNvPr>
          <p:cNvSpPr txBox="1"/>
          <p:nvPr/>
        </p:nvSpPr>
        <p:spPr>
          <a:xfrm>
            <a:off x="8851900" y="25908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4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400" b="1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9C6D36D-6E81-38BF-7238-A5EAE080A8E4}"/>
              </a:ext>
            </a:extLst>
          </p:cNvPr>
          <p:cNvSpPr/>
          <p:nvPr/>
        </p:nvSpPr>
        <p:spPr>
          <a:xfrm>
            <a:off x="9080500" y="17526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BE9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5826A2-00D8-8D4B-98CD-6A64E9B33A10}"/>
              </a:ext>
            </a:extLst>
          </p:cNvPr>
          <p:cNvSpPr txBox="1"/>
          <p:nvPr/>
        </p:nvSpPr>
        <p:spPr>
          <a:xfrm>
            <a:off x="9232900" y="1905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753652-D274-C516-5D1F-9A3560936504}"/>
              </a:ext>
            </a:extLst>
          </p:cNvPr>
          <p:cNvSpPr txBox="1"/>
          <p:nvPr/>
        </p:nvSpPr>
        <p:spPr>
          <a:xfrm>
            <a:off x="9232900" y="2159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/ 6</a:t>
            </a:r>
            <a:endParaRPr lang="ko-KR" altLang="en-US" b="1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9614F0-9DE1-FD8F-49B1-1B5380E8573B}"/>
              </a:ext>
            </a:extLst>
          </p:cNvPr>
          <p:cNvSpPr txBox="1"/>
          <p:nvPr/>
        </p:nvSpPr>
        <p:spPr>
          <a:xfrm>
            <a:off x="9232900" y="25908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테이블의 문서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스키마 일치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이후 구조 변경 시 즉시 문서화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 기준을 팀에 적용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422D2AE-407C-F129-02FE-BFD5356E597D}"/>
              </a:ext>
            </a:extLst>
          </p:cNvPr>
          <p:cNvSpPr/>
          <p:nvPr/>
        </p:nvSpPr>
        <p:spPr>
          <a:xfrm>
            <a:off x="508000" y="39116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2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07FF2D-BFC6-1E4C-A4F3-D50123CF993C}"/>
              </a:ext>
            </a:extLst>
          </p:cNvPr>
          <p:cNvSpPr txBox="1"/>
          <p:nvPr/>
        </p:nvSpPr>
        <p:spPr>
          <a:xfrm>
            <a:off x="1270000" y="3911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IDOR (</a:t>
            </a:r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 우회</a:t>
            </a:r>
            <a:r>
              <a:rPr lang="en-US" altLang="ko-KR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취약점 발견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56C7752-39B9-AFCE-7E8E-DFD77ECE4002}"/>
              </a:ext>
            </a:extLst>
          </p:cNvPr>
          <p:cNvSpPr/>
          <p:nvPr/>
        </p:nvSpPr>
        <p:spPr>
          <a:xfrm>
            <a:off x="508000" y="42418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F8B7C5-18A0-564A-F05E-57E79DB0F707}"/>
              </a:ext>
            </a:extLst>
          </p:cNvPr>
          <p:cNvSpPr txBox="1"/>
          <p:nvPr/>
        </p:nvSpPr>
        <p:spPr>
          <a:xfrm>
            <a:off x="660400" y="4394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9E21B1-4EED-AEFD-D950-97AA35497F0F}"/>
              </a:ext>
            </a:extLst>
          </p:cNvPr>
          <p:cNvSpPr txBox="1"/>
          <p:nvPr/>
        </p:nvSpPr>
        <p:spPr>
          <a:xfrm>
            <a:off x="660400" y="4648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코드베이스 검토 중 클라이언트가 전달한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user_id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서버가 그대로 신뢰해 처리하는 구조 발견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A20803-7156-46C0-AECD-F6F631C4A0DC}"/>
              </a:ext>
            </a:extLst>
          </p:cNvPr>
          <p:cNvSpPr txBox="1"/>
          <p:nvPr/>
        </p:nvSpPr>
        <p:spPr>
          <a:xfrm>
            <a:off x="3136900" y="50800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4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400" b="1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FC4D6B6-A778-00CF-8AFF-5DD249B2B321}"/>
              </a:ext>
            </a:extLst>
          </p:cNvPr>
          <p:cNvSpPr/>
          <p:nvPr/>
        </p:nvSpPr>
        <p:spPr>
          <a:xfrm>
            <a:off x="3365500" y="42418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EB99B3-A874-9F13-6234-5FD23D72EA63}"/>
              </a:ext>
            </a:extLst>
          </p:cNvPr>
          <p:cNvSpPr txBox="1"/>
          <p:nvPr/>
        </p:nvSpPr>
        <p:spPr>
          <a:xfrm>
            <a:off x="3517900" y="4394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A8A23C-002E-91B8-B68B-3960141C46E9}"/>
              </a:ext>
            </a:extLst>
          </p:cNvPr>
          <p:cNvSpPr txBox="1"/>
          <p:nvPr/>
        </p:nvSpPr>
        <p:spPr>
          <a:xfrm>
            <a:off x="3517900" y="4648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측 사용자 식별이 없어 타 사용자 데이터 접근이 가능한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Insecure Direct Object Reference</a:t>
            </a:r>
            <a:endParaRPr lang="ko-KR" altLang="en-US" sz="85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AE80EF-7A90-DA0E-E3F7-CA3ACF7D1FFC}"/>
              </a:ext>
            </a:extLst>
          </p:cNvPr>
          <p:cNvSpPr txBox="1"/>
          <p:nvPr/>
        </p:nvSpPr>
        <p:spPr>
          <a:xfrm>
            <a:off x="5994400" y="50800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4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400" b="1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AD57FC9-259F-F4AB-30AA-4624C0C770B4}"/>
              </a:ext>
            </a:extLst>
          </p:cNvPr>
          <p:cNvSpPr/>
          <p:nvPr/>
        </p:nvSpPr>
        <p:spPr>
          <a:xfrm>
            <a:off x="6223000" y="42418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D10CD0-E8AF-96A0-C52B-FD4F63E04741}"/>
              </a:ext>
            </a:extLst>
          </p:cNvPr>
          <p:cNvSpPr txBox="1"/>
          <p:nvPr/>
        </p:nvSpPr>
        <p:spPr>
          <a:xfrm>
            <a:off x="6375400" y="4394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C1DD41-CA34-B040-54C2-FB4D39F474E7}"/>
              </a:ext>
            </a:extLst>
          </p:cNvPr>
          <p:cNvSpPr txBox="1"/>
          <p:nvPr/>
        </p:nvSpPr>
        <p:spPr>
          <a:xfrm>
            <a:off x="6375400" y="4648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팀에 즉시 공유 → 서버가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JWT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사용자를 직접 식별하고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권한 없는 요청은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403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반환하도록 전 엔드포인트에 방어 로직 적용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D0D27A-7B48-AC93-3859-1F7F6FD46095}"/>
              </a:ext>
            </a:extLst>
          </p:cNvPr>
          <p:cNvSpPr txBox="1"/>
          <p:nvPr/>
        </p:nvSpPr>
        <p:spPr>
          <a:xfrm>
            <a:off x="8851900" y="5080000"/>
            <a:ext cx="20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4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400" b="1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9623348-60C2-C9F4-EE55-DB48B11F9FD0}"/>
              </a:ext>
            </a:extLst>
          </p:cNvPr>
          <p:cNvSpPr/>
          <p:nvPr/>
        </p:nvSpPr>
        <p:spPr>
          <a:xfrm>
            <a:off x="9080500" y="4241800"/>
            <a:ext cx="2603500" cy="1905000"/>
          </a:xfrm>
          <a:prstGeom prst="roundRect">
            <a:avLst>
              <a:gd name="adj" fmla="val 4667"/>
            </a:avLst>
          </a:prstGeom>
          <a:solidFill>
            <a:srgbClr val="FBE9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DEF701-0E44-501F-15C6-58C30C848EF1}"/>
              </a:ext>
            </a:extLst>
          </p:cNvPr>
          <p:cNvSpPr txBox="1"/>
          <p:nvPr/>
        </p:nvSpPr>
        <p:spPr>
          <a:xfrm>
            <a:off x="9232900" y="4394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0262E0A-47CE-2665-5C74-775A2E3F2332}"/>
              </a:ext>
            </a:extLst>
          </p:cNvPr>
          <p:cNvSpPr txBox="1"/>
          <p:nvPr/>
        </p:nvSpPr>
        <p:spPr>
          <a:xfrm>
            <a:off x="9232900" y="46482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 엔드포인트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15E96A-9C8D-7F2B-164E-BDE453E44E46}"/>
              </a:ext>
            </a:extLst>
          </p:cNvPr>
          <p:cNvSpPr txBox="1"/>
          <p:nvPr/>
        </p:nvSpPr>
        <p:spPr>
          <a:xfrm>
            <a:off x="9232900" y="5080000"/>
            <a:ext cx="2298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서버 측 권한 검증 체계 확보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refresh_token AES-256-GCM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암호화에도 기여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267252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PROJECT 02  ·  MY TASK PILOT  · 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결과</a:t>
            </a:r>
            <a:endParaRPr sz="900" b="1" i="0" dirty="0">
              <a:solidFill>
                <a:srgbClr val="C8102E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MyTaskPilot</a:t>
            </a:r>
            <a:r>
              <a:rPr sz="24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2000" b="1" i="0" dirty="0">
                <a:solidFill>
                  <a:srgbClr val="808080"/>
                </a:solidFill>
                <a:latin typeface="맑은 고딕"/>
                <a:ea typeface="맑은 고딕"/>
              </a:rPr>
              <a:t>&gt; </a:t>
            </a:r>
            <a:r>
              <a:rPr sz="2000" b="1" i="0" dirty="0" err="1">
                <a:solidFill>
                  <a:srgbClr val="808080"/>
                </a:solidFill>
                <a:latin typeface="맑은 고딕"/>
                <a:ea typeface="맑은 고딕"/>
              </a:rPr>
              <a:t>결과</a:t>
            </a:r>
            <a:r>
              <a:rPr sz="2000" b="1" i="0" dirty="0">
                <a:solidFill>
                  <a:srgbClr val="808080"/>
                </a:solidFill>
                <a:latin typeface="맑은 고딕"/>
                <a:ea typeface="맑은 고딕"/>
              </a:rPr>
              <a:t> · </a:t>
            </a:r>
            <a:r>
              <a:rPr sz="2000" b="1" i="0" dirty="0" err="1">
                <a:solidFill>
                  <a:srgbClr val="808080"/>
                </a:solidFill>
                <a:latin typeface="맑은 고딕"/>
                <a:ea typeface="맑은 고딕"/>
              </a:rPr>
              <a:t>서비스</a:t>
            </a:r>
            <a:r>
              <a:rPr sz="2000" b="1" i="0" dirty="0">
                <a:solidFill>
                  <a:srgbClr val="808080"/>
                </a:solidFill>
                <a:latin typeface="맑은 고딕"/>
                <a:ea typeface="맑은 고딕"/>
              </a:rPr>
              <a:t> </a:t>
            </a:r>
            <a:r>
              <a:rPr sz="2000" b="1" i="0" dirty="0" err="1">
                <a:solidFill>
                  <a:srgbClr val="808080"/>
                </a:solidFill>
                <a:latin typeface="맑은 고딕"/>
                <a:ea typeface="맑은 고딕"/>
              </a:rPr>
              <a:t>화면</a:t>
            </a:r>
            <a:endParaRPr sz="2000" b="1" i="0" dirty="0">
              <a:solidFill>
                <a:srgbClr val="808080"/>
              </a:solidFill>
              <a:latin typeface="맑은 고딕"/>
              <a:ea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1173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기능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12개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항목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100%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구현과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실서비스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배포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,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설계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문서와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운영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DB 6개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테이블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완전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일치</a:t>
            </a:r>
            <a:endParaRPr sz="1200" b="1" i="1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전예원  |  Data Engineer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1F24"/>
                </a:solidFill>
                <a:latin typeface="맑은 고딕"/>
                <a:ea typeface="맑은 고딕"/>
              </a:rPr>
              <a:t>12 /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기능 100% 구현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2680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92680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1F24"/>
                </a:solidFill>
                <a:latin typeface="맑은 고딕"/>
                <a:ea typeface="맑은 고딕"/>
              </a:rPr>
              <a:t>6 테이블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PostgreSQL 데이터 모델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3296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3296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B1F24"/>
                </a:solidFill>
                <a:latin typeface="맑은 고딕"/>
                <a:ea typeface="맑은 고딕"/>
              </a:rPr>
              <a:t>1536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9016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pgvector 임베딩 차원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53912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8102E"/>
                </a:solidFill>
                <a:latin typeface="맑은 고딕"/>
                <a:ea typeface="맑은 고딕"/>
              </a:rPr>
              <a:t>226건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합성 검증 데이터 · 페르소나 3종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4528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34528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8102E"/>
                </a:solidFill>
                <a:latin typeface="맑은 고딕"/>
                <a:ea typeface="맑은 고딕"/>
              </a:rPr>
              <a:t>0.1~0.2초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80248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유사도 검색 (테스트 환경)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15144" y="1417320"/>
            <a:ext cx="1770888" cy="8686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15144" y="1527048"/>
            <a:ext cx="177088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C8102E"/>
                </a:solidFill>
                <a:latin typeface="맑은 고딕"/>
                <a:ea typeface="맑은 고딕"/>
              </a:rPr>
              <a:t>6 /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0864" y="1947672"/>
            <a:ext cx="167944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F6670"/>
                </a:solidFill>
                <a:latin typeface="맑은 고딕"/>
                <a:ea typeface="맑은 고딕"/>
              </a:rPr>
              <a:t>운영 DB 대조 완료 테이블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2468880"/>
            <a:ext cx="324612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94944" y="265176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264261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1F24"/>
                </a:solidFill>
                <a:latin typeface="맑은 고딕"/>
                <a:ea typeface="맑은 고딕"/>
              </a:rPr>
              <a:t>데이터를 믿을 수 있는 서비스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3072384"/>
            <a:ext cx="2880360" cy="1792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www.mytaskpilot.kr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실서비스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배포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음성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이미지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입력이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일정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· 할 일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메일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레코드로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저장되는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파이프라인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완성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운영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DB 6개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테이블과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ERD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테이블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정의서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일치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,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변경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즉시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문서화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원칙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합의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IDOR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취약점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공유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→ 전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엔드포인트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서버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측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권한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검증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적용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개발보고서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21p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제작설계서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53p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총괄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,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중간평가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b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</a:br>
            <a:r>
              <a:rPr lang="en-US"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상위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30% ·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장려상</a:t>
            </a:r>
            <a:r>
              <a:rPr sz="950" b="0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1B1F24"/>
                </a:solidFill>
                <a:latin typeface="맑은 고딕"/>
                <a:ea typeface="맑은 고딕"/>
              </a:rPr>
              <a:t>후보</a:t>
            </a:r>
            <a:endParaRPr sz="950" b="0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5072" y="2670048"/>
            <a:ext cx="1839738" cy="3675887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36" name="Rounded Rectangle 35"/>
          <p:cNvSpPr/>
          <p:nvPr/>
        </p:nvSpPr>
        <p:spPr>
          <a:xfrm>
            <a:off x="4330581" y="248716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AI 채팅</a:t>
            </a:r>
          </a:p>
        </p:txBody>
      </p:sp>
      <p:pic>
        <p:nvPicPr>
          <p:cNvPr id="37" name="Picture 36" descr="imag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27690" y="2670048"/>
            <a:ext cx="1764354" cy="3675887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38" name="Rounded Rectangle 37"/>
          <p:cNvSpPr/>
          <p:nvPr/>
        </p:nvSpPr>
        <p:spPr>
          <a:xfrm>
            <a:off x="6315507" y="248716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일정 등록</a:t>
            </a:r>
          </a:p>
        </p:txBody>
      </p:sp>
      <p:pic>
        <p:nvPicPr>
          <p:cNvPr id="39" name="Picture 38" descr="imag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974924" y="2670048"/>
            <a:ext cx="1697944" cy="3675887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40" name="Rounded Rectangle 39"/>
          <p:cNvSpPr/>
          <p:nvPr/>
        </p:nvSpPr>
        <p:spPr>
          <a:xfrm>
            <a:off x="8229536" y="248716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AI 메일 작성</a:t>
            </a:r>
          </a:p>
        </p:txBody>
      </p:sp>
      <p:pic>
        <p:nvPicPr>
          <p:cNvPr id="41" name="Picture 40" descr="image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855748" y="2670048"/>
            <a:ext cx="1868456" cy="3675887"/>
          </a:xfrm>
          <a:prstGeom prst="rect">
            <a:avLst/>
          </a:prstGeom>
          <a:ln w="9525">
            <a:solidFill>
              <a:srgbClr val="D9DCE1"/>
            </a:solidFill>
          </a:ln>
        </p:spPr>
      </p:pic>
      <p:sp>
        <p:nvSpPr>
          <p:cNvPr id="42" name="Rounded Rectangle 41"/>
          <p:cNvSpPr/>
          <p:nvPr/>
        </p:nvSpPr>
        <p:spPr>
          <a:xfrm>
            <a:off x="10195616" y="2487168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5F6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메일 검토 / 전송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73968" y="655624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993579-5355-486D-303C-BBDC3D042489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b="1" dirty="0">
                <a:solidFill>
                  <a:srgbClr val="C8102E"/>
                </a:solidFill>
                <a:ea typeface="맑은 고딕"/>
              </a:rPr>
              <a:t>PROJECT 02  ·  MY TASK PILOT  ·  </a:t>
            </a:r>
            <a:r>
              <a:rPr lang="ko-KR" altLang="en-US" sz="900" b="1" dirty="0">
                <a:solidFill>
                  <a:srgbClr val="C8102E"/>
                </a:solidFill>
                <a:ea typeface="맑은 고딕"/>
              </a:rPr>
              <a:t>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E7E114-EE8F-5D0B-3754-B0DADEB2DD32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2400" b="1" dirty="0" err="1">
                <a:solidFill>
                  <a:srgbClr val="1B1F24"/>
                </a:solidFill>
                <a:latin typeface="맑은 고딕" panose="020B0503020000020004" pitchFamily="50" charset="-127"/>
              </a:rPr>
              <a:t>MyTaskPilot</a:t>
            </a:r>
            <a:r>
              <a:rPr lang="en-US" altLang="ko-KR" sz="2400" b="1" dirty="0">
                <a:solidFill>
                  <a:srgbClr val="1B1F24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프로젝트 수행 및 산출물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31E6F-E0D5-1106-92E9-66191AEDB822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모델과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RAG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검증을 중심으로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문서와 운영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일치까지 책임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4AA52-A961-7EAA-5A79-B2D4EB233534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8D64E7-BA44-329C-B7CC-0C72A073811E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FAA03C18-522F-501F-1BB1-33825DCA40FF}"/>
              </a:ext>
            </a:extLst>
          </p:cNvPr>
          <p:cNvSpPr/>
          <p:nvPr/>
        </p:nvSpPr>
        <p:spPr>
          <a:xfrm>
            <a:off x="508000" y="1422400"/>
            <a:ext cx="3657600" cy="558800"/>
          </a:xfrm>
          <a:prstGeom prst="homePlate">
            <a:avLst/>
          </a:prstGeom>
          <a:solidFill>
            <a:srgbClr val="7F7F7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B22E151-56F9-040F-E90D-609AB32B50FB}"/>
              </a:ext>
            </a:extLst>
          </p:cNvPr>
          <p:cNvSpPr/>
          <p:nvPr/>
        </p:nvSpPr>
        <p:spPr>
          <a:xfrm>
            <a:off x="5080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DF9640A-A831-7067-6B22-B4C04C2D2FF6}"/>
              </a:ext>
            </a:extLst>
          </p:cNvPr>
          <p:cNvSpPr/>
          <p:nvPr/>
        </p:nvSpPr>
        <p:spPr>
          <a:xfrm>
            <a:off x="6096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B9E440-EFFF-E15B-D3B6-9FF845058A3D}"/>
              </a:ext>
            </a:extLst>
          </p:cNvPr>
          <p:cNvSpPr txBox="1"/>
          <p:nvPr/>
        </p:nvSpPr>
        <p:spPr>
          <a:xfrm>
            <a:off x="13208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정의서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9EB78-DB73-38E0-5492-72D1A5B33D9C}"/>
              </a:ext>
            </a:extLst>
          </p:cNvPr>
          <p:cNvSpPr txBox="1"/>
          <p:nvPr/>
        </p:nvSpPr>
        <p:spPr>
          <a:xfrm>
            <a:off x="13208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 일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이메일 이력 저장 범위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050D7FC-D461-D919-4744-B1C56F2F4018}"/>
              </a:ext>
            </a:extLst>
          </p:cNvPr>
          <p:cNvSpPr/>
          <p:nvPr/>
        </p:nvSpPr>
        <p:spPr>
          <a:xfrm>
            <a:off x="5080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AD380CB-33BD-1ED7-5012-B44252F74F4C}"/>
              </a:ext>
            </a:extLst>
          </p:cNvPr>
          <p:cNvSpPr/>
          <p:nvPr/>
        </p:nvSpPr>
        <p:spPr>
          <a:xfrm>
            <a:off x="6096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521A6C-7600-3A04-6D8D-9F02E132AD78}"/>
              </a:ext>
            </a:extLst>
          </p:cNvPr>
          <p:cNvSpPr txBox="1"/>
          <p:nvPr/>
        </p:nvSpPr>
        <p:spPr>
          <a:xfrm>
            <a:off x="13208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시나리오 정의서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DFB2B0-C20D-FE9F-6A7F-193920769EA6}"/>
              </a:ext>
            </a:extLst>
          </p:cNvPr>
          <p:cNvSpPr txBox="1"/>
          <p:nvPr/>
        </p:nvSpPr>
        <p:spPr>
          <a:xfrm>
            <a:off x="13208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 기반 사용 시나리오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5FC5EBD-71F7-0613-59E7-7E211ABB0EAD}"/>
              </a:ext>
            </a:extLst>
          </p:cNvPr>
          <p:cNvSpPr/>
          <p:nvPr/>
        </p:nvSpPr>
        <p:spPr>
          <a:xfrm>
            <a:off x="5080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1EBB6F4-0DDF-AA75-3293-FC4DC8561CC9}"/>
              </a:ext>
            </a:extLst>
          </p:cNvPr>
          <p:cNvSpPr/>
          <p:nvPr/>
        </p:nvSpPr>
        <p:spPr>
          <a:xfrm>
            <a:off x="609600" y="33782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780C94-602F-D88B-141E-BE11390AC905}"/>
              </a:ext>
            </a:extLst>
          </p:cNvPr>
          <p:cNvSpPr txBox="1"/>
          <p:nvPr/>
        </p:nvSpPr>
        <p:spPr>
          <a:xfrm>
            <a:off x="13208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요구사항 정의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5C952B-5090-6E17-C61D-49B0367C6BED}"/>
              </a:ext>
            </a:extLst>
          </p:cNvPr>
          <p:cNvSpPr txBox="1"/>
          <p:nvPr/>
        </p:nvSpPr>
        <p:spPr>
          <a:xfrm>
            <a:off x="13208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기능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HITL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원칙</a:t>
            </a:r>
          </a:p>
        </p:txBody>
      </p:sp>
      <p:sp>
        <p:nvSpPr>
          <p:cNvPr id="20" name="화살표: 갈매기형 수장 19">
            <a:extLst>
              <a:ext uri="{FF2B5EF4-FFF2-40B4-BE49-F238E27FC236}">
                <a16:creationId xmlns:a16="http://schemas.microsoft.com/office/drawing/2014/main" id="{B2FDB048-23CC-B1FD-9B3E-680756ABEF75}"/>
              </a:ext>
            </a:extLst>
          </p:cNvPr>
          <p:cNvSpPr/>
          <p:nvPr/>
        </p:nvSpPr>
        <p:spPr>
          <a:xfrm>
            <a:off x="4267200" y="1422400"/>
            <a:ext cx="3657600" cy="558800"/>
          </a:xfrm>
          <a:prstGeom prst="chevron">
            <a:avLst/>
          </a:prstGeom>
          <a:solidFill>
            <a:srgbClr val="7F7F7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359AE9D-0044-AB5D-BF09-A7FF002BB2B1}"/>
              </a:ext>
            </a:extLst>
          </p:cNvPr>
          <p:cNvSpPr/>
          <p:nvPr/>
        </p:nvSpPr>
        <p:spPr>
          <a:xfrm>
            <a:off x="42672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E9C836A-668E-CB35-3E68-A284F9B28235}"/>
              </a:ext>
            </a:extLst>
          </p:cNvPr>
          <p:cNvSpPr/>
          <p:nvPr/>
        </p:nvSpPr>
        <p:spPr>
          <a:xfrm>
            <a:off x="43688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BEF34E-DD20-2B30-9467-46BD6F6E5845}"/>
              </a:ext>
            </a:extLst>
          </p:cNvPr>
          <p:cNvSpPr txBox="1"/>
          <p:nvPr/>
        </p:nvSpPr>
        <p:spPr>
          <a:xfrm>
            <a:off x="50800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· 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테이블정의서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F584F1-E07C-CD05-67B8-DDF05677E67A}"/>
              </a:ext>
            </a:extLst>
          </p:cNvPr>
          <p:cNvSpPr txBox="1"/>
          <p:nvPr/>
        </p:nvSpPr>
        <p:spPr>
          <a:xfrm>
            <a:off x="50800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users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테이블 관계 설계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09BEC2F-04E5-1A28-E5AA-0879C6D6CB0B}"/>
              </a:ext>
            </a:extLst>
          </p:cNvPr>
          <p:cNvSpPr/>
          <p:nvPr/>
        </p:nvSpPr>
        <p:spPr>
          <a:xfrm>
            <a:off x="42672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496D397-6043-10EF-4EE4-6A08ACE5C01C}"/>
              </a:ext>
            </a:extLst>
          </p:cNvPr>
          <p:cNvSpPr/>
          <p:nvPr/>
        </p:nvSpPr>
        <p:spPr>
          <a:xfrm>
            <a:off x="43688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11C64B-8547-FE5D-3410-ED3CA784B19C}"/>
              </a:ext>
            </a:extLst>
          </p:cNvPr>
          <p:cNvSpPr txBox="1"/>
          <p:nvPr/>
        </p:nvSpPr>
        <p:spPr>
          <a:xfrm>
            <a:off x="50800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 dirty="0" err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pgvector</a:t>
            </a: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스키마 설계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20C95F-D6AB-F6DC-08C9-139B10D4C4F0}"/>
              </a:ext>
            </a:extLst>
          </p:cNvPr>
          <p:cNvSpPr txBox="1"/>
          <p:nvPr/>
        </p:nvSpPr>
        <p:spPr>
          <a:xfrm>
            <a:off x="50800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vector(1536) 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코사인 유사도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A6BCC04-F1C0-F59E-020B-4105EBE4867B}"/>
              </a:ext>
            </a:extLst>
          </p:cNvPr>
          <p:cNvSpPr/>
          <p:nvPr/>
        </p:nvSpPr>
        <p:spPr>
          <a:xfrm>
            <a:off x="42672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CA73B5A-8858-A7B8-9032-879AB36AB72F}"/>
              </a:ext>
            </a:extLst>
          </p:cNvPr>
          <p:cNvSpPr/>
          <p:nvPr/>
        </p:nvSpPr>
        <p:spPr>
          <a:xfrm>
            <a:off x="4368800" y="33782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212A00-F24D-2633-2CEB-FFB742FFF8D4}"/>
              </a:ext>
            </a:extLst>
          </p:cNvPr>
          <p:cNvSpPr txBox="1"/>
          <p:nvPr/>
        </p:nvSpPr>
        <p:spPr>
          <a:xfrm>
            <a:off x="50800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RAG 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개인화 설계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714AD3-9B72-5E17-3F0E-9F5C3EAF4EDD}"/>
              </a:ext>
            </a:extLst>
          </p:cNvPr>
          <p:cNvSpPr txBox="1"/>
          <p:nvPr/>
        </p:nvSpPr>
        <p:spPr>
          <a:xfrm>
            <a:off x="50800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text-embedding-3-small · top-3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반영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E426F41-AE8D-3356-9248-B5961F70B340}"/>
              </a:ext>
            </a:extLst>
          </p:cNvPr>
          <p:cNvSpPr/>
          <p:nvPr/>
        </p:nvSpPr>
        <p:spPr>
          <a:xfrm>
            <a:off x="4267200" y="37846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949FC65-2603-E41A-D4D8-9E460BEBB27C}"/>
              </a:ext>
            </a:extLst>
          </p:cNvPr>
          <p:cNvSpPr/>
          <p:nvPr/>
        </p:nvSpPr>
        <p:spPr>
          <a:xfrm>
            <a:off x="4368800" y="39370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C0877A-C67A-372A-29FB-3A06B0651818}"/>
              </a:ext>
            </a:extLst>
          </p:cNvPr>
          <p:cNvSpPr txBox="1"/>
          <p:nvPr/>
        </p:nvSpPr>
        <p:spPr>
          <a:xfrm>
            <a:off x="5080000" y="3848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구성도 </a:t>
            </a: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메뉴 구성도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E019FAA-BE79-F995-D6BB-9CFEB95B94B4}"/>
              </a:ext>
            </a:extLst>
          </p:cNvPr>
          <p:cNvSpPr txBox="1"/>
          <p:nvPr/>
        </p:nvSpPr>
        <p:spPr>
          <a:xfrm>
            <a:off x="5080000" y="4051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→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→ HITL →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 흐름</a:t>
            </a:r>
          </a:p>
        </p:txBody>
      </p:sp>
      <p:sp>
        <p:nvSpPr>
          <p:cNvPr id="37" name="화살표: 갈매기형 수장 36">
            <a:extLst>
              <a:ext uri="{FF2B5EF4-FFF2-40B4-BE49-F238E27FC236}">
                <a16:creationId xmlns:a16="http://schemas.microsoft.com/office/drawing/2014/main" id="{E5CD4373-13FF-90FD-9C8D-D43C1BABB419}"/>
              </a:ext>
            </a:extLst>
          </p:cNvPr>
          <p:cNvSpPr/>
          <p:nvPr/>
        </p:nvSpPr>
        <p:spPr>
          <a:xfrm>
            <a:off x="8026400" y="1422400"/>
            <a:ext cx="3657600" cy="558800"/>
          </a:xfrm>
          <a:prstGeom prst="chevron">
            <a:avLst/>
          </a:prstGeom>
          <a:solidFill>
            <a:srgbClr val="7F7F7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B8D696C-3962-B0D2-90F2-705714447FEF}"/>
              </a:ext>
            </a:extLst>
          </p:cNvPr>
          <p:cNvSpPr/>
          <p:nvPr/>
        </p:nvSpPr>
        <p:spPr>
          <a:xfrm>
            <a:off x="80264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035306A-8B2D-215A-A266-B08FD9AAE62A}"/>
              </a:ext>
            </a:extLst>
          </p:cNvPr>
          <p:cNvSpPr/>
          <p:nvPr/>
        </p:nvSpPr>
        <p:spPr>
          <a:xfrm>
            <a:off x="81280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A3F4AA4-10D7-ED2E-BA22-B700C116007D}"/>
              </a:ext>
            </a:extLst>
          </p:cNvPr>
          <p:cNvSpPr txBox="1"/>
          <p:nvPr/>
        </p:nvSpPr>
        <p:spPr>
          <a:xfrm>
            <a:off x="88392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SQLite → PostgreSQL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5BA1AC-D181-B70A-4352-9D7132AFF428}"/>
              </a:ext>
            </a:extLst>
          </p:cNvPr>
          <p:cNvSpPr txBox="1"/>
          <p:nvPr/>
        </p:nvSpPr>
        <p:spPr>
          <a:xfrm>
            <a:off x="88392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EC2 Ubuntu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설치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스키마 마이그레이션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44FEE8C2-A35C-BFA5-39B3-19552EAF8793}"/>
              </a:ext>
            </a:extLst>
          </p:cNvPr>
          <p:cNvSpPr/>
          <p:nvPr/>
        </p:nvSpPr>
        <p:spPr>
          <a:xfrm>
            <a:off x="80264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51851FC-E161-42F6-EE34-35786E59DB7A}"/>
              </a:ext>
            </a:extLst>
          </p:cNvPr>
          <p:cNvSpPr/>
          <p:nvPr/>
        </p:nvSpPr>
        <p:spPr>
          <a:xfrm>
            <a:off x="81280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1E0A11-2C4A-1C92-1E88-CA7B39DE08C5}"/>
              </a:ext>
            </a:extLst>
          </p:cNvPr>
          <p:cNvSpPr txBox="1"/>
          <p:nvPr/>
        </p:nvSpPr>
        <p:spPr>
          <a:xfrm>
            <a:off x="88392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RAG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DE6CC9-04A5-2A2F-2421-DC054CE65221}"/>
              </a:ext>
            </a:extLst>
          </p:cNvPr>
          <p:cNvSpPr txBox="1"/>
          <p:nvPr/>
        </p:nvSpPr>
        <p:spPr>
          <a:xfrm>
            <a:off x="88392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226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건으로 개인화 동작 검증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43304E3-C6C6-C48E-16DB-228D240D9F9E}"/>
              </a:ext>
            </a:extLst>
          </p:cNvPr>
          <p:cNvSpPr/>
          <p:nvPr/>
        </p:nvSpPr>
        <p:spPr>
          <a:xfrm>
            <a:off x="80264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C5C6A18-EF41-F15A-1F19-46529186757C}"/>
              </a:ext>
            </a:extLst>
          </p:cNvPr>
          <p:cNvSpPr/>
          <p:nvPr/>
        </p:nvSpPr>
        <p:spPr>
          <a:xfrm>
            <a:off x="8128000" y="33782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927821-19FD-F815-4011-CB944594EFA1}"/>
              </a:ext>
            </a:extLst>
          </p:cNvPr>
          <p:cNvSpPr txBox="1"/>
          <p:nvPr/>
        </p:nvSpPr>
        <p:spPr>
          <a:xfrm>
            <a:off x="88392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정합성 전수 검증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31FD07-4588-0B5C-F649-B03BA5AA2773}"/>
              </a:ext>
            </a:extLst>
          </p:cNvPr>
          <p:cNvSpPr txBox="1"/>
          <p:nvPr/>
        </p:nvSpPr>
        <p:spPr>
          <a:xfrm>
            <a:off x="88392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SSH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psql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스키마 대조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정정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61C081EC-4F2D-B0C8-3590-59C66844EB93}"/>
              </a:ext>
            </a:extLst>
          </p:cNvPr>
          <p:cNvSpPr/>
          <p:nvPr/>
        </p:nvSpPr>
        <p:spPr>
          <a:xfrm>
            <a:off x="8026400" y="37846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DFD0C13E-E569-B574-07D1-3F4456E4B2B0}"/>
              </a:ext>
            </a:extLst>
          </p:cNvPr>
          <p:cNvSpPr/>
          <p:nvPr/>
        </p:nvSpPr>
        <p:spPr>
          <a:xfrm>
            <a:off x="8128000" y="39370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◐ 협업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86D76E-29FD-EA9D-44E3-F47EA51EFFA8}"/>
              </a:ext>
            </a:extLst>
          </p:cNvPr>
          <p:cNvSpPr txBox="1"/>
          <p:nvPr/>
        </p:nvSpPr>
        <p:spPr>
          <a:xfrm>
            <a:off x="8839200" y="3848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OCR/STT 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 검증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A92585-036C-3006-E01D-56972D0096FB}"/>
              </a:ext>
            </a:extLst>
          </p:cNvPr>
          <p:cNvSpPr txBox="1"/>
          <p:nvPr/>
        </p:nvSpPr>
        <p:spPr>
          <a:xfrm>
            <a:off x="8839200" y="4051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정확도 검증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IDOR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발견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공유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938E53A2-E79E-308C-86BD-B2B3CF037DB7}"/>
              </a:ext>
            </a:extLst>
          </p:cNvPr>
          <p:cNvSpPr/>
          <p:nvPr/>
        </p:nvSpPr>
        <p:spPr>
          <a:xfrm>
            <a:off x="8026400" y="43434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0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4EF555E8-4FCB-16BE-ACA7-083159283026}"/>
              </a:ext>
            </a:extLst>
          </p:cNvPr>
          <p:cNvSpPr/>
          <p:nvPr/>
        </p:nvSpPr>
        <p:spPr>
          <a:xfrm>
            <a:off x="8128000" y="44958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E6E8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6B72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○ 팀원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230EFD-C035-D04D-173B-A7BF52090D50}"/>
              </a:ext>
            </a:extLst>
          </p:cNvPr>
          <p:cNvSpPr txBox="1"/>
          <p:nvPr/>
        </p:nvSpPr>
        <p:spPr>
          <a:xfrm>
            <a:off x="8839200" y="4406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· API · UI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BA67405-1183-301F-8E92-2374A96384D0}"/>
              </a:ext>
            </a:extLst>
          </p:cNvPr>
          <p:cNvSpPr txBox="1"/>
          <p:nvPr/>
        </p:nvSpPr>
        <p:spPr>
          <a:xfrm>
            <a:off x="8839200" y="4610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Function Calling · React 19</a:t>
            </a:r>
            <a:endParaRPr lang="ko-KR" altLang="en-US" sz="80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F56048-611A-B75B-1136-C882B8205FF9}"/>
              </a:ext>
            </a:extLst>
          </p:cNvPr>
          <p:cNvSpPr txBox="1"/>
          <p:nvPr/>
        </p:nvSpPr>
        <p:spPr>
          <a:xfrm>
            <a:off x="508000" y="5537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정량 성과 </a:t>
            </a:r>
            <a:r>
              <a:rPr lang="en-US" altLang="ko-KR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제출 </a:t>
            </a:r>
            <a:r>
              <a:rPr lang="en-US" altLang="ko-KR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2026.09.07 </a:t>
            </a:r>
            <a:r>
              <a:rPr lang="ko-KR" altLang="en-US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</a:t>
            </a:r>
            <a:r>
              <a:rPr lang="en-US" altLang="ko-KR" sz="10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22C7F26F-CF16-7BF0-1118-999E71E1D903}"/>
              </a:ext>
            </a:extLst>
          </p:cNvPr>
          <p:cNvSpPr/>
          <p:nvPr/>
        </p:nvSpPr>
        <p:spPr>
          <a:xfrm>
            <a:off x="50800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099066-BF69-9DCC-29B3-59CCF53ACC37}"/>
              </a:ext>
            </a:extLst>
          </p:cNvPr>
          <p:cNvSpPr txBox="1"/>
          <p:nvPr/>
        </p:nvSpPr>
        <p:spPr>
          <a:xfrm>
            <a:off x="635000" y="58166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500" b="1" dirty="0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 / 12</a:t>
            </a:r>
            <a:endParaRPr lang="ko-KR" altLang="en-US" sz="1500" b="1" dirty="0">
              <a:solidFill>
                <a:srgbClr val="2F559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5F9E3B-CE00-5951-5B2A-855C990EB6C2}"/>
              </a:ext>
            </a:extLst>
          </p:cNvPr>
          <p:cNvSpPr txBox="1"/>
          <p:nvPr/>
        </p:nvSpPr>
        <p:spPr>
          <a:xfrm>
            <a:off x="635000" y="60960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100%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E37A501B-FA8C-B0EA-7948-EE83EBCD27ED}"/>
              </a:ext>
            </a:extLst>
          </p:cNvPr>
          <p:cNvSpPr/>
          <p:nvPr/>
        </p:nvSpPr>
        <p:spPr>
          <a:xfrm>
            <a:off x="333375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2EACA8-BB77-7A77-3D74-0431FC15B402}"/>
              </a:ext>
            </a:extLst>
          </p:cNvPr>
          <p:cNvSpPr txBox="1"/>
          <p:nvPr/>
        </p:nvSpPr>
        <p:spPr>
          <a:xfrm>
            <a:off x="3460750" y="58166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5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</a:t>
            </a:r>
            <a:r>
              <a:rPr lang="ko-KR" altLang="en-US" sz="15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FA9CA63-C576-E656-DAC0-C85244B39DA2}"/>
              </a:ext>
            </a:extLst>
          </p:cNvPr>
          <p:cNvSpPr txBox="1"/>
          <p:nvPr/>
        </p:nvSpPr>
        <p:spPr>
          <a:xfrm>
            <a:off x="3460750" y="60960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PostgreSQL · pgvector 1536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FF7A59A-6E71-C565-4809-313EC609A472}"/>
              </a:ext>
            </a:extLst>
          </p:cNvPr>
          <p:cNvSpPr/>
          <p:nvPr/>
        </p:nvSpPr>
        <p:spPr>
          <a:xfrm>
            <a:off x="615950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9F9BBD-D582-A148-53AE-6E0E193598AA}"/>
              </a:ext>
            </a:extLst>
          </p:cNvPr>
          <p:cNvSpPr txBox="1"/>
          <p:nvPr/>
        </p:nvSpPr>
        <p:spPr>
          <a:xfrm>
            <a:off x="6286500" y="58166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5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226</a:t>
            </a:r>
            <a:r>
              <a:rPr lang="ko-KR" altLang="en-US" sz="15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6FFB78-E6C8-4573-EAB3-A96B8EF77FC0}"/>
              </a:ext>
            </a:extLst>
          </p:cNvPr>
          <p:cNvSpPr txBox="1"/>
          <p:nvPr/>
        </p:nvSpPr>
        <p:spPr>
          <a:xfrm>
            <a:off x="6286500" y="60960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검증 데이터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페르소나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9C326FCF-7F9C-30D2-863C-0FA6785E38C5}"/>
              </a:ext>
            </a:extLst>
          </p:cNvPr>
          <p:cNvSpPr/>
          <p:nvPr/>
        </p:nvSpPr>
        <p:spPr>
          <a:xfrm>
            <a:off x="8985250" y="5765800"/>
            <a:ext cx="2698750" cy="5588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2E7E0E6-9EB1-F092-C271-ABABC0353EBC}"/>
              </a:ext>
            </a:extLst>
          </p:cNvPr>
          <p:cNvSpPr txBox="1"/>
          <p:nvPr/>
        </p:nvSpPr>
        <p:spPr>
          <a:xfrm>
            <a:off x="9112250" y="58166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5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0.1~0.2</a:t>
            </a:r>
            <a:r>
              <a:rPr lang="ko-KR" altLang="en-US" sz="15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2B5243E-E1F0-D7E5-5684-75B0457FC58D}"/>
              </a:ext>
            </a:extLst>
          </p:cNvPr>
          <p:cNvSpPr txBox="1"/>
          <p:nvPr/>
        </p:nvSpPr>
        <p:spPr>
          <a:xfrm>
            <a:off x="9112250" y="60960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pgvector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유사도 검색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환경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>
              <a:solidFill>
                <a:srgbClr val="5F667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Rounded Rectangle 5">
            <a:extLst>
              <a:ext uri="{FF2B5EF4-FFF2-40B4-BE49-F238E27FC236}">
                <a16:creationId xmlns:a16="http://schemas.microsoft.com/office/drawing/2014/main" id="{6F8DE42F-812C-E5A9-0DD2-2A010A8E5FB6}"/>
              </a:ext>
            </a:extLst>
          </p:cNvPr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C68B163-5DC6-F3B6-33B5-F72775D70C30}"/>
              </a:ext>
            </a:extLst>
          </p:cNvPr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73" name="Rounded Rectangle 7">
            <a:extLst>
              <a:ext uri="{FF2B5EF4-FFF2-40B4-BE49-F238E27FC236}">
                <a16:creationId xmlns:a16="http://schemas.microsoft.com/office/drawing/2014/main" id="{DD5FE991-B081-AAB0-15F4-74991BB71204}"/>
              </a:ext>
            </a:extLst>
          </p:cNvPr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34E9EB-93DD-5177-0CD1-84F64CD8C908}"/>
              </a:ext>
            </a:extLst>
          </p:cNvPr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75" name="Rounded Rectangle 9">
            <a:extLst>
              <a:ext uri="{FF2B5EF4-FFF2-40B4-BE49-F238E27FC236}">
                <a16:creationId xmlns:a16="http://schemas.microsoft.com/office/drawing/2014/main" id="{67F7FF35-3793-0766-0EFB-A787DB5BC9F3}"/>
              </a:ext>
            </a:extLst>
          </p:cNvPr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465DC58-A52A-7C90-E9CA-387A27B1C478}"/>
              </a:ext>
            </a:extLst>
          </p:cNvPr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77" name="Rounded Rectangle 11">
            <a:extLst>
              <a:ext uri="{FF2B5EF4-FFF2-40B4-BE49-F238E27FC236}">
                <a16:creationId xmlns:a16="http://schemas.microsoft.com/office/drawing/2014/main" id="{EE867166-3C72-08C4-63E7-D442E24ADCDF}"/>
              </a:ext>
            </a:extLst>
          </p:cNvPr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329830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3657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0" y="10972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14630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18288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21945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0" y="25603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29260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0" y="32918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0" y="36576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0" y="40233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0" y="43891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51206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0" y="54864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0" y="585216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621792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694944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0" y="7315200"/>
            <a:ext cx="12192000" cy="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315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630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8288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5603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1206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521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179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9494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124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2412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106070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170432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12435840" y="0"/>
            <a:ext cx="0" cy="6858000"/>
          </a:xfrm>
          <a:prstGeom prst="line">
            <a:avLst/>
          </a:prstGeom>
          <a:noFill/>
          <a:ln w="5080">
            <a:solidFill>
              <a:srgbClr val="2A2A2E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0" y="0"/>
            <a:ext cx="48768" cy="6858000"/>
          </a:xfrm>
          <a:prstGeom prst="rect">
            <a:avLst/>
          </a:prstGeom>
          <a:solidFill>
            <a:srgbClr val="A07850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87680" y="243840"/>
            <a:ext cx="5486400" cy="3413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333" b="1" i="0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7333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53440" y="3048000"/>
            <a:ext cx="4267200" cy="0"/>
          </a:xfrm>
          <a:prstGeom prst="line">
            <a:avLst/>
          </a:prstGeom>
          <a:noFill/>
          <a:ln w="10160">
            <a:solidFill>
              <a:srgbClr val="A07850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853440" y="323088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영화 예매 플랫폼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853440" y="4267200"/>
            <a:ext cx="1072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1" u="none" strike="noStrike" kern="1200" cap="none" spc="0" normalizeH="0" baseline="0" noProof="0" dirty="0">
                <a:ln>
                  <a:noFill/>
                </a:ln>
                <a:solidFill>
                  <a:srgbClr val="7171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신용 리스크 예측 모델링 (알고리즘분석) · 영화 예매 플랫폼 (ERD 설계) · 식단 관리 웹 애플리케이션 (데이터 연동)</a:t>
            </a:r>
            <a:endParaRPr kumimoji="0" lang="en-US" sz="14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1643360" y="6461760"/>
            <a:ext cx="426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33" b="0" i="0" u="none" strike="noStrike" kern="1200" cap="none" spc="0" normalizeH="0" baseline="0" noProof="0" dirty="0">
                <a:ln>
                  <a:noFill/>
                </a:ln>
                <a:solidFill>
                  <a:srgbClr val="E4E4E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kumimoji="0" lang="en-US" sz="1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9184"/>
            <a:ext cx="76809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PROJECT 03  · 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영화</a:t>
            </a:r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예매</a:t>
            </a:r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플랫폼</a:t>
            </a:r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  · 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상황</a:t>
            </a:r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 /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해결</a:t>
            </a:r>
            <a:r>
              <a:rPr sz="900" b="1" i="0" dirty="0">
                <a:solidFill>
                  <a:srgbClr val="C8102E"/>
                </a:solidFill>
                <a:latin typeface="맑은 고딕"/>
                <a:ea typeface="맑은 고딕"/>
              </a:rPr>
              <a:t> </a:t>
            </a:r>
            <a:r>
              <a:rPr sz="90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과제</a:t>
            </a:r>
            <a:endParaRPr sz="900" b="1" i="0" dirty="0">
              <a:solidFill>
                <a:srgbClr val="C8102E"/>
              </a:solidFill>
              <a:latin typeface="맑은 고딕"/>
              <a:ea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B1F24"/>
                </a:solidFill>
                <a:latin typeface="맑은 고딕"/>
                <a:ea typeface="맑은 고딕"/>
              </a:rPr>
              <a:t>영화 예매 플랫폼 </a:t>
            </a:r>
            <a:r>
              <a:rPr sz="2000" b="1" i="0">
                <a:solidFill>
                  <a:srgbClr val="808080"/>
                </a:solidFill>
                <a:latin typeface="맑은 고딕"/>
                <a:ea typeface="맑은 고딕"/>
              </a:rPr>
              <a:t>&gt; 표준 기반 데이터 모델링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117396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데이터모델링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교육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직후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,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요구사항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정의부터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논리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물리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ERD, DB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구축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,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예약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기능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구현까지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단독</a:t>
            </a:r>
            <a:r>
              <a:rPr sz="1200" b="1" i="1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1200" b="1" i="1" dirty="0" err="1">
                <a:solidFill>
                  <a:srgbClr val="5F6670"/>
                </a:solidFill>
                <a:latin typeface="맑은 고딕"/>
                <a:ea typeface="맑은 고딕"/>
              </a:rPr>
              <a:t>수행</a:t>
            </a:r>
            <a:endParaRPr sz="1200" b="1" i="1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5084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전예원  |  Data Engineer Portfolio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07424" y="357126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66959" y="357126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 dirty="0" err="1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액션</a:t>
            </a:r>
            <a:endParaRPr sz="850" b="1" i="0" dirty="0">
              <a:solidFill>
                <a:schemeClr val="bg1">
                  <a:lumMod val="65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26495" y="357126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1417320"/>
            <a:ext cx="11173968" cy="7315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152704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구분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46504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3학년 겨울방학 개인 프로젝트 · 2026.01~02 (2개월)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52704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본인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746504"/>
            <a:ext cx="2834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단독 수행 — 요구사항 · 모델링 · DB 구축 · 구현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152704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기술 스택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174650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DA# Modeler · PostgreSQL · Node.js / Express · HTML / 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7776" y="15270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670"/>
                </a:solidFill>
                <a:latin typeface="맑은 고딕"/>
                <a:ea typeface="맑은 고딕"/>
              </a:rPr>
              <a:t>서비스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7776" y="1746504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1F24"/>
                </a:solidFill>
                <a:latin typeface="맑은 고딕"/>
                <a:ea typeface="맑은 고딕"/>
              </a:rPr>
              <a:t>movie-booking-platform-ui.vercel.app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" y="2331720"/>
            <a:ext cx="5440680" cy="25146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13232" y="251460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253901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배운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모델링을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실제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서비스에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적용할</a:t>
            </a:r>
            <a:r>
              <a:rPr sz="11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1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기회</a:t>
            </a:r>
            <a:endParaRPr sz="1150" b="1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" y="295351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데이터모델링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교육을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막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수료한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시점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교육에서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배운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절차를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실제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서비스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설계에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그대로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적용해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보기로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결정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3232" y="3532632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영화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상영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좌석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·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예약이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얽힌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관계형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도메인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관계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설계가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조회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쿼리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복잡도와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예약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정합성을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좌우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3232" y="4111751"/>
            <a:ext cx="5074920" cy="3164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■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화면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개발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경험</a:t>
            </a:r>
            <a:r>
              <a:rPr sz="100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부족</a:t>
            </a:r>
            <a:endParaRPr sz="1000" b="1" i="0" dirty="0">
              <a:solidFill>
                <a:srgbClr val="1B1F24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</a:pPr>
            <a:r>
              <a:rPr lang="en-US"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   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DB ·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백엔드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중심으로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역량을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쌓아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와 UI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구현은</a:t>
            </a:r>
            <a:r>
              <a:rPr sz="95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5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미숙</a:t>
            </a:r>
            <a:endParaRPr sz="95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245352" y="2331720"/>
            <a:ext cx="54406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46520" y="2514600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해결 과제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5390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B1F24"/>
                </a:solidFill>
                <a:latin typeface="맑은 고딕"/>
                <a:ea typeface="맑은 고딕"/>
              </a:rPr>
              <a:t>설계 → 구현을 한 사이클로</a:t>
            </a:r>
          </a:p>
        </p:txBody>
      </p:sp>
      <p:sp>
        <p:nvSpPr>
          <p:cNvPr id="31" name="Oval 30"/>
          <p:cNvSpPr/>
          <p:nvPr/>
        </p:nvSpPr>
        <p:spPr>
          <a:xfrm>
            <a:off x="6446520" y="297180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2953512"/>
            <a:ext cx="4617720" cy="533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표준 기반 모델링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단어 · 도메인 표준 정의 → 논리 ERD → 물리 ERD</a:t>
            </a:r>
          </a:p>
        </p:txBody>
      </p:sp>
      <p:sp>
        <p:nvSpPr>
          <p:cNvPr id="33" name="Oval 32"/>
          <p:cNvSpPr/>
          <p:nvPr/>
        </p:nvSpPr>
        <p:spPr>
          <a:xfrm>
            <a:off x="6446520" y="3550920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532632"/>
            <a:ext cx="4617720" cy="533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무결성 · 조회 성능 확보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FK 제약조건과 조회 조건 기준 인덱스 전략 수립</a:t>
            </a:r>
          </a:p>
        </p:txBody>
      </p:sp>
      <p:sp>
        <p:nvSpPr>
          <p:cNvPr id="35" name="Oval 34"/>
          <p:cNvSpPr/>
          <p:nvPr/>
        </p:nvSpPr>
        <p:spPr>
          <a:xfrm>
            <a:off x="6446520" y="4130039"/>
            <a:ext cx="310896" cy="3108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111751"/>
            <a:ext cx="4617720" cy="533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B1F24"/>
                </a:solidFill>
                <a:latin typeface="맑은 고딕"/>
                <a:ea typeface="맑은 고딕"/>
              </a:rPr>
              <a:t>설계를 기능으로 연결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F6670"/>
                </a:solidFill>
                <a:latin typeface="맑은 고딕"/>
                <a:ea typeface="맑은 고딕"/>
              </a:rPr>
              <a:t>JOIN 기반 예약 · 좌석 쿼리 → API → 화면까지 구현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5072745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 err="1">
                <a:solidFill>
                  <a:srgbClr val="C8102E"/>
                </a:solidFill>
                <a:latin typeface="맑은 고딕"/>
                <a:ea typeface="맑은 고딕"/>
              </a:rPr>
              <a:t>액션</a:t>
            </a:r>
            <a:r>
              <a:rPr sz="1050" b="1" i="0" dirty="0">
                <a:solidFill>
                  <a:srgbClr val="C8102E"/>
                </a:solidFill>
                <a:latin typeface="맑은 고딕"/>
                <a:ea typeface="맑은 고딕"/>
              </a:rPr>
              <a:t> ① </a:t>
            </a:r>
            <a:r>
              <a:rPr sz="10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모델링</a:t>
            </a:r>
            <a:r>
              <a:rPr sz="1050" b="1" i="0" dirty="0">
                <a:solidFill>
                  <a:srgbClr val="1B1F24"/>
                </a:solidFill>
                <a:latin typeface="맑은 고딕"/>
                <a:ea typeface="맑은 고딕"/>
              </a:rPr>
              <a:t> → </a:t>
            </a:r>
            <a:r>
              <a:rPr sz="10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구현</a:t>
            </a:r>
            <a:r>
              <a:rPr sz="1050" b="1" i="0" dirty="0">
                <a:solidFill>
                  <a:srgbClr val="1B1F24"/>
                </a:solidFill>
                <a:latin typeface="맑은 고딕"/>
                <a:ea typeface="맑은 고딕"/>
              </a:rPr>
              <a:t> </a:t>
            </a:r>
            <a:r>
              <a:rPr sz="1050" b="1" i="0" dirty="0" err="1">
                <a:solidFill>
                  <a:srgbClr val="1B1F24"/>
                </a:solidFill>
                <a:latin typeface="맑은 고딕"/>
                <a:ea typeface="맑은 고딕"/>
              </a:rPr>
              <a:t>절차</a:t>
            </a:r>
            <a:endParaRPr sz="1050" b="1" i="0" dirty="0">
              <a:solidFill>
                <a:srgbClr val="1B1F24"/>
              </a:solidFill>
              <a:latin typeface="맑은 고딕"/>
              <a:ea typeface="맑은 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12064" y="5849980"/>
            <a:ext cx="111739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DA#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Modeler로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논리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물리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ERD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설계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→ PostgreSQL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테이블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외래키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인덱스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구축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→ JOIN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기반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예약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·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좌석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쿼리를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Express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API로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연결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,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화면은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AI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프롬프트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기반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바이브코딩으로</a:t>
            </a:r>
            <a:r>
              <a:rPr sz="900" b="0" i="0" dirty="0">
                <a:solidFill>
                  <a:srgbClr val="5F6670"/>
                </a:solidFill>
                <a:latin typeface="맑은 고딕"/>
                <a:ea typeface="맑은 고딕"/>
              </a:rPr>
              <a:t> </a:t>
            </a:r>
            <a:r>
              <a:rPr sz="900" b="0" i="0" dirty="0" err="1">
                <a:solidFill>
                  <a:srgbClr val="5F6670"/>
                </a:solidFill>
                <a:latin typeface="맑은 고딕"/>
                <a:ea typeface="맑은 고딕"/>
              </a:rPr>
              <a:t>구현</a:t>
            </a:r>
            <a:endParaRPr sz="900" b="0" i="0" dirty="0">
              <a:solidFill>
                <a:srgbClr val="5F6670"/>
              </a:solidFill>
              <a:latin typeface="맑은 고딕"/>
              <a:ea typeface="맑은 고딕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1173968" y="6556248"/>
            <a:ext cx="5120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>
                <a:solidFill>
                  <a:srgbClr val="9AA0A8"/>
                </a:solidFill>
                <a:latin typeface="맑은 고딕"/>
                <a:ea typeface="맑은 고딕"/>
              </a:rPr>
              <a:t>14</a:t>
            </a: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882C71E4-5BF3-8EF7-B8C5-F220A775C28E}"/>
              </a:ext>
            </a:extLst>
          </p:cNvPr>
          <p:cNvGrpSpPr/>
          <p:nvPr/>
        </p:nvGrpSpPr>
        <p:grpSpPr>
          <a:xfrm>
            <a:off x="516705" y="5340678"/>
            <a:ext cx="11160617" cy="431800"/>
            <a:chOff x="525414" y="5340678"/>
            <a:chExt cx="9917289" cy="43180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4FC0745E-C81C-498C-0001-82FFF6C5E20D}"/>
                </a:ext>
              </a:extLst>
            </p:cNvPr>
            <p:cNvSpPr/>
            <p:nvPr/>
          </p:nvSpPr>
          <p:spPr>
            <a:xfrm>
              <a:off x="525414" y="5340678"/>
              <a:ext cx="1106311" cy="431800"/>
            </a:xfrm>
            <a:prstGeom prst="roundRect">
              <a:avLst>
                <a:gd name="adj" fmla="val 20588"/>
              </a:avLst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ko-KR" altLang="en-US" sz="1000" b="1" dirty="0">
                  <a:solidFill>
                    <a:srgbClr val="FFFFFF"/>
                  </a:solidFill>
                  <a:ea typeface="맑은 고딕"/>
                </a:rPr>
                <a:t>요구사항 정의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ABB760C-2E26-CDA1-7F99-6C5DB544B4E3}"/>
                </a:ext>
              </a:extLst>
            </p:cNvPr>
            <p:cNvSpPr txBox="1"/>
            <p:nvPr/>
          </p:nvSpPr>
          <p:spPr>
            <a:xfrm>
              <a:off x="1631725" y="5376374"/>
              <a:ext cx="15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>
                  <a:solidFill>
                    <a:srgbClr val="9AA0A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›</a:t>
              </a:r>
              <a:endParaRPr lang="ko-KR" altLang="en-US" sz="20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5837D08-B952-F474-5544-98DBC7FEEA21}"/>
                </a:ext>
              </a:extLst>
            </p:cNvPr>
            <p:cNvSpPr/>
            <p:nvPr/>
          </p:nvSpPr>
          <p:spPr>
            <a:xfrm>
              <a:off x="1784125" y="5340678"/>
              <a:ext cx="1106311" cy="431800"/>
            </a:xfrm>
            <a:prstGeom prst="roundRect">
              <a:avLst>
                <a:gd name="adj" fmla="val 20588"/>
              </a:avLst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ko-KR" altLang="en-US" sz="1000" b="1" dirty="0">
                  <a:solidFill>
                    <a:srgbClr val="FFFFFF"/>
                  </a:solidFill>
                  <a:ea typeface="맑은 고딕"/>
                </a:rPr>
                <a:t>표준 용어 </a:t>
              </a:r>
              <a:r>
                <a:rPr lang="en-US" altLang="ko-KR" sz="1000" b="1" dirty="0">
                  <a:solidFill>
                    <a:srgbClr val="FFFFFF"/>
                  </a:solidFill>
                  <a:ea typeface="맑은 고딕"/>
                </a:rPr>
                <a:t>· </a:t>
              </a:r>
              <a:r>
                <a:rPr lang="ko-KR" altLang="en-US" sz="1000" b="1" dirty="0">
                  <a:solidFill>
                    <a:srgbClr val="FFFFFF"/>
                  </a:solidFill>
                  <a:ea typeface="맑은 고딕"/>
                </a:rPr>
                <a:t>도메인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EC117A3-4AB9-8BAD-60F5-66D87952B54E}"/>
                </a:ext>
              </a:extLst>
            </p:cNvPr>
            <p:cNvSpPr txBox="1"/>
            <p:nvPr/>
          </p:nvSpPr>
          <p:spPr>
            <a:xfrm>
              <a:off x="2890436" y="5376374"/>
              <a:ext cx="15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>
                  <a:solidFill>
                    <a:srgbClr val="9AA0A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›</a:t>
              </a:r>
              <a:endParaRPr lang="ko-KR" altLang="en-US" sz="20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66168204-15EC-712E-38C9-3D58F9692030}"/>
                </a:ext>
              </a:extLst>
            </p:cNvPr>
            <p:cNvSpPr/>
            <p:nvPr/>
          </p:nvSpPr>
          <p:spPr>
            <a:xfrm>
              <a:off x="3042836" y="5340678"/>
              <a:ext cx="1106311" cy="431800"/>
            </a:xfrm>
            <a:prstGeom prst="roundRect">
              <a:avLst>
                <a:gd name="adj" fmla="val 20588"/>
              </a:avLst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ko-KR" altLang="en-US" sz="1000" b="1" dirty="0">
                  <a:solidFill>
                    <a:srgbClr val="FFFFFF"/>
                  </a:solidFill>
                  <a:ea typeface="맑은 고딕"/>
                </a:rPr>
                <a:t>논리 </a:t>
              </a:r>
              <a:r>
                <a:rPr lang="en-US" altLang="ko-KR" sz="1000" b="1" dirty="0">
                  <a:solidFill>
                    <a:srgbClr val="FFFFFF"/>
                  </a:solidFill>
                  <a:ea typeface="맑은 고딕"/>
                </a:rPr>
                <a:t>ERD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B1827C7-27EB-2556-5EB1-AE94ADBB08FD}"/>
                </a:ext>
              </a:extLst>
            </p:cNvPr>
            <p:cNvSpPr txBox="1"/>
            <p:nvPr/>
          </p:nvSpPr>
          <p:spPr>
            <a:xfrm>
              <a:off x="4149147" y="5376374"/>
              <a:ext cx="15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>
                  <a:solidFill>
                    <a:srgbClr val="9AA0A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›</a:t>
              </a:r>
              <a:endParaRPr lang="ko-KR" altLang="en-US" sz="20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95CD1096-8093-FDC2-C054-4CBF5CD3B694}"/>
                </a:ext>
              </a:extLst>
            </p:cNvPr>
            <p:cNvSpPr/>
            <p:nvPr/>
          </p:nvSpPr>
          <p:spPr>
            <a:xfrm>
              <a:off x="4301547" y="5340678"/>
              <a:ext cx="1106312" cy="431800"/>
            </a:xfrm>
            <a:prstGeom prst="roundRect">
              <a:avLst>
                <a:gd name="adj" fmla="val 20588"/>
              </a:avLst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ko-KR" altLang="en-US" sz="1000" b="1" dirty="0">
                  <a:solidFill>
                    <a:srgbClr val="FFFFFF"/>
                  </a:solidFill>
                  <a:ea typeface="맑은 고딕"/>
                </a:rPr>
                <a:t>물리 </a:t>
              </a:r>
              <a:r>
                <a:rPr lang="en-US" altLang="ko-KR" sz="1000" b="1" dirty="0">
                  <a:solidFill>
                    <a:srgbClr val="FFFFFF"/>
                  </a:solidFill>
                  <a:ea typeface="맑은 고딕"/>
                </a:rPr>
                <a:t>ERD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4FAAD5-D835-EA33-D2A8-80A02DE20151}"/>
                </a:ext>
              </a:extLst>
            </p:cNvPr>
            <p:cNvSpPr txBox="1"/>
            <p:nvPr/>
          </p:nvSpPr>
          <p:spPr>
            <a:xfrm>
              <a:off x="5407859" y="5376374"/>
              <a:ext cx="15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>
                  <a:solidFill>
                    <a:srgbClr val="9AA0A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›</a:t>
              </a:r>
              <a:endParaRPr lang="ko-KR" altLang="en-US" sz="20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310D26DF-0CEA-CF7F-AC29-8265B5EB575A}"/>
                </a:ext>
              </a:extLst>
            </p:cNvPr>
            <p:cNvSpPr/>
            <p:nvPr/>
          </p:nvSpPr>
          <p:spPr>
            <a:xfrm>
              <a:off x="5560259" y="5340678"/>
              <a:ext cx="1106310" cy="431800"/>
            </a:xfrm>
            <a:prstGeom prst="roundRect">
              <a:avLst>
                <a:gd name="adj" fmla="val 20588"/>
              </a:avLst>
            </a:prstGeom>
            <a:solidFill>
              <a:schemeClr val="accent1">
                <a:lumMod val="7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en-US" altLang="ko-KR" sz="1000" b="1" dirty="0">
                  <a:solidFill>
                    <a:srgbClr val="FFFFFF"/>
                  </a:solidFill>
                  <a:ea typeface="맑은 고딕"/>
                </a:rPr>
                <a:t>PostgreSQL DDL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B1A0E1C-1C03-EAD1-1F7C-542A276B86E9}"/>
                </a:ext>
              </a:extLst>
            </p:cNvPr>
            <p:cNvSpPr txBox="1"/>
            <p:nvPr/>
          </p:nvSpPr>
          <p:spPr>
            <a:xfrm>
              <a:off x="6666569" y="5376374"/>
              <a:ext cx="15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>
                  <a:solidFill>
                    <a:srgbClr val="9AA0A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›</a:t>
              </a:r>
              <a:endParaRPr lang="ko-KR" altLang="en-US" sz="20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FBE47891-9392-B303-831A-1BC4798802EE}"/>
                </a:ext>
              </a:extLst>
            </p:cNvPr>
            <p:cNvSpPr/>
            <p:nvPr/>
          </p:nvSpPr>
          <p:spPr>
            <a:xfrm>
              <a:off x="6818969" y="5340678"/>
              <a:ext cx="1106311" cy="431800"/>
            </a:xfrm>
            <a:prstGeom prst="roundRect">
              <a:avLst>
                <a:gd name="adj" fmla="val 20588"/>
              </a:avLst>
            </a:prstGeom>
            <a:solidFill>
              <a:srgbClr val="E8EE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en-US" altLang="ko-KR" sz="10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맑은 고딕"/>
                </a:rPr>
                <a:t>Express API</a:t>
              </a:r>
              <a:endParaRPr lang="en-US" altLang="ko-KR" sz="1000" b="1" dirty="0">
                <a:solidFill>
                  <a:schemeClr val="tx1">
                    <a:lumMod val="65000"/>
                    <a:lumOff val="35000"/>
                  </a:schemeClr>
                </a:solidFill>
                <a:ea typeface="맑은 고딕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F839E1B-DBB5-7568-01BE-3154AEF2E807}"/>
                </a:ext>
              </a:extLst>
            </p:cNvPr>
            <p:cNvSpPr txBox="1"/>
            <p:nvPr/>
          </p:nvSpPr>
          <p:spPr>
            <a:xfrm>
              <a:off x="7925281" y="5376374"/>
              <a:ext cx="15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>
                  <a:solidFill>
                    <a:srgbClr val="9AA0A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›</a:t>
              </a:r>
              <a:endParaRPr lang="ko-KR" altLang="en-US" sz="20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854CFE3E-91DE-9545-B538-C8CC1FA34C57}"/>
                </a:ext>
              </a:extLst>
            </p:cNvPr>
            <p:cNvSpPr/>
            <p:nvPr/>
          </p:nvSpPr>
          <p:spPr>
            <a:xfrm>
              <a:off x="8077681" y="5340678"/>
              <a:ext cx="1106311" cy="431800"/>
            </a:xfrm>
            <a:prstGeom prst="roundRect">
              <a:avLst>
                <a:gd name="adj" fmla="val 20588"/>
              </a:avLst>
            </a:prstGeom>
            <a:solidFill>
              <a:srgbClr val="E8EE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ko-KR" altLang="en-US" sz="10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맑은 고딕"/>
                </a:rPr>
                <a:t>예약 </a:t>
              </a:r>
              <a:r>
                <a:rPr lang="en-US" altLang="ko-KR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맑은 고딕"/>
                </a:rPr>
                <a:t>· </a:t>
              </a:r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맑은 고딕"/>
                </a:rPr>
                <a:t>좌석 쿼리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E7D28A5-7DCA-16C4-C00E-C32CE8A89339}"/>
                </a:ext>
              </a:extLst>
            </p:cNvPr>
            <p:cNvSpPr txBox="1"/>
            <p:nvPr/>
          </p:nvSpPr>
          <p:spPr>
            <a:xfrm>
              <a:off x="9183992" y="5376374"/>
              <a:ext cx="1524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noAutofit/>
            </a:bodyPr>
            <a:lstStyle/>
            <a:p>
              <a:pPr algn="ctr">
                <a:lnSpc>
                  <a:spcPct val="105000"/>
                </a:lnSpc>
              </a:pPr>
              <a:r>
                <a:rPr lang="en-US" altLang="ko-KR" sz="2000" b="1">
                  <a:solidFill>
                    <a:srgbClr val="9AA0A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›</a:t>
              </a:r>
              <a:endParaRPr lang="ko-KR" altLang="en-US" sz="2000" b="1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34411E2C-ABE9-E3F4-FA42-9621FF76E4AC}"/>
                </a:ext>
              </a:extLst>
            </p:cNvPr>
            <p:cNvSpPr/>
            <p:nvPr/>
          </p:nvSpPr>
          <p:spPr>
            <a:xfrm>
              <a:off x="9336392" y="5340678"/>
              <a:ext cx="1106311" cy="431800"/>
            </a:xfrm>
            <a:prstGeom prst="roundRect">
              <a:avLst>
                <a:gd name="adj" fmla="val 20588"/>
              </a:avLst>
            </a:prstGeom>
            <a:solidFill>
              <a:srgbClr val="E8EEF8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25400" rIns="25400" bIns="25400" rtlCol="0" anchor="ctr"/>
            <a:lstStyle/>
            <a:p>
              <a:pPr algn="ctr"/>
              <a:r>
                <a:rPr lang="ko-KR" altLang="en-US" sz="1000" b="1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맑은 고딕"/>
                </a:rPr>
                <a:t>웹 화면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2377D-8FBD-C24D-746A-00A0594D2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DB1AA-BABC-7AE3-6941-1BB3E20BF051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03  ·  </a:t>
            </a:r>
            <a:r>
              <a:rPr lang="en-US" altLang="ko-KR" sz="900" b="1" dirty="0" err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영화</a:t>
            </a: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dirty="0" err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예매</a:t>
            </a: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b="1" dirty="0" err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플랫폼</a:t>
            </a: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·  </a:t>
            </a:r>
            <a:r>
              <a:rPr lang="ko-KR" altLang="en-US" sz="900" b="1" dirty="0">
                <a:solidFill>
                  <a:srgbClr val="C8102E"/>
                </a:solidFill>
                <a:ea typeface="맑은 고딕"/>
              </a:rPr>
              <a:t>액션 ① </a:t>
            </a:r>
            <a:r>
              <a:rPr lang="en-US" altLang="ko-KR" sz="900" b="1" dirty="0">
                <a:solidFill>
                  <a:srgbClr val="C8102E"/>
                </a:solidFill>
                <a:ea typeface="맑은 고딕"/>
              </a:rPr>
              <a:t>ERD </a:t>
            </a:r>
            <a:r>
              <a:rPr lang="ko-KR" altLang="en-US" sz="900" b="1" dirty="0">
                <a:solidFill>
                  <a:srgbClr val="C8102E"/>
                </a:solidFill>
                <a:ea typeface="맑은 고딕"/>
              </a:rPr>
              <a:t>설계</a:t>
            </a:r>
            <a:endParaRPr lang="en-US" altLang="ko-KR" sz="900" b="1" dirty="0">
              <a:solidFill>
                <a:srgbClr val="C8102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CDC483-EC76-4902-72F1-282508D9B824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1B1F24"/>
                </a:solidFill>
                <a:latin typeface="맑은 고딕" panose="020B0503020000020004" pitchFamily="50" charset="-127"/>
              </a:rPr>
              <a:t>영화 예매 플랫폼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&gt; ERD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설계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 </a:t>
            </a:r>
            <a:endParaRPr lang="ko-KR" altLang="en-US" sz="2000" b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8522AF-134A-94B7-86B5-7D9384DC71B9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영화 예매 사이트 구현을 위한 회원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영화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상영관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예매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60025-0FE1-B133-EB74-8761A031977C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221B1D-8C4B-3744-2610-638B110A26E3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93A2C-1B8A-4674-63FB-7D74C53DC752}"/>
              </a:ext>
            </a:extLst>
          </p:cNvPr>
          <p:cNvSpPr/>
          <p:nvPr/>
        </p:nvSpPr>
        <p:spPr>
          <a:xfrm>
            <a:off x="508000" y="1422400"/>
            <a:ext cx="11176000" cy="4851400"/>
          </a:xfrm>
          <a:prstGeom prst="roundRect">
            <a:avLst>
              <a:gd name="adj" fmla="val 2431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FFC54069-8762-D42F-CA22-665B4B96EE91}"/>
              </a:ext>
            </a:extLst>
          </p:cNvPr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32BB0A-0648-60C7-8B85-2EB2A44C1C07}"/>
              </a:ext>
            </a:extLst>
          </p:cNvPr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3C04370-60C2-78B4-B8E5-0A8B9A65E19B}"/>
              </a:ext>
            </a:extLst>
          </p:cNvPr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928D61-C6FF-E441-249D-9C49A90A19BE}"/>
              </a:ext>
            </a:extLst>
          </p:cNvPr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FF99DF3-3DF5-55A1-FDE2-E898EF9A19C9}"/>
              </a:ext>
            </a:extLst>
          </p:cNvPr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5FD271-1CF8-154E-40F2-3175AE790428}"/>
              </a:ext>
            </a:extLst>
          </p:cNvPr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505F0C52-A745-6CED-C028-AB62B1685B4E}"/>
              </a:ext>
            </a:extLst>
          </p:cNvPr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EAA0FDCF-6F10-F402-0324-91EA4BC9C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606378"/>
            <a:ext cx="10803467" cy="454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9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334D60-5AAD-0635-AFD7-C0D6B0FBA5F1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03  ·  영화 예매 플랫폼  ·  액션 ② 이슈 해결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B0938-73F4-118E-5732-068303DEC2BF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1B1F24"/>
                </a:solidFill>
                <a:latin typeface="맑은 고딕" panose="020B0503020000020004" pitchFamily="50" charset="-127"/>
              </a:rPr>
              <a:t>영화 예매 플랫폼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 해결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2A6A5-B207-C302-627A-DBB977722EE3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모델링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쿼리 </a:t>
            </a:r>
            <a:r>
              <a:rPr lang="en-US" altLang="ko-KR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구현 과정에서 부딪힌 문제와 해결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BA542-AD7E-E5F2-052F-88E6C3AD499F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C3ACE0-080A-DBE1-6F5E-AC72329340D5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C9307EA-7A93-188F-8E67-020B48968BC6}"/>
              </a:ext>
            </a:extLst>
          </p:cNvPr>
          <p:cNvSpPr/>
          <p:nvPr/>
        </p:nvSpPr>
        <p:spPr>
          <a:xfrm>
            <a:off x="508000" y="1422400"/>
            <a:ext cx="3657600" cy="4851400"/>
          </a:xfrm>
          <a:prstGeom prst="roundRect">
            <a:avLst>
              <a:gd name="adj" fmla="val 2431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9780EA7-5F22-4E2D-E231-BD654A572CE4}"/>
              </a:ext>
            </a:extLst>
          </p:cNvPr>
          <p:cNvSpPr/>
          <p:nvPr/>
        </p:nvSpPr>
        <p:spPr>
          <a:xfrm>
            <a:off x="685800" y="15748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Case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FF865-D3DB-707D-487E-A2F93DE6264D}"/>
              </a:ext>
            </a:extLst>
          </p:cNvPr>
          <p:cNvSpPr txBox="1"/>
          <p:nvPr/>
        </p:nvSpPr>
        <p:spPr>
          <a:xfrm>
            <a:off x="685800" y="1854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용어 </a:t>
            </a:r>
            <a:r>
              <a:rPr lang="en-US" altLang="ko-KR" sz="11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명명 규칙 불일치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5B8D0-B5F9-92AD-2210-5E90FDAF3963}"/>
              </a:ext>
            </a:extLst>
          </p:cNvPr>
          <p:cNvSpPr txBox="1"/>
          <p:nvPr/>
        </p:nvSpPr>
        <p:spPr>
          <a:xfrm>
            <a:off x="685800" y="2311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EF4D2-BB16-CF12-AB77-DF2F949A8265}"/>
              </a:ext>
            </a:extLst>
          </p:cNvPr>
          <p:cNvSpPr txBox="1"/>
          <p:nvPr/>
        </p:nvSpPr>
        <p:spPr>
          <a:xfrm>
            <a:off x="1117600" y="2311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의미의 속성이 테이블마다 다른 이름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타입으로 정의될 위험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5A1165-D854-CEAD-877A-A7CD6CF98C68}"/>
              </a:ext>
            </a:extLst>
          </p:cNvPr>
          <p:cNvSpPr txBox="1"/>
          <p:nvPr/>
        </p:nvSpPr>
        <p:spPr>
          <a:xfrm>
            <a:off x="685800" y="3124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987893-BE10-1674-6B3B-D246FC62481F}"/>
              </a:ext>
            </a:extLst>
          </p:cNvPr>
          <p:cNvSpPr txBox="1"/>
          <p:nvPr/>
        </p:nvSpPr>
        <p:spPr>
          <a:xfrm>
            <a:off x="1117600" y="31242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초기에 명명 규칙과 도메인 기준이 없었음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BB2A38-02A7-AF46-3AFF-972D47848CF6}"/>
              </a:ext>
            </a:extLst>
          </p:cNvPr>
          <p:cNvSpPr txBox="1"/>
          <p:nvPr/>
        </p:nvSpPr>
        <p:spPr>
          <a:xfrm>
            <a:off x="685800" y="3937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94178E-71A1-3122-8AC8-D9B09F7ADD16}"/>
              </a:ext>
            </a:extLst>
          </p:cNvPr>
          <p:cNvSpPr txBox="1"/>
          <p:nvPr/>
        </p:nvSpPr>
        <p:spPr>
          <a:xfrm>
            <a:off x="1117600" y="3937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도메인 표준을 먼저 정의하고 전 테이블 컬럼명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타입을 표준에 맞춰 통일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8800640-1E90-8816-16F7-EAE9181CC8C3}"/>
              </a:ext>
            </a:extLst>
          </p:cNvPr>
          <p:cNvSpPr/>
          <p:nvPr/>
        </p:nvSpPr>
        <p:spPr>
          <a:xfrm>
            <a:off x="685800" y="4876800"/>
            <a:ext cx="3302000" cy="1244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4E27F4-0455-1209-6CF4-530C1F9748D3}"/>
              </a:ext>
            </a:extLst>
          </p:cNvPr>
          <p:cNvSpPr txBox="1"/>
          <p:nvPr/>
        </p:nvSpPr>
        <p:spPr>
          <a:xfrm>
            <a:off x="685800" y="50038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50" b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5774AA-9D32-20A1-ED58-317C62DD258F}"/>
              </a:ext>
            </a:extLst>
          </p:cNvPr>
          <p:cNvSpPr txBox="1"/>
          <p:nvPr/>
        </p:nvSpPr>
        <p:spPr>
          <a:xfrm>
            <a:off x="685800" y="52324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900" b="1" dirty="0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적용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F57CA5-D1E0-0339-95DD-FD446BE9231D}"/>
              </a:ext>
            </a:extLst>
          </p:cNvPr>
          <p:cNvSpPr txBox="1"/>
          <p:nvPr/>
        </p:nvSpPr>
        <p:spPr>
          <a:xfrm>
            <a:off x="812800" y="5664200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일관된 명명 체계로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쿼리 가독성 확보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CDB59348-2A3F-5046-5F92-11C6D463E18F}"/>
              </a:ext>
            </a:extLst>
          </p:cNvPr>
          <p:cNvSpPr/>
          <p:nvPr/>
        </p:nvSpPr>
        <p:spPr>
          <a:xfrm>
            <a:off x="4267200" y="1422400"/>
            <a:ext cx="3657600" cy="4851400"/>
          </a:xfrm>
          <a:prstGeom prst="roundRect">
            <a:avLst>
              <a:gd name="adj" fmla="val 2431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0272999-FF73-F39C-617E-A1CADF132586}"/>
              </a:ext>
            </a:extLst>
          </p:cNvPr>
          <p:cNvSpPr/>
          <p:nvPr/>
        </p:nvSpPr>
        <p:spPr>
          <a:xfrm>
            <a:off x="4445000" y="15748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Case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AD0EE5-3411-275F-296D-248A65ECA08A}"/>
              </a:ext>
            </a:extLst>
          </p:cNvPr>
          <p:cNvSpPr txBox="1"/>
          <p:nvPr/>
        </p:nvSpPr>
        <p:spPr>
          <a:xfrm>
            <a:off x="4445000" y="1854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스키마로 인한 쿼리 복잡도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C467A4-97C1-B744-B732-F73185E9059C}"/>
              </a:ext>
            </a:extLst>
          </p:cNvPr>
          <p:cNvSpPr txBox="1"/>
          <p:nvPr/>
        </p:nvSpPr>
        <p:spPr>
          <a:xfrm>
            <a:off x="4445000" y="2311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AFFBF5-88E5-E870-5715-46FDDCA365BD}"/>
              </a:ext>
            </a:extLst>
          </p:cNvPr>
          <p:cNvSpPr txBox="1"/>
          <p:nvPr/>
        </p:nvSpPr>
        <p:spPr>
          <a:xfrm>
            <a:off x="4876800" y="2311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좌석 조회 시 여러 테이블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JOIN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얽혀 쿼리가 복잡해짐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F781FB-168E-AEF2-EA5B-A59C99447203}"/>
              </a:ext>
            </a:extLst>
          </p:cNvPr>
          <p:cNvSpPr txBox="1"/>
          <p:nvPr/>
        </p:nvSpPr>
        <p:spPr>
          <a:xfrm>
            <a:off x="4445000" y="3124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BAEBDF-FAB9-5BA6-98C9-B72A6868EBFC}"/>
              </a:ext>
            </a:extLst>
          </p:cNvPr>
          <p:cNvSpPr txBox="1"/>
          <p:nvPr/>
        </p:nvSpPr>
        <p:spPr>
          <a:xfrm>
            <a:off x="4876800" y="31242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상영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좌석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간 관계 설계가 실제 기능 흐름을 충분히 반영하지 못함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A84E27-1515-ED91-840B-B04AE2AA9F96}"/>
              </a:ext>
            </a:extLst>
          </p:cNvPr>
          <p:cNvSpPr txBox="1"/>
          <p:nvPr/>
        </p:nvSpPr>
        <p:spPr>
          <a:xfrm>
            <a:off x="4445000" y="3937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E55514-8BAF-2A5B-E572-D2FF71202F2E}"/>
              </a:ext>
            </a:extLst>
          </p:cNvPr>
          <p:cNvSpPr txBox="1"/>
          <p:nvPr/>
        </p:nvSpPr>
        <p:spPr>
          <a:xfrm>
            <a:off x="4876800" y="3937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흐름 기준으로 관계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외래키를 재정의하고 조회 조건 컬럼에 인덱스 적용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CC2D92A-9777-5001-22E9-B363A48DBC66}"/>
              </a:ext>
            </a:extLst>
          </p:cNvPr>
          <p:cNvSpPr/>
          <p:nvPr/>
        </p:nvSpPr>
        <p:spPr>
          <a:xfrm>
            <a:off x="4445000" y="4876800"/>
            <a:ext cx="3302000" cy="1244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B8E7C5-0835-096A-64EC-168E13FA5117}"/>
              </a:ext>
            </a:extLst>
          </p:cNvPr>
          <p:cNvSpPr txBox="1"/>
          <p:nvPr/>
        </p:nvSpPr>
        <p:spPr>
          <a:xfrm>
            <a:off x="4445000" y="50038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50" b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48769C-7ADB-D320-6548-ABCAEEEA9612}"/>
              </a:ext>
            </a:extLst>
          </p:cNvPr>
          <p:cNvSpPr txBox="1"/>
          <p:nvPr/>
        </p:nvSpPr>
        <p:spPr>
          <a:xfrm>
            <a:off x="4445000" y="52324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altLang="ko-KR" sz="19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</a:t>
            </a:r>
            <a:r>
              <a:rPr lang="ko-KR" altLang="en-US" sz="19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188C8-1706-19DA-2236-470546CF4EF9}"/>
              </a:ext>
            </a:extLst>
          </p:cNvPr>
          <p:cNvSpPr txBox="1"/>
          <p:nvPr/>
        </p:nvSpPr>
        <p:spPr>
          <a:xfrm>
            <a:off x="4572000" y="5664200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이후 팀 프로젝트에서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먼저 확정하는 방식으로 이어짐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2E73BE1-5761-8C72-7F5A-1512F429F59F}"/>
              </a:ext>
            </a:extLst>
          </p:cNvPr>
          <p:cNvSpPr/>
          <p:nvPr/>
        </p:nvSpPr>
        <p:spPr>
          <a:xfrm>
            <a:off x="8026400" y="1422400"/>
            <a:ext cx="3657600" cy="4851400"/>
          </a:xfrm>
          <a:prstGeom prst="roundRect">
            <a:avLst>
              <a:gd name="adj" fmla="val 2431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1A16267-7F44-D378-3897-6A6334374104}"/>
              </a:ext>
            </a:extLst>
          </p:cNvPr>
          <p:cNvSpPr/>
          <p:nvPr/>
        </p:nvSpPr>
        <p:spPr>
          <a:xfrm>
            <a:off x="8204200" y="1574800"/>
            <a:ext cx="66040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</a:rPr>
              <a:t>Case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  <a:endParaRPr lang="ko-KR" altLang="en-US" sz="12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937BEF-5369-BEBB-7CC6-A4E94A38A6D6}"/>
              </a:ext>
            </a:extLst>
          </p:cNvPr>
          <p:cNvSpPr txBox="1"/>
          <p:nvPr/>
        </p:nvSpPr>
        <p:spPr>
          <a:xfrm>
            <a:off x="8204200" y="18542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개발 경험 부족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A771-C491-4BF5-B1C0-4CEB45F90437}"/>
              </a:ext>
            </a:extLst>
          </p:cNvPr>
          <p:cNvSpPr txBox="1"/>
          <p:nvPr/>
        </p:nvSpPr>
        <p:spPr>
          <a:xfrm>
            <a:off x="8204200" y="23114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FBFF3F-D2CF-6FB7-F87E-E8BF2923B208}"/>
              </a:ext>
            </a:extLst>
          </p:cNvPr>
          <p:cNvSpPr txBox="1"/>
          <p:nvPr/>
        </p:nvSpPr>
        <p:spPr>
          <a:xfrm>
            <a:off x="8636000" y="23114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프론트엔드 경험이 적어 화면 구현에 일정이 지연될 위험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3AEB97-597C-7845-9C43-F98854647EEE}"/>
              </a:ext>
            </a:extLst>
          </p:cNvPr>
          <p:cNvSpPr txBox="1"/>
          <p:nvPr/>
        </p:nvSpPr>
        <p:spPr>
          <a:xfrm>
            <a:off x="8204200" y="3124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60E1777-9FC9-F429-C5B5-B0C81E0E06C8}"/>
              </a:ext>
            </a:extLst>
          </p:cNvPr>
          <p:cNvSpPr txBox="1"/>
          <p:nvPr/>
        </p:nvSpPr>
        <p:spPr>
          <a:xfrm>
            <a:off x="8636000" y="31242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·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백엔드 중심으로 역량을 쌓아 와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경험이 부족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7CAEC6-B181-640F-1B05-898A0E7FA610}"/>
              </a:ext>
            </a:extLst>
          </p:cNvPr>
          <p:cNvSpPr txBox="1"/>
          <p:nvPr/>
        </p:nvSpPr>
        <p:spPr>
          <a:xfrm>
            <a:off x="8204200" y="39370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50" b="1">
                <a:solidFill>
                  <a:srgbClr val="C8102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342735-318C-C800-88CC-939A14C707DF}"/>
              </a:ext>
            </a:extLst>
          </p:cNvPr>
          <p:cNvSpPr txBox="1"/>
          <p:nvPr/>
        </p:nvSpPr>
        <p:spPr>
          <a:xfrm>
            <a:off x="8636000" y="3937000"/>
            <a:ext cx="2870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프롬프트 기반 바이브코딩으로 화면을 구현하고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본인은 </a:t>
            </a:r>
            <a:r>
              <a:rPr lang="en-US" altLang="ko-KR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· API </a:t>
            </a:r>
            <a:r>
              <a:rPr lang="ko-KR" altLang="en-US" sz="85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설계에 집중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DC99507F-BCB1-7B3E-90D2-4E77FB8C42F6}"/>
              </a:ext>
            </a:extLst>
          </p:cNvPr>
          <p:cNvSpPr/>
          <p:nvPr/>
        </p:nvSpPr>
        <p:spPr>
          <a:xfrm>
            <a:off x="8204200" y="4876800"/>
            <a:ext cx="3302000" cy="12446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0D09AB-B5E0-36BA-0E4B-B3615C995496}"/>
              </a:ext>
            </a:extLst>
          </p:cNvPr>
          <p:cNvSpPr txBox="1"/>
          <p:nvPr/>
        </p:nvSpPr>
        <p:spPr>
          <a:xfrm>
            <a:off x="8204200" y="50038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50" b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8D4CDC-29E2-040F-3AC0-34A4C64CE227}"/>
              </a:ext>
            </a:extLst>
          </p:cNvPr>
          <p:cNvSpPr txBox="1"/>
          <p:nvPr/>
        </p:nvSpPr>
        <p:spPr>
          <a:xfrm>
            <a:off x="8204200" y="5232400"/>
            <a:ext cx="330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900" b="1">
                <a:solidFill>
                  <a:srgbClr val="2F559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단독 완성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2B02B6D-3B89-8A4E-C1B4-288D3B871944}"/>
              </a:ext>
            </a:extLst>
          </p:cNvPr>
          <p:cNvSpPr txBox="1"/>
          <p:nvPr/>
        </p:nvSpPr>
        <p:spPr>
          <a:xfrm>
            <a:off x="8331200" y="5664200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화면까지 수행 영역 확장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 생산성 향상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3423666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05C4-64F9-FDB8-376B-D49E5A3D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2BA6F-F191-AE5F-8CAA-02DC3E837BC4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PROJECT 03  ·  영화 예매 플랫폼  · 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95646-2885-FFAE-6A8D-112F21278DB6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1B1F24"/>
                </a:solidFill>
                <a:latin typeface="맑은 고딕" panose="020B0503020000020004" pitchFamily="50" charset="-127"/>
              </a:rPr>
              <a:t>영화 예매 플랫폼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결과 · 화면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039597-C24F-B825-42CC-FF60E24EB9BA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논리·물리 ERD → PostgreSQL 구축 → JOIN 기반 예약·좌석 기능을 화면까지 단독 구현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4987A-3842-7E7C-40A8-12D3E270CB25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E4F8F-44FB-3671-21AD-B26B00D84A84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1E5AA10-D392-168D-77E4-5EBFB3A7EC88}"/>
              </a:ext>
            </a:extLst>
          </p:cNvPr>
          <p:cNvSpPr/>
          <p:nvPr/>
        </p:nvSpPr>
        <p:spPr>
          <a:xfrm>
            <a:off x="507999" y="1422401"/>
            <a:ext cx="2536539" cy="4843743"/>
          </a:xfrm>
          <a:prstGeom prst="roundRect">
            <a:avLst>
              <a:gd name="adj" fmla="val 233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7F9C556-C065-27A8-965C-2CAA3552DE4B}"/>
              </a:ext>
            </a:extLst>
          </p:cNvPr>
          <p:cNvSpPr/>
          <p:nvPr/>
        </p:nvSpPr>
        <p:spPr>
          <a:xfrm>
            <a:off x="1064395" y="1302266"/>
            <a:ext cx="155764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42752F9-E4EC-AA66-0025-C4D6693280C4}"/>
              </a:ext>
            </a:extLst>
          </p:cNvPr>
          <p:cNvSpPr/>
          <p:nvPr/>
        </p:nvSpPr>
        <p:spPr>
          <a:xfrm>
            <a:off x="3382175" y="1422401"/>
            <a:ext cx="2536539" cy="4843743"/>
          </a:xfrm>
          <a:prstGeom prst="roundRect">
            <a:avLst>
              <a:gd name="adj" fmla="val 233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8747AD8-CC94-D77A-E21C-38F13D25497C}"/>
              </a:ext>
            </a:extLst>
          </p:cNvPr>
          <p:cNvSpPr/>
          <p:nvPr/>
        </p:nvSpPr>
        <p:spPr>
          <a:xfrm>
            <a:off x="3917662" y="1302266"/>
            <a:ext cx="155764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상영시간표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FC74031-AC0B-9D6F-6E54-BEFED90879DF}"/>
              </a:ext>
            </a:extLst>
          </p:cNvPr>
          <p:cNvSpPr/>
          <p:nvPr/>
        </p:nvSpPr>
        <p:spPr>
          <a:xfrm>
            <a:off x="6256351" y="1422401"/>
            <a:ext cx="2536539" cy="4843743"/>
          </a:xfrm>
          <a:prstGeom prst="roundRect">
            <a:avLst>
              <a:gd name="adj" fmla="val 233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959DEE3-57A4-025A-E362-BF1810DF47E2}"/>
              </a:ext>
            </a:extLst>
          </p:cNvPr>
          <p:cNvSpPr/>
          <p:nvPr/>
        </p:nvSpPr>
        <p:spPr>
          <a:xfrm>
            <a:off x="6804798" y="1302266"/>
            <a:ext cx="155764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예매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06A815C0-35CD-8801-0A78-836999501486}"/>
              </a:ext>
            </a:extLst>
          </p:cNvPr>
          <p:cNvSpPr/>
          <p:nvPr/>
        </p:nvSpPr>
        <p:spPr>
          <a:xfrm>
            <a:off x="9130527" y="1422401"/>
            <a:ext cx="2536539" cy="4843743"/>
          </a:xfrm>
          <a:prstGeom prst="roundRect">
            <a:avLst>
              <a:gd name="adj" fmla="val 2333"/>
            </a:avLst>
          </a:prstGeom>
          <a:noFill/>
          <a:ln w="6350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1C2D1A9-F2A1-9883-D0A6-9AE35D9C140B}"/>
              </a:ext>
            </a:extLst>
          </p:cNvPr>
          <p:cNvSpPr/>
          <p:nvPr/>
        </p:nvSpPr>
        <p:spPr>
          <a:xfrm>
            <a:off x="9627659" y="1302266"/>
            <a:ext cx="1557640" cy="2032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예매내역</a:t>
            </a:r>
            <a:r>
              <a:rPr lang="en-US" altLang="ko-KR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A66064D-0B71-7C93-5828-438E8F3D6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" y="1568519"/>
            <a:ext cx="2321560" cy="4629081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39047EB-02D1-ECA2-6128-0703FEC9A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294" y="1592457"/>
            <a:ext cx="2335606" cy="138460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30732FC-3A98-ABC6-FFE6-0F5B3BD4A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492" y="3074031"/>
            <a:ext cx="2335606" cy="1461409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AE40C946-49C3-15E7-4AAD-5E821BDB9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069" y="4660824"/>
            <a:ext cx="2335607" cy="151832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F244A920-3088-8889-1335-7A92221AB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4072" y="1592457"/>
            <a:ext cx="2347768" cy="458669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13E2900E-3D55-F5F5-28AB-064918FA4A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7395" y="1592457"/>
            <a:ext cx="2359925" cy="2288663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A47FB71A-06BC-FE99-F888-09348C58A5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395" y="3968111"/>
            <a:ext cx="2359925" cy="2229489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>
                <a:solidFill>
                  <a:srgbClr val="9AA0A8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2489182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97587-24EF-E6B6-3087-131ADA4B77D1}"/>
              </a:ext>
            </a:extLst>
          </p:cNvPr>
          <p:cNvSpPr txBox="1"/>
          <p:nvPr/>
        </p:nvSpPr>
        <p:spPr>
          <a:xfrm>
            <a:off x="508000" y="3302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PROJECT 03  ·  </a:t>
            </a:r>
            <a:r>
              <a:rPr lang="en-US" altLang="ko-KR" sz="900" b="1" dirty="0" err="1">
                <a:solidFill>
                  <a:srgbClr val="C8102E"/>
                </a:solidFill>
                <a:latin typeface="맑은 고딕" panose="020B0503020000020004" pitchFamily="50" charset="-127"/>
              </a:rPr>
              <a:t>영화</a:t>
            </a: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dirty="0" err="1">
                <a:solidFill>
                  <a:srgbClr val="C8102E"/>
                </a:solidFill>
                <a:latin typeface="맑은 고딕" panose="020B0503020000020004" pitchFamily="50" charset="-127"/>
              </a:rPr>
              <a:t>예매</a:t>
            </a: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b="1" dirty="0" err="1">
                <a:solidFill>
                  <a:srgbClr val="C8102E"/>
                </a:solidFill>
                <a:latin typeface="맑은 고딕" panose="020B0503020000020004" pitchFamily="50" charset="-127"/>
              </a:rPr>
              <a:t>플랫폼</a:t>
            </a:r>
            <a:r>
              <a:rPr lang="en-US" altLang="ko-KR" sz="900" b="1" dirty="0">
                <a:solidFill>
                  <a:srgbClr val="C8102E"/>
                </a:solidFill>
                <a:latin typeface="맑은 고딕" panose="020B0503020000020004" pitchFamily="50" charset="-127"/>
              </a:rPr>
              <a:t>  ·  </a:t>
            </a:r>
            <a:r>
              <a:rPr lang="en-US" altLang="ko-KR" sz="900" b="1" dirty="0" err="1">
                <a:solidFill>
                  <a:srgbClr val="C8102E"/>
                </a:solidFill>
                <a:latin typeface="맑은 고딕" panose="020B0503020000020004" pitchFamily="50" charset="-127"/>
              </a:rPr>
              <a:t>결과</a:t>
            </a:r>
            <a:endParaRPr lang="en-US" altLang="ko-KR" sz="900" b="1" dirty="0">
              <a:solidFill>
                <a:srgbClr val="C8102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60EE7-6C5E-23DF-E036-618389583F01}"/>
              </a:ext>
            </a:extLst>
          </p:cNvPr>
          <p:cNvSpPr txBox="1"/>
          <p:nvPr/>
        </p:nvSpPr>
        <p:spPr>
          <a:xfrm>
            <a:off x="508000" y="5334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2400" b="1" dirty="0">
                <a:solidFill>
                  <a:srgbClr val="1B1F24"/>
                </a:solidFill>
                <a:latin typeface="맑은 고딕" panose="020B0503020000020004" pitchFamily="50" charset="-127"/>
              </a:rPr>
              <a:t>영화 예매 플랫폼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</a:rPr>
              <a:t>&gt;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및 산출물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D8E17-30D3-A3B1-5384-0985E6FE2F51}"/>
              </a:ext>
            </a:extLst>
          </p:cNvPr>
          <p:cNvSpPr txBox="1"/>
          <p:nvPr/>
        </p:nvSpPr>
        <p:spPr>
          <a:xfrm>
            <a:off x="508000" y="1016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i="1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교육에서 배운 모델링 절차를 요구사항 → 논리 → 물리 → 구현 순서로 그대로 적용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A3DF1-D563-E493-2A1D-08FD394122C2}"/>
              </a:ext>
            </a:extLst>
          </p:cNvPr>
          <p:cNvSpPr txBox="1"/>
          <p:nvPr/>
        </p:nvSpPr>
        <p:spPr>
          <a:xfrm>
            <a:off x="508000" y="6553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 Data Engineer Portfolio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813B7-81E1-B55F-FF7C-ED02DD631E54}"/>
              </a:ext>
            </a:extLst>
          </p:cNvPr>
          <p:cNvSpPr txBox="1"/>
          <p:nvPr/>
        </p:nvSpPr>
        <p:spPr>
          <a:xfrm>
            <a:off x="11176000" y="65532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05000"/>
              </a:lnSpc>
            </a:pPr>
            <a:r>
              <a:rPr lang="en-US" altLang="ko-KR" sz="750">
                <a:solidFill>
                  <a:srgbClr val="9AA0A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endParaRPr lang="ko-KR" altLang="en-US" sz="750">
              <a:solidFill>
                <a:srgbClr val="9AA0A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7FBDA2B5-996E-CA54-BFC3-7E5A75C27BFA}"/>
              </a:ext>
            </a:extLst>
          </p:cNvPr>
          <p:cNvSpPr/>
          <p:nvPr/>
        </p:nvSpPr>
        <p:spPr>
          <a:xfrm>
            <a:off x="508000" y="1422400"/>
            <a:ext cx="3657600" cy="558800"/>
          </a:xfrm>
          <a:prstGeom prst="homePlat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0A6DCF8-3B70-9AF5-3678-13180E288EAD}"/>
              </a:ext>
            </a:extLst>
          </p:cNvPr>
          <p:cNvSpPr/>
          <p:nvPr/>
        </p:nvSpPr>
        <p:spPr>
          <a:xfrm>
            <a:off x="5080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BE12690-4EE1-0BA4-8114-82D494564A58}"/>
              </a:ext>
            </a:extLst>
          </p:cNvPr>
          <p:cNvSpPr/>
          <p:nvPr/>
        </p:nvSpPr>
        <p:spPr>
          <a:xfrm>
            <a:off x="6096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30E7C3-C735-4716-123F-E8A202786651}"/>
              </a:ext>
            </a:extLst>
          </p:cNvPr>
          <p:cNvSpPr txBox="1"/>
          <p:nvPr/>
        </p:nvSpPr>
        <p:spPr>
          <a:xfrm>
            <a:off x="13208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정의서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C940EB-5E5E-F5ED-0450-983CA26B3C34}"/>
              </a:ext>
            </a:extLst>
          </p:cNvPr>
          <p:cNvSpPr txBox="1"/>
          <p:nvPr/>
        </p:nvSpPr>
        <p:spPr>
          <a:xfrm>
            <a:off x="13208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예매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확인 기능 정의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BB6924F-49DB-0239-0F8C-77DE32994DE1}"/>
              </a:ext>
            </a:extLst>
          </p:cNvPr>
          <p:cNvSpPr/>
          <p:nvPr/>
        </p:nvSpPr>
        <p:spPr>
          <a:xfrm>
            <a:off x="5080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74602BD-7FFF-BBDE-9FD3-D5266C1757ED}"/>
              </a:ext>
            </a:extLst>
          </p:cNvPr>
          <p:cNvSpPr/>
          <p:nvPr/>
        </p:nvSpPr>
        <p:spPr>
          <a:xfrm>
            <a:off x="6096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1CB81D-4ED4-220C-57D5-6A7826D3971D}"/>
              </a:ext>
            </a:extLst>
          </p:cNvPr>
          <p:cNvSpPr txBox="1"/>
          <p:nvPr/>
        </p:nvSpPr>
        <p:spPr>
          <a:xfrm>
            <a:off x="13208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흐름 파악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3DAF8-EB2F-E65E-D660-6E6718E46A08}"/>
              </a:ext>
            </a:extLst>
          </p:cNvPr>
          <p:cNvSpPr txBox="1"/>
          <p:nvPr/>
        </p:nvSpPr>
        <p:spPr>
          <a:xfrm>
            <a:off x="13208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영화 → 상영 → 좌석 → 예약 흐름</a:t>
            </a:r>
          </a:p>
        </p:txBody>
      </p:sp>
      <p:sp>
        <p:nvSpPr>
          <p:cNvPr id="16" name="화살표: 갈매기형 수장 15">
            <a:extLst>
              <a:ext uri="{FF2B5EF4-FFF2-40B4-BE49-F238E27FC236}">
                <a16:creationId xmlns:a16="http://schemas.microsoft.com/office/drawing/2014/main" id="{7C961C66-ECBA-F15D-8A11-DD6A071E2EF8}"/>
              </a:ext>
            </a:extLst>
          </p:cNvPr>
          <p:cNvSpPr/>
          <p:nvPr/>
        </p:nvSpPr>
        <p:spPr>
          <a:xfrm>
            <a:off x="4267200" y="1422400"/>
            <a:ext cx="3657600" cy="558800"/>
          </a:xfrm>
          <a:prstGeom prst="chevron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1A6FF71-5186-8FD6-AC08-220F758A1A35}"/>
              </a:ext>
            </a:extLst>
          </p:cNvPr>
          <p:cNvSpPr/>
          <p:nvPr/>
        </p:nvSpPr>
        <p:spPr>
          <a:xfrm>
            <a:off x="42672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F71A0A-0833-B8CE-A720-6E7A2C1F4EF3}"/>
              </a:ext>
            </a:extLst>
          </p:cNvPr>
          <p:cNvSpPr/>
          <p:nvPr/>
        </p:nvSpPr>
        <p:spPr>
          <a:xfrm>
            <a:off x="43688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8E5DEB-631B-9E58-44AB-C652C1284FCD}"/>
              </a:ext>
            </a:extLst>
          </p:cNvPr>
          <p:cNvSpPr txBox="1"/>
          <p:nvPr/>
        </p:nvSpPr>
        <p:spPr>
          <a:xfrm>
            <a:off x="50800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도메인 표준 정의서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6EE13-A63C-A80D-795F-56A6387A07F5}"/>
              </a:ext>
            </a:extLst>
          </p:cNvPr>
          <p:cNvSpPr txBox="1"/>
          <p:nvPr/>
        </p:nvSpPr>
        <p:spPr>
          <a:xfrm>
            <a:off x="50800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용어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타입 기준 수립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4C2219E-3DB1-80D0-C62D-741760B851ED}"/>
              </a:ext>
            </a:extLst>
          </p:cNvPr>
          <p:cNvSpPr/>
          <p:nvPr/>
        </p:nvSpPr>
        <p:spPr>
          <a:xfrm>
            <a:off x="42672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F482624-EE62-03E2-A92F-2EB021B54633}"/>
              </a:ext>
            </a:extLst>
          </p:cNvPr>
          <p:cNvSpPr/>
          <p:nvPr/>
        </p:nvSpPr>
        <p:spPr>
          <a:xfrm>
            <a:off x="43688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4C30F6-C781-C179-5AB3-A7ADDED55EC0}"/>
              </a:ext>
            </a:extLst>
          </p:cNvPr>
          <p:cNvSpPr txBox="1"/>
          <p:nvPr/>
        </p:nvSpPr>
        <p:spPr>
          <a:xfrm>
            <a:off x="50800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논리 </a:t>
            </a: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</a:t>
            </a:r>
            <a:endParaRPr lang="ko-KR" altLang="en-US" sz="950" b="1" dirty="0">
              <a:solidFill>
                <a:srgbClr val="1B1F2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C59748-E331-CE3A-58AC-16A60EBC0B1D}"/>
              </a:ext>
            </a:extLst>
          </p:cNvPr>
          <p:cNvSpPr txBox="1"/>
          <p:nvPr/>
        </p:nvSpPr>
        <p:spPr>
          <a:xfrm>
            <a:off x="50800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엔터티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관계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식별자 정의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5C0BF86-FB23-1C05-0503-82F0CCE4CE0F}"/>
              </a:ext>
            </a:extLst>
          </p:cNvPr>
          <p:cNvSpPr/>
          <p:nvPr/>
        </p:nvSpPr>
        <p:spPr>
          <a:xfrm>
            <a:off x="42672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1213035-62F9-96CC-6E3C-8D0B941D41AF}"/>
              </a:ext>
            </a:extLst>
          </p:cNvPr>
          <p:cNvSpPr/>
          <p:nvPr/>
        </p:nvSpPr>
        <p:spPr>
          <a:xfrm>
            <a:off x="4368800" y="33782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AD13FB-4A2F-5330-C3DE-99917CD31493}"/>
              </a:ext>
            </a:extLst>
          </p:cNvPr>
          <p:cNvSpPr txBox="1"/>
          <p:nvPr/>
        </p:nvSpPr>
        <p:spPr>
          <a:xfrm>
            <a:off x="50800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테이블정의서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A9BF6F-6C58-CDA1-8D17-6321217A5C64}"/>
              </a:ext>
            </a:extLst>
          </p:cNvPr>
          <p:cNvSpPr txBox="1"/>
          <p:nvPr/>
        </p:nvSpPr>
        <p:spPr>
          <a:xfrm>
            <a:off x="50800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컬럼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키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제약조건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0813388-70C4-8184-283D-67F7333CA652}"/>
              </a:ext>
            </a:extLst>
          </p:cNvPr>
          <p:cNvSpPr/>
          <p:nvPr/>
        </p:nvSpPr>
        <p:spPr>
          <a:xfrm>
            <a:off x="4267200" y="37846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4FD84B0-882D-C6F3-0606-2FDC015DADF5}"/>
              </a:ext>
            </a:extLst>
          </p:cNvPr>
          <p:cNvSpPr/>
          <p:nvPr/>
        </p:nvSpPr>
        <p:spPr>
          <a:xfrm>
            <a:off x="4368800" y="39370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9C3A78-498C-B78B-2B07-5E94B2806590}"/>
              </a:ext>
            </a:extLst>
          </p:cNvPr>
          <p:cNvSpPr txBox="1"/>
          <p:nvPr/>
        </p:nvSpPr>
        <p:spPr>
          <a:xfrm>
            <a:off x="5080000" y="3848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기능정의서</a:t>
            </a:r>
            <a:r>
              <a:rPr lang="en-US" altLang="ko-KR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5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화면설계서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1E880C-73BA-95DD-15E9-A94977D90E80}"/>
              </a:ext>
            </a:extLst>
          </p:cNvPr>
          <p:cNvSpPr txBox="1"/>
          <p:nvPr/>
        </p:nvSpPr>
        <p:spPr>
          <a:xfrm>
            <a:off x="5080000" y="4051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좌석 조회 조건 기준</a:t>
            </a:r>
          </a:p>
        </p:txBody>
      </p:sp>
      <p:sp>
        <p:nvSpPr>
          <p:cNvPr id="33" name="화살표: 갈매기형 수장 32">
            <a:extLst>
              <a:ext uri="{FF2B5EF4-FFF2-40B4-BE49-F238E27FC236}">
                <a16:creationId xmlns:a16="http://schemas.microsoft.com/office/drawing/2014/main" id="{85611A99-808F-D321-0D01-B1371AC0FB39}"/>
              </a:ext>
            </a:extLst>
          </p:cNvPr>
          <p:cNvSpPr/>
          <p:nvPr/>
        </p:nvSpPr>
        <p:spPr>
          <a:xfrm>
            <a:off x="8026400" y="1422400"/>
            <a:ext cx="3657600" cy="558800"/>
          </a:xfrm>
          <a:prstGeom prst="chevron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</a:t>
            </a:r>
            <a:r>
              <a:rPr lang="ko-KR" altLang="en-US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</a:t>
            </a:r>
          </a:p>
          <a:p>
            <a:pPr algn="ctr"/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본인 주도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·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협업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 /  </a:t>
            </a:r>
            <a:r>
              <a:rPr lang="ko-KR" altLang="en-US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</a:t>
            </a:r>
            <a:r>
              <a:rPr lang="en-US" altLang="ko-KR" sz="850">
                <a:solidFill>
                  <a:srgbClr val="C9CD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50">
              <a:solidFill>
                <a:srgbClr val="C9CD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B50AB53-8D0B-DDCF-6246-DEB7923A172B}"/>
              </a:ext>
            </a:extLst>
          </p:cNvPr>
          <p:cNvSpPr/>
          <p:nvPr/>
        </p:nvSpPr>
        <p:spPr>
          <a:xfrm>
            <a:off x="8026400" y="21082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2B7A52A-BD27-50E9-C7AC-0394F0798A14}"/>
              </a:ext>
            </a:extLst>
          </p:cNvPr>
          <p:cNvSpPr/>
          <p:nvPr/>
        </p:nvSpPr>
        <p:spPr>
          <a:xfrm>
            <a:off x="8128000" y="22606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231A8C-ABC5-761D-0716-8FDE68AFD05B}"/>
              </a:ext>
            </a:extLst>
          </p:cNvPr>
          <p:cNvSpPr txBox="1"/>
          <p:nvPr/>
        </p:nvSpPr>
        <p:spPr>
          <a:xfrm>
            <a:off x="8839200" y="2171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DDL 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제약조건 구현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758A60-01C9-D47E-1A03-F87D18DD8F2A}"/>
              </a:ext>
            </a:extLst>
          </p:cNvPr>
          <p:cNvSpPr txBox="1"/>
          <p:nvPr/>
        </p:nvSpPr>
        <p:spPr>
          <a:xfrm>
            <a:off x="8839200" y="23749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PostgreSQL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테이블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외래키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39496EE-8C47-F7E1-6338-D043381AE245}"/>
              </a:ext>
            </a:extLst>
          </p:cNvPr>
          <p:cNvSpPr/>
          <p:nvPr/>
        </p:nvSpPr>
        <p:spPr>
          <a:xfrm>
            <a:off x="8026400" y="26670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0255B82-7891-31F8-C090-2783386A9AFF}"/>
              </a:ext>
            </a:extLst>
          </p:cNvPr>
          <p:cNvSpPr/>
          <p:nvPr/>
        </p:nvSpPr>
        <p:spPr>
          <a:xfrm>
            <a:off x="8128000" y="28194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954D7E-D683-0154-20B7-56F1A2A90328}"/>
              </a:ext>
            </a:extLst>
          </p:cNvPr>
          <p:cNvSpPr txBox="1"/>
          <p:nvPr/>
        </p:nvSpPr>
        <p:spPr>
          <a:xfrm>
            <a:off x="8839200" y="2730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Express API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C3A341-0023-C738-AE54-4E4EF2221247}"/>
              </a:ext>
            </a:extLst>
          </p:cNvPr>
          <p:cNvSpPr txBox="1"/>
          <p:nvPr/>
        </p:nvSpPr>
        <p:spPr>
          <a:xfrm>
            <a:off x="8839200" y="29337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Node.js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백엔드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DB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AD7D24B9-04B6-6C1F-152E-5B1921BDEEE8}"/>
              </a:ext>
            </a:extLst>
          </p:cNvPr>
          <p:cNvSpPr/>
          <p:nvPr/>
        </p:nvSpPr>
        <p:spPr>
          <a:xfrm>
            <a:off x="8026400" y="32258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1A6B7F4-826C-33A3-907A-7F2BDBC2B8B9}"/>
              </a:ext>
            </a:extLst>
          </p:cNvPr>
          <p:cNvSpPr/>
          <p:nvPr/>
        </p:nvSpPr>
        <p:spPr>
          <a:xfrm>
            <a:off x="8128000" y="33782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CF4E47-41DA-4E13-F3E4-6A713654A9EC}"/>
              </a:ext>
            </a:extLst>
          </p:cNvPr>
          <p:cNvSpPr txBox="1"/>
          <p:nvPr/>
        </p:nvSpPr>
        <p:spPr>
          <a:xfrm>
            <a:off x="8839200" y="3289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</a:t>
            </a:r>
            <a:r>
              <a:rPr lang="en-US" altLang="ko-KR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좌석 쿼리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96B377-81DB-715F-49C4-0D63FA39B68A}"/>
              </a:ext>
            </a:extLst>
          </p:cNvPr>
          <p:cNvSpPr txBox="1"/>
          <p:nvPr/>
        </p:nvSpPr>
        <p:spPr>
          <a:xfrm>
            <a:off x="8839200" y="34925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JOIN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조회 </a:t>
            </a: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예약 처리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EFDE750-CB40-545C-DEE0-ACBAC3FD7C26}"/>
              </a:ext>
            </a:extLst>
          </p:cNvPr>
          <p:cNvSpPr/>
          <p:nvPr/>
        </p:nvSpPr>
        <p:spPr>
          <a:xfrm>
            <a:off x="8026400" y="3784600"/>
            <a:ext cx="3657600" cy="508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6985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0CC9DB78-EF87-97DB-A2DD-38A6D86DC2EA}"/>
              </a:ext>
            </a:extLst>
          </p:cNvPr>
          <p:cNvSpPr/>
          <p:nvPr/>
        </p:nvSpPr>
        <p:spPr>
          <a:xfrm>
            <a:off x="8128000" y="3937000"/>
            <a:ext cx="609600" cy="1905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5400" rIns="0" bIns="25400" rtlCol="0" anchor="ctr"/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주도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F0C50A-E810-B5B9-035A-3EE9FA5DDABD}"/>
              </a:ext>
            </a:extLst>
          </p:cNvPr>
          <p:cNvSpPr txBox="1"/>
          <p:nvPr/>
        </p:nvSpPr>
        <p:spPr>
          <a:xfrm>
            <a:off x="8839200" y="38481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95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 화면 구현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AC3682-69A1-2348-6D5C-B935C270D434}"/>
              </a:ext>
            </a:extLst>
          </p:cNvPr>
          <p:cNvSpPr txBox="1"/>
          <p:nvPr/>
        </p:nvSpPr>
        <p:spPr>
          <a:xfrm>
            <a:off x="8839200" y="4051300"/>
            <a:ext cx="2743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HTML / JS · </a:t>
            </a:r>
            <a:r>
              <a:rPr lang="ko-KR" altLang="en-US" sz="8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바이브코딩 활용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4FA1FF-A8C4-8F05-6337-BAFE318567E8}"/>
              </a:ext>
            </a:extLst>
          </p:cNvPr>
          <p:cNvSpPr txBox="1"/>
          <p:nvPr/>
        </p:nvSpPr>
        <p:spPr>
          <a:xfrm>
            <a:off x="508000" y="4521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프로젝트에서 얻은 것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9A9D371-0E6D-C525-A82C-4A73E5807565}"/>
              </a:ext>
            </a:extLst>
          </p:cNvPr>
          <p:cNvSpPr/>
          <p:nvPr/>
        </p:nvSpPr>
        <p:spPr>
          <a:xfrm>
            <a:off x="508000" y="4749800"/>
            <a:ext cx="2698750" cy="7747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3CD801-3A53-B711-C772-A3250D13EE46}"/>
              </a:ext>
            </a:extLst>
          </p:cNvPr>
          <p:cNvSpPr txBox="1"/>
          <p:nvPr/>
        </p:nvSpPr>
        <p:spPr>
          <a:xfrm>
            <a:off x="635000" y="4813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표준화 습관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B76042-84F9-139F-0F67-92D714867810}"/>
              </a:ext>
            </a:extLst>
          </p:cNvPr>
          <p:cNvSpPr txBox="1"/>
          <p:nvPr/>
        </p:nvSpPr>
        <p:spPr>
          <a:xfrm>
            <a:off x="635000" y="5088468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용어 </a:t>
            </a:r>
            <a:r>
              <a:rPr lang="en-US" altLang="ko-KR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도메인 표준을 먼저 정의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E915B7CF-7039-719D-AC31-E32905AE002D}"/>
              </a:ext>
            </a:extLst>
          </p:cNvPr>
          <p:cNvSpPr/>
          <p:nvPr/>
        </p:nvSpPr>
        <p:spPr>
          <a:xfrm>
            <a:off x="3333750" y="4749800"/>
            <a:ext cx="2698750" cy="7747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CEE1F4-FF67-3FC3-F5E6-A853E22B15AE}"/>
              </a:ext>
            </a:extLst>
          </p:cNvPr>
          <p:cNvSpPr txBox="1"/>
          <p:nvPr/>
        </p:nvSpPr>
        <p:spPr>
          <a:xfrm>
            <a:off x="3460750" y="4813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</a:t>
            </a:r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 설계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D7ADA3-FAA1-7F6D-B1B7-80AE758DE563}"/>
              </a:ext>
            </a:extLst>
          </p:cNvPr>
          <p:cNvSpPr txBox="1"/>
          <p:nvPr/>
        </p:nvSpPr>
        <p:spPr>
          <a:xfrm>
            <a:off x="3460750" y="5088468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0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스키마가 구현 복잡도를 결정함을 체감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316E04D-6D27-A7E8-3674-60BDE9E6D060}"/>
              </a:ext>
            </a:extLst>
          </p:cNvPr>
          <p:cNvSpPr/>
          <p:nvPr/>
        </p:nvSpPr>
        <p:spPr>
          <a:xfrm>
            <a:off x="6159500" y="4749800"/>
            <a:ext cx="2698750" cy="7747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2CE612-993D-A3A1-BA2B-307747920B0E}"/>
              </a:ext>
            </a:extLst>
          </p:cNvPr>
          <p:cNvSpPr txBox="1"/>
          <p:nvPr/>
        </p:nvSpPr>
        <p:spPr>
          <a:xfrm>
            <a:off x="6286500" y="4813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 b="1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→ 구현 연결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55257D8-CC1F-2DDC-119A-663EBF1A7465}"/>
              </a:ext>
            </a:extLst>
          </p:cNvPr>
          <p:cNvSpPr txBox="1"/>
          <p:nvPr/>
        </p:nvSpPr>
        <p:spPr>
          <a:xfrm>
            <a:off x="6286500" y="5088468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모델이 쿼리 </a:t>
            </a:r>
            <a:r>
              <a:rPr lang="en-US" altLang="ko-KR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API</a:t>
            </a:r>
            <a:r>
              <a:rPr lang="ko-KR" altLang="en-US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이어지는 </a:t>
            </a:r>
            <a:br>
              <a:rPr lang="en-US" altLang="ko-KR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 이해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1B0EE5F6-455E-A4E7-2FF7-93289EBDA5B4}"/>
              </a:ext>
            </a:extLst>
          </p:cNvPr>
          <p:cNvSpPr/>
          <p:nvPr/>
        </p:nvSpPr>
        <p:spPr>
          <a:xfrm>
            <a:off x="8985250" y="4749800"/>
            <a:ext cx="2698750" cy="774700"/>
          </a:xfrm>
          <a:prstGeom prst="roundRect">
            <a:avLst>
              <a:gd name="adj" fmla="val 15909"/>
            </a:avLst>
          </a:prstGeom>
          <a:solidFill>
            <a:srgbClr val="F3F4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12432F-6BE9-D598-CAA6-BEAF1E8DCDF5}"/>
              </a:ext>
            </a:extLst>
          </p:cNvPr>
          <p:cNvSpPr txBox="1"/>
          <p:nvPr/>
        </p:nvSpPr>
        <p:spPr>
          <a:xfrm>
            <a:off x="9112250" y="4813300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200" b="1" dirty="0">
                <a:solidFill>
                  <a:srgbClr val="1B1F2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 생산성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4CD2B1-D954-4695-24A5-A3AC670755CE}"/>
              </a:ext>
            </a:extLst>
          </p:cNvPr>
          <p:cNvSpPr txBox="1"/>
          <p:nvPr/>
        </p:nvSpPr>
        <p:spPr>
          <a:xfrm>
            <a:off x="9112250" y="5088468"/>
            <a:ext cx="244475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100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비전문</a:t>
            </a:r>
            <a:r>
              <a:rPr lang="ko-KR" altLang="en-US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영역은 </a:t>
            </a:r>
            <a:r>
              <a:rPr lang="ko-KR" altLang="en-US" sz="1100" dirty="0" err="1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바이브코딩으로</a:t>
            </a:r>
            <a:r>
              <a:rPr lang="ko-KR" altLang="en-US" sz="1100" dirty="0">
                <a:solidFill>
                  <a:srgbClr val="5F667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보완</a:t>
            </a:r>
          </a:p>
        </p:txBody>
      </p:sp>
      <p:sp>
        <p:nvSpPr>
          <p:cNvPr id="63" name="Rounded Rectangle 35">
            <a:extLst>
              <a:ext uri="{FF2B5EF4-FFF2-40B4-BE49-F238E27FC236}">
                <a16:creationId xmlns:a16="http://schemas.microsoft.com/office/drawing/2014/main" id="{4E3FC639-1551-B7AE-FD8D-E39317D973DE}"/>
              </a:ext>
            </a:extLst>
          </p:cNvPr>
          <p:cNvSpPr/>
          <p:nvPr/>
        </p:nvSpPr>
        <p:spPr>
          <a:xfrm>
            <a:off x="8394192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상황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BAB16D-A6AB-EDCE-CC4C-764CD41B6F74}"/>
              </a:ext>
            </a:extLst>
          </p:cNvPr>
          <p:cNvSpPr txBox="1"/>
          <p:nvPr/>
        </p:nvSpPr>
        <p:spPr>
          <a:xfrm>
            <a:off x="9107424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65" name="Rounded Rectangle 37">
            <a:extLst>
              <a:ext uri="{FF2B5EF4-FFF2-40B4-BE49-F238E27FC236}">
                <a16:creationId xmlns:a16="http://schemas.microsoft.com/office/drawing/2014/main" id="{23DB9C96-DDD6-A16F-EDD8-33C8D0EA70E7}"/>
              </a:ext>
            </a:extLst>
          </p:cNvPr>
          <p:cNvSpPr/>
          <p:nvPr/>
        </p:nvSpPr>
        <p:spPr>
          <a:xfrm>
            <a:off x="9253728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lang="ko-KR" altLang="en-US" sz="850" b="1" dirty="0">
                <a:solidFill>
                  <a:srgbClr val="9AA0A8"/>
                </a:solidFill>
                <a:latin typeface="맑은 고딕"/>
                <a:ea typeface="맑은 고딕"/>
              </a:rPr>
              <a:t>해결과제</a:t>
            </a:r>
            <a:endParaRPr sz="850" b="1" i="0" dirty="0">
              <a:solidFill>
                <a:srgbClr val="9AA0A8"/>
              </a:solidFill>
              <a:latin typeface="맑은 고딕"/>
              <a:ea typeface="맑은 고딕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745693A-3240-BAA7-01B1-91402F9D8A4D}"/>
              </a:ext>
            </a:extLst>
          </p:cNvPr>
          <p:cNvSpPr txBox="1"/>
          <p:nvPr/>
        </p:nvSpPr>
        <p:spPr>
          <a:xfrm>
            <a:off x="9966959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67" name="Rounded Rectangle 39">
            <a:extLst>
              <a:ext uri="{FF2B5EF4-FFF2-40B4-BE49-F238E27FC236}">
                <a16:creationId xmlns:a16="http://schemas.microsoft.com/office/drawing/2014/main" id="{DE13F400-05F4-D957-CEC6-CA2C895FB123}"/>
              </a:ext>
            </a:extLst>
          </p:cNvPr>
          <p:cNvSpPr/>
          <p:nvPr/>
        </p:nvSpPr>
        <p:spPr>
          <a:xfrm>
            <a:off x="10113263" y="310896"/>
            <a:ext cx="713232" cy="24688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9AA0A8"/>
                </a:solidFill>
                <a:latin typeface="맑은 고딕"/>
                <a:ea typeface="맑은 고딕"/>
              </a:rPr>
              <a:t>액션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758F15-067C-EAF7-CF4E-4B7F53670D5D}"/>
              </a:ext>
            </a:extLst>
          </p:cNvPr>
          <p:cNvSpPr txBox="1"/>
          <p:nvPr/>
        </p:nvSpPr>
        <p:spPr>
          <a:xfrm>
            <a:off x="10826495" y="355752"/>
            <a:ext cx="146304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9AA0A8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69" name="Rounded Rectangle 41">
            <a:extLst>
              <a:ext uri="{FF2B5EF4-FFF2-40B4-BE49-F238E27FC236}">
                <a16:creationId xmlns:a16="http://schemas.microsoft.com/office/drawing/2014/main" id="{FBC26299-85E7-FCBA-AAFD-92ECA69E77FA}"/>
              </a:ext>
            </a:extLst>
          </p:cNvPr>
          <p:cNvSpPr/>
          <p:nvPr/>
        </p:nvSpPr>
        <p:spPr>
          <a:xfrm>
            <a:off x="10972799" y="310896"/>
            <a:ext cx="713232" cy="24688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962596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A6BAF-E109-2711-0730-2F066A6EA4CF}"/>
              </a:ext>
            </a:extLst>
          </p:cNvPr>
          <p:cNvSpPr txBox="1"/>
          <p:nvPr/>
        </p:nvSpPr>
        <p:spPr>
          <a:xfrm>
            <a:off x="762000" y="2159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4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Thank You</a:t>
            </a:r>
            <a:endParaRPr lang="ko-KR" altLang="en-US" sz="4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2FA779-86F4-8D4D-D10A-D970041268B7}"/>
              </a:ext>
            </a:extLst>
          </p:cNvPr>
          <p:cNvSpPr txBox="1"/>
          <p:nvPr/>
        </p:nvSpPr>
        <p:spPr>
          <a:xfrm>
            <a:off x="762000" y="3048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ko-KR" altLang="en-US" sz="12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전예원  </a:t>
            </a:r>
            <a:r>
              <a:rPr lang="en-US" altLang="ko-KR" sz="1200">
                <a:solidFill>
                  <a:srgbClr val="B8BDC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Data Engineer Portfolio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70630-51B6-8A3A-4492-8E99954CE2FB}"/>
              </a:ext>
            </a:extLst>
          </p:cNvPr>
          <p:cNvSpPr txBox="1"/>
          <p:nvPr/>
        </p:nvSpPr>
        <p:spPr>
          <a:xfrm>
            <a:off x="762000" y="5588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850">
                <a:solidFill>
                  <a:srgbClr val="6B72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 PIPELINE     ·     POSTGRESQL     ·     PGVECTOR     ·     CHROMADB     ·     AWS EC2     ·     ORACLE</a:t>
            </a:r>
            <a:endParaRPr lang="ko-KR" altLang="en-US" sz="850">
              <a:solidFill>
                <a:srgbClr val="6B727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046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4745</Words>
  <Application>Microsoft Office PowerPoint</Application>
  <PresentationFormat>와이드스크린</PresentationFormat>
  <Paragraphs>905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맑은 고딕</vt:lpstr>
      <vt:lpstr>Arial</vt:lpstr>
      <vt:lpstr>Calibri</vt:lpstr>
      <vt:lpstr>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전예원 Data Engineer Portfolio</dc:title>
  <dc:creator>전예원</dc:creator>
  <cp:lastModifiedBy>전예원</cp:lastModifiedBy>
  <cp:revision>297</cp:revision>
  <dcterms:created xsi:type="dcterms:W3CDTF">2026-09-29T17:30:45Z</dcterms:created>
  <dcterms:modified xsi:type="dcterms:W3CDTF">2026-10-05T13:21:09Z</dcterms:modified>
</cp:coreProperties>
</file>